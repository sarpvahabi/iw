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59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95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10.png"/><Relationship Id="rId9" Type="http://schemas.openxmlformats.org/officeDocument/2006/relationships/image" Target="../media/image4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eeltec/icons/industry_color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869680" y="-36576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 ·  KURUMSAL YAPAY ZEKA EĞİTİMİ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6916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035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F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Temelden İleri Ajan Tekniklerine — Uygulamalı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3075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tr-TR" sz="14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Uygulamalı Eğitim</a:t>
            </a:r>
            <a:r>
              <a:rPr lang="en-US" sz="14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LLM ve token temelleri · prompt türleri, bileşenleri ve yapıları · ileri akıl yürütme · ChatGPT ve Microsoft Copilot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4892040"/>
            <a:ext cx="1369771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822960" y="4892040"/>
            <a:ext cx="13697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Token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93899" y="4892040"/>
            <a:ext cx="1638605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2393899" y="4892040"/>
            <a:ext cx="16386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Türleri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33672" y="4892040"/>
            <a:ext cx="1638605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4233672" y="4892040"/>
            <a:ext cx="16386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Bileşen &amp; Yapı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73445" y="4892040"/>
            <a:ext cx="1907438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6073445" y="4892040"/>
            <a:ext cx="190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· GoT · ReAct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2051" y="4892040"/>
            <a:ext cx="1907438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8182051" y="4892040"/>
            <a:ext cx="190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&amp; Copilot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Kopyala-yapıştır prompt'lar · analiz için dummy Excel / PDF / CSV dosyaları · uygulamalı atölye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15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Sarp Vahabi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BURADAYIZ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Eğitim Sonunda Kazanımlarınız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68680" y="177393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1916582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7282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LLM'leri anlamak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303520" y="1728216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zekanın nasıl 'düşündüğünü', token, bağlam ve model türlerini kavrayın.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260604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868680" y="277977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ch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2922422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27340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Etkili prompt yazmak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5303520" y="2734056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görev, bağlam, format ve kısıtlarla net talimatlar kurun.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61188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68680" y="378561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" y="3928262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373989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İleri teknikleri kullanmak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5303520" y="3739896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CoT, ToT, GoT, ReAct, Plan-Act ve meta-prompting'i uygulayın.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40080" y="461772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868680" y="479145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microsof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" y="4934102"/>
            <a:ext cx="263347" cy="26334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474573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Araçlara hâkim olmak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5303520" y="4745736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ve Copilot'u analiz, özet, sunum ve e-postada kullanın.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40080" y="5623560"/>
            <a:ext cx="10881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868680" y="5797296"/>
            <a:ext cx="548640" cy="54864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326" y="5939942"/>
            <a:ext cx="263347" cy="26334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645920" y="575157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 ve doğru kalmak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5303520" y="5751576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Çıktıyı doğrulayın, gizli veriyi koruyun, prompt injection'a dikkat edin.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BAŞLAMADAN ÖNCE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Dosyayı Nasıl Kullanacaksınız?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0020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 txBox="1"/>
          <p:nvPr/>
        </p:nvSpPr>
        <p:spPr>
          <a:xfrm>
            <a:off x="86868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ÇALIŞMA YÖNTEMİ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14884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Turuncu kutulardaki prompt'lar hazırdır — kopyalayıp ChatGPT veya Copilot'a yapıştırın, çıktıyı birlikte inceleyin.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Köşeli parantezli [ ... ] yerleri kendi verinizle değiştirin.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İkonlar tekniği simgeler; kırmızı = kötü, yeşil = iyi örnek.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slaytlarında ekteki dummy dosyaları yükleyerek deneyin.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653796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EKLİ UYGULAMA DOSYALARI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37960" y="2194560"/>
            <a:ext cx="475488" cy="47548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331720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2167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IW_SteelTec_Satis_Uretim_2024.xlsx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2468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+ üretim verisi — analiz egzersizi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537960" y="3035808"/>
            <a:ext cx="475488" cy="47548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17296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78040" y="300837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IW_SteelTec_2024_Q1_Rapor.pdf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7178040" y="33101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Çeyrek raporu — özetleme egzersizi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537960" y="3877056"/>
            <a:ext cx="475488" cy="47548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0" name="Image 3" descr="/home/claude/steeltec/icons/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01421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78040" y="38496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musteri_geri_bildirim.csv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7178040" y="415137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geri bildirimi — sınıflandırma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537960" y="4718304"/>
            <a:ext cx="475488" cy="47548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4" descr="/home/claude/steeltec/icons/quo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855464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78040" y="46908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toplanti_notlari.txt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7178040" y="49926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notları — aksiyon çıkarma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Temeller: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ve Token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TEMELLER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Nedir?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D24E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(Büyük Dil Modeli)</a:t>
            </a:r>
            <a:endParaRPr lang="en-US" sz="20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Devasa miktarda metinle eğitilmiş bir yapay zeka türüdür.</a:t>
            </a:r>
            <a:endParaRPr lang="en-US" sz="20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sonraki kelimeyi (token) tahmin ederek metin üretir.</a:t>
            </a:r>
            <a:endParaRPr lang="en-US" sz="20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Anlamı 'kavramaz'; istatistiksel örüntüleri kullanır.</a:t>
            </a:r>
            <a:endParaRPr lang="en-US" sz="20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Copilot, Gemini ve Claude bunun örnekleridir.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6675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BASİT BİR BENZETME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1214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= Dünyanın en gelişmiş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otomatik tamamlama motoru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75120" y="320040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6858000" y="33101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“Çelik, yüksek fırında </a:t>
            </a:r>
            <a:r>
              <a:rPr lang="en-US" sz="1500" b="1" dirty="0">
                <a:solidFill>
                  <a:srgbClr val="FF6A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2245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olasılıkla “üretilir / eritilir” gibi kelimeleri tahmin eder.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TEMELLER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Nasıl Çalışır? — Tahmin Makinesi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559052" y="2130552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757" y="2330257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971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Girdi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35584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modele metin olarak verilir.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191256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502152" y="187452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4421124" y="2130552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puzz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829" y="2330257"/>
            <a:ext cx="368686" cy="3686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3592" y="2971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Token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703320" y="335584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küçük parçalara (token) ayrılır.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053328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364224" y="187452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7283196" y="2130552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2" descr="/home/claude/steeltec/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901" y="2330257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55664" y="2971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Olasılık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65392" y="335584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her olası sonraki token'a olasılık atar.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915400" y="2514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226296" y="187452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18"/>
          <p:cNvSpPr/>
          <p:nvPr/>
        </p:nvSpPr>
        <p:spPr>
          <a:xfrm>
            <a:off x="10145268" y="2130552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3" descr="/home/claude/steeltec/icons/quo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4973" y="2330257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17736" y="2971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Çıktı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427464" y="335584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uygun token seçilir, işlem tekrarlanır.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Shape 22"/>
          <p:cNvSpPr/>
          <p:nvPr/>
        </p:nvSpPr>
        <p:spPr>
          <a:xfrm>
            <a:off x="914400" y="4864608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9" name="Image 4" descr="/home/claude/steeltec/icons/bulb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821" y="5031029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783080" y="461772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nokta:  </a:t>
            </a: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gerçeği bilmez; en olası devamı üretir. Bu yüzden emin bir dille yanlış da söyleyebilir — çıktıyı daima doğrulayın.</a:t>
            </a:r>
            <a:endParaRPr lang="en-US" sz="1450" dirty="0"/>
          </a:p>
        </p:txBody>
      </p:sp>
      <p:sp>
        <p:nvSpPr>
          <p:cNvPr id="31" name="Text 2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TEMELLER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Nedir?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metnin modelce işlenen en küçük birimidir.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Genelde kelime parçaları veya hecelere karşılık gelir.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 kelimeleri değil, token'ları 'görür'.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 (bağlam) ve ücretlendirme token ile ölçülür.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822960" y="450799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2120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≈ 1 token (İngilizce)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2544" y="4343400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4535424" y="450799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~0,75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535424" y="52120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≈ 1 token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4343400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8247888" y="450799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1,5–2×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52120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daha çok token harcar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 txBox="1"/>
          <p:nvPr/>
        </p:nvSpPr>
        <p:spPr>
          <a:xfrm>
            <a:off x="662940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“IW SteelTec çelik üretiyor”  nasıl bölünür?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2331720"/>
            <a:ext cx="557784" cy="457200"/>
          </a:xfrm>
          <a:prstGeom prst="roundRect">
            <a:avLst>
              <a:gd name="adj" fmla="val 16000"/>
            </a:avLst>
          </a:prstGeom>
          <a:solidFill>
            <a:srgbClr val="FFE7D8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6675120" y="2331720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79208" y="233172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FE7D8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 txBox="1"/>
          <p:nvPr/>
        </p:nvSpPr>
        <p:spPr>
          <a:xfrm>
            <a:off x="7379208" y="2331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·Steel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77072" y="2331720"/>
            <a:ext cx="681228" cy="457200"/>
          </a:xfrm>
          <a:prstGeom prst="roundRect">
            <a:avLst>
              <a:gd name="adj" fmla="val 16000"/>
            </a:avLst>
          </a:prstGeom>
          <a:solidFill>
            <a:srgbClr val="FFE7D8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 txBox="1"/>
          <p:nvPr/>
        </p:nvSpPr>
        <p:spPr>
          <a:xfrm>
            <a:off x="8577072" y="2331720"/>
            <a:ext cx="681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04604" y="2331720"/>
            <a:ext cx="681228" cy="457200"/>
          </a:xfrm>
          <a:prstGeom prst="roundRect">
            <a:avLst>
              <a:gd name="adj" fmla="val 16000"/>
            </a:avLst>
          </a:prstGeom>
          <a:solidFill>
            <a:srgbClr val="FFE7D8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 txBox="1"/>
          <p:nvPr/>
        </p:nvSpPr>
        <p:spPr>
          <a:xfrm>
            <a:off x="9404604" y="2331720"/>
            <a:ext cx="681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·çe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232136" y="2331720"/>
            <a:ext cx="681228" cy="457200"/>
          </a:xfrm>
          <a:prstGeom prst="roundRect">
            <a:avLst>
              <a:gd name="adj" fmla="val 16000"/>
            </a:avLst>
          </a:prstGeom>
          <a:solidFill>
            <a:srgbClr val="FFE7D8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 txBox="1"/>
          <p:nvPr/>
        </p:nvSpPr>
        <p:spPr>
          <a:xfrm>
            <a:off x="10232136" y="2331720"/>
            <a:ext cx="681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2935224"/>
            <a:ext cx="804672" cy="457200"/>
          </a:xfrm>
          <a:prstGeom prst="roundRect">
            <a:avLst>
              <a:gd name="adj" fmla="val 16000"/>
            </a:avLst>
          </a:prstGeom>
          <a:solidFill>
            <a:srgbClr val="FFE7D8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 txBox="1"/>
          <p:nvPr/>
        </p:nvSpPr>
        <p:spPr>
          <a:xfrm>
            <a:off x="6675120" y="2935224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·üre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26096" y="2935224"/>
            <a:ext cx="557784" cy="457200"/>
          </a:xfrm>
          <a:prstGeom prst="roundRect">
            <a:avLst>
              <a:gd name="adj" fmla="val 16000"/>
            </a:avLst>
          </a:prstGeom>
          <a:solidFill>
            <a:srgbClr val="FFE7D8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 txBox="1"/>
          <p:nvPr/>
        </p:nvSpPr>
        <p:spPr>
          <a:xfrm>
            <a:off x="7626096" y="2935224"/>
            <a:ext cx="55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30184" y="2935224"/>
            <a:ext cx="681228" cy="457200"/>
          </a:xfrm>
          <a:prstGeom prst="roundRect">
            <a:avLst>
              <a:gd name="adj" fmla="val 16000"/>
            </a:avLst>
          </a:prstGeom>
          <a:solidFill>
            <a:srgbClr val="FFE7D8"/>
          </a:solidFill>
          <a:ln w="12700">
            <a:solidFill>
              <a:srgbClr val="FF6A1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 txBox="1"/>
          <p:nvPr/>
        </p:nvSpPr>
        <p:spPr>
          <a:xfrm>
            <a:off x="8330184" y="2935224"/>
            <a:ext cx="681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token — nadir ve ekli kelimeler daha çok parçaya bölünür.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TEMELLER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Bağlam Penceresi (Context Window)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aynı anda 'aklında tutabildiği' toplam token miktarıdır.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talimatı + geçmiş + prompt'un + cevap hepsi buraya sığar.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 dolunca en eski bilgiler kapsam dışı kalır (unutulur).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belgeleri parçalayın; her adımda gereken bağlamı yeniden verin.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92240" y="1645920"/>
            <a:ext cx="5029200" cy="3886200"/>
          </a:xfrm>
          <a:prstGeom prst="roundRect">
            <a:avLst>
              <a:gd name="adj" fmla="val 2824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672084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PENCEREYE NELER GİRER?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20840" y="2240280"/>
            <a:ext cx="4572000" cy="411480"/>
          </a:xfrm>
          <a:prstGeom prst="roundRect">
            <a:avLst>
              <a:gd name="adj" fmla="val 13333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 txBox="1"/>
          <p:nvPr/>
        </p:nvSpPr>
        <p:spPr>
          <a:xfrm>
            <a:off x="6858000" y="2240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talimatı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2240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20840" y="2743200"/>
            <a:ext cx="4572000" cy="411480"/>
          </a:xfrm>
          <a:prstGeom prst="roundRect">
            <a:avLst>
              <a:gd name="adj" fmla="val 13333"/>
            </a:avLst>
          </a:prstGeom>
          <a:solidFill>
            <a:srgbClr val="45507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685800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 geçmişi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20840" y="3246120"/>
            <a:ext cx="4572000" cy="411480"/>
          </a:xfrm>
          <a:prstGeom prst="roundRect">
            <a:avLst>
              <a:gd name="adj" fmla="val 13333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6858000" y="3246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 prompt'un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3749040"/>
            <a:ext cx="4572000" cy="411480"/>
          </a:xfrm>
          <a:prstGeom prst="roundRect">
            <a:avLst>
              <a:gd name="adj" fmla="val 13333"/>
            </a:avLst>
          </a:prstGeom>
          <a:solidFill>
            <a:srgbClr val="5A6A8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6858000" y="3749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cevabı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3749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0840" y="4297680"/>
            <a:ext cx="4572000" cy="1828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 txBox="1"/>
          <p:nvPr/>
        </p:nvSpPr>
        <p:spPr>
          <a:xfrm>
            <a:off x="672084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≤ Bağlam limiti (ör. binlerce–yüz binlerce token)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910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aşılırsa → en üstteki bilgiler düşer.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TEMELLER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Hangi Model? Standart vs Akıl Yürüten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32688" y="1965960"/>
            <a:ext cx="713232" cy="713232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28" y="2151400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10512" y="1947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Standart / Hızlı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10512" y="23500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 · Copilot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92608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Anlık, günlük görevler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Yazışma, özet, çeviri, taslak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ve akıcılık önde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gecikme, düşük maliyet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6647688" y="1965960"/>
            <a:ext cx="713232" cy="713232"/>
          </a:xfrm>
          <a:prstGeom prst="ellipse">
            <a:avLst/>
          </a:prstGeom>
          <a:solidFill>
            <a:srgbClr val="D2582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128" y="2151400"/>
            <a:ext cx="342351" cy="3423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25512" y="1947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Akıl Yürüten (Reasoning)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525512" y="23500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o-serisi (o1 / o3)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292608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 mantık ve analiz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hesap, planlama, kod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 öncesi 'düşünme' süresi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 problemlerde daha isabetli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3"/>
          <p:cNvSpPr/>
          <p:nvPr/>
        </p:nvSpPr>
        <p:spPr>
          <a:xfrm>
            <a:off x="914400" y="518464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2" descr="/home/claude/steeltec/icons/bul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537" y="531778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50292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kural: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ve hızlı işler için standart model; çok adımlı analiz, planlama ve zor hesaplar için akıl yürüten modeli seçin.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TEMELLER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Yaratıcılık Ayarı — Temperature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slid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60020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modelin ne kadar 'riskli/çeşitli' kelime seçtiğini ayarlar.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= tutarlı, tekrarlanabilir; Yüksek = çeşitli, yaratıcı, sürprizli.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API/Playground'da elle ayarlanır; sohbet arayüzünde çoğu zaman gizlidir.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4023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 txBox="1"/>
          <p:nvPr/>
        </p:nvSpPr>
        <p:spPr>
          <a:xfrm>
            <a:off x="777240" y="418795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– 0.3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9028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919472"/>
            <a:ext cx="3182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Veri, hesap, hukuki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metin, sınıflandırma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52544" y="4023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4489704" y="418795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BE0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 – 0.7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489704" y="459028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489704" y="4919472"/>
            <a:ext cx="3182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yazışma,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özet, açıklama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65008" y="4023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 txBox="1"/>
          <p:nvPr/>
        </p:nvSpPr>
        <p:spPr>
          <a:xfrm>
            <a:off x="8202168" y="4187952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9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 – 1.2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202168" y="459028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02168" y="4919472"/>
            <a:ext cx="3182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Beyin fırtınası,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slogan, kreatif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0" y="160020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 txBox="1"/>
          <p:nvPr/>
        </p:nvSpPr>
        <p:spPr>
          <a:xfrm>
            <a:off x="66294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DİĞER SIK AYARLAR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21488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Top-p:  </a:t>
            </a: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 kelime havuzunu daraltır (çeşitliliği kısar).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tokens:  </a:t>
            </a: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cevabın en fazla uzunluğunu sınırlar.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prompt:  </a:t>
            </a: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rol ve kuralları belirler.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 · TEMELLER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LLM'lerin Sınırları — Nelere Dikkat?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2763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914400" y="192024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magnif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76" y="2091416"/>
            <a:ext cx="316017" cy="31601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836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Halüsinasyon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783080" y="234086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 bir dille yanlış bilgi veya uydurma kaynak üretebilir.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55080" y="162763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629400" y="192024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576" y="2091416"/>
            <a:ext cx="316017" cy="31601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188366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Güncel değil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0" y="234086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tarihinden sonrasını (web araması yoksa) bilmez.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914400" y="411480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window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576" y="4285976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40782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Bağlam sınırı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783080" y="453542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uzun girdilerde başı unutabilir, kopukluk yaşanır.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355080" y="3822192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6629400" y="4114800"/>
            <a:ext cx="658368" cy="65836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0576" y="4285976"/>
            <a:ext cx="316017" cy="31601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98080" y="40782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Hesap ve mantık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0" y="4535424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sayısal işlem ve çok adımlı mantıkta hata yapabilir.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Temelleri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Türleri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PROMPT TEMELLERI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Nedir?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modele verdiğin talimat / girdidir — yazdığın her şey.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çıktısını yönlendiren tek kontrol noktasıdır.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Prompt'un kalitesi, çıktının kalitesini doğrudan belirler.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64592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720840" y="1965960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arrow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035" y="21561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3524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Garbage In, Garbage Out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girdi → kötü çıktı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20840" y="2971800"/>
            <a:ext cx="4572000" cy="13716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672084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prompt =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 +  BAĞLAMLI  +  YAPILANDIRILMIŞ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36576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ne istediğini, hangi bağlamda ve hangi biçimde istediğini açıkça söyle. Belirsiz bıraktığın her yeri model kendi tahminiyle doldurur.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PROMPT TEMELLERI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İyi Prompt Neden Önemli?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4924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cro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647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PROMPT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423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“Bir rapor yaz.”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0632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Konu, hedef kitle ve uzunluk belirsiz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veriye dayanacağı yok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tanımsız → rastgele çıktı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Genellikle baştan yazdırmak gerekir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64592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5349240" cy="54864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172200" y="1920240"/>
            <a:ext cx="5349240" cy="274320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4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6479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6656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İYİ PROMPT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46520" y="23774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“Üretim müdürü olarak, 1. çeyrek çelik üretim raporunu yönetim için 5 maddede özetle; her maddede rakam ve kısa yorum olsun.”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446520" y="35204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görev ve kitle net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ve uzunluk belli (5 madde)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tanımlı (rakam + yorum)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denemede kullanılabilir çıktı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PROMPT TEMELLERI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Prompt'u Yapılandırma — Sınırlayıcılar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cub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71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prompt'larda talimatı, bağlamı ve veriyi ayırmak için sınırlayıcı (delimiter) kullanın. Model neyin talimat, neyin veri olduğunu net görür.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6766560" cy="3474720"/>
          </a:xfrm>
          <a:prstGeom prst="roundRect">
            <a:avLst>
              <a:gd name="adj" fmla="val 1579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640080" y="216712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768096" y="202996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YAPILANDIRILMIŞ PROMPT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414016"/>
            <a:ext cx="643737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GÖREV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Müşteri e-postasına kısa, resmi bir yanıt yaz.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KURALLAR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En fazla 80 kelime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Özür + çözüm + tarih içersin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MÜŞTERİ E-POSTASI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Siparişim 3 gün gecikti, bilgi alamıyorum...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2011680"/>
            <a:ext cx="38862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786384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İŞE YARAYAN AYIRAÇLAR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2542032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 başlık</a:t>
            </a:r>
            <a:endParaRPr lang="en-US" sz="13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bölümleri ayırır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 ... """</a:t>
            </a:r>
            <a:endParaRPr lang="en-US" sz="13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metni sarmalar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&lt;etiket&gt; &lt;/etiket&gt;</a:t>
            </a:r>
            <a:endParaRPr lang="en-US" sz="130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tarzı net ayrım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24E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madde / 1.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ve sıra verir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PROMPT TÜRLERI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Temel Prompt Türü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943100" y="2148840"/>
            <a:ext cx="914400" cy="914400"/>
          </a:xfrm>
          <a:prstGeom prst="ellipse">
            <a:avLst/>
          </a:prstGeom>
          <a:solidFill>
            <a:srgbClr val="3A455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quo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44" y="2386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vermeden, doğrudan görevi tanımlarsın.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4663440"/>
            <a:ext cx="2880360" cy="502920"/>
          </a:xfrm>
          <a:prstGeom prst="roundRect">
            <a:avLst>
              <a:gd name="adj" fmla="val 49091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960120" y="4663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ve net görevler için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34840" y="17830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5737860" y="2148840"/>
            <a:ext cx="914400" cy="91440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1" descr="/home/claude/steeltec/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04" y="23865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772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Birkaç örnek göstererek istenen kalıbı öğretirsin.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754880" y="4663440"/>
            <a:ext cx="2880360" cy="502920"/>
          </a:xfrm>
          <a:prstGeom prst="roundRect">
            <a:avLst>
              <a:gd name="adj" fmla="val 49091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4754880" y="4663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Belirli format / stil isteniyorsa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0" y="178308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Shape 15"/>
          <p:cNvSpPr/>
          <p:nvPr/>
        </p:nvSpPr>
        <p:spPr>
          <a:xfrm>
            <a:off x="9532620" y="2148840"/>
            <a:ext cx="914400" cy="914400"/>
          </a:xfrm>
          <a:prstGeom prst="ellipse">
            <a:avLst/>
          </a:prstGeom>
          <a:solidFill>
            <a:srgbClr val="3A455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0" name="Image 2" descr="/home/claude/steeltec/icons/rou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0364" y="238658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1248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adım adım düşünmeye yönlendirirsin.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549640" y="4663440"/>
            <a:ext cx="2880360" cy="502920"/>
          </a:xfrm>
          <a:prstGeom prst="roundRect">
            <a:avLst>
              <a:gd name="adj" fmla="val 49091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19"/>
          <p:cNvSpPr txBox="1"/>
          <p:nvPr/>
        </p:nvSpPr>
        <p:spPr>
          <a:xfrm>
            <a:off x="8549640" y="46634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Mantık, hesap, çok adımlı işler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PROMPT TÜRLERI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— Örnek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quo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1965960"/>
          </a:xfrm>
          <a:prstGeom prst="roundRect">
            <a:avLst>
              <a:gd name="adj" fmla="val 2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Aşağıdaki müşteri geri bildirimini “olumlu”, “olumsuz”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veya “nötr” olarak sınıflandır: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“Sevkiyat söz verilenden iki gün erken geldi, memnunuz.”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794760"/>
            <a:ext cx="6766560" cy="1280160"/>
          </a:xfrm>
          <a:prstGeom prst="roundRect">
            <a:avLst>
              <a:gd name="adj" fmla="val 4286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640080" y="379476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40080" y="3950208"/>
            <a:ext cx="6766560" cy="155448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68096" y="381304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ÇIKTI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04672" y="4197096"/>
            <a:ext cx="64373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Sınıf: Olumlu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Gerekçe: Erken teslimat ve memnuniyet ifadesi.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35240" y="1645920"/>
            <a:ext cx="3886200" cy="3429000"/>
          </a:xfrm>
          <a:prstGeom prst="roundRect">
            <a:avLst>
              <a:gd name="adj" fmla="val 3200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 txBox="1"/>
          <p:nvPr/>
        </p:nvSpPr>
        <p:spPr>
          <a:xfrm>
            <a:off x="786384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KULLANILIR?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22402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 basit ve net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adımlı sınıflandırma / özet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göstermeye gerek yok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öncelikliyse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PROMPT TÜRLERI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— Örnek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429000"/>
          </a:xfrm>
          <a:prstGeom prst="roundRect">
            <a:avLst>
              <a:gd name="adj" fmla="val 160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(2 örnek + görev)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Ürün kodlarını standart biçime çevir.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Girdi: paslanmaz 304 sac 2mm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Çıktı: SS304-SAC-2.0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Girdi: karbon çelik boru 1 inç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Çıktı: CS-BORU-1.0IN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Girdi: alüminyum profil 40x40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Çıktı: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429000"/>
          </a:xfrm>
          <a:prstGeom prst="roundRect">
            <a:avLst>
              <a:gd name="adj" fmla="val 3200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İŞE YARAR?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402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Örnekler istenen kalıbı öğretir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tutarlılığı sağlar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kuralları göstererek anlatır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kaliteli örnek çoğu zaman yeter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2 · PROMPT TÜRLERI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— Örnek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429000"/>
          </a:xfrm>
          <a:prstGeom prst="roundRect">
            <a:avLst>
              <a:gd name="adj" fmla="val 160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 siparişte 12 ton çelik var. Tonu 18.500 TL.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Müşteriye %8 iskonto, ardından %20 KDV uygulanacak.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Toplam tutarı adım adım hesapla, her adımı göster,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sonra tek satırda net tutarı yaz.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429000"/>
          </a:xfrm>
          <a:prstGeom prst="roundRect">
            <a:avLst>
              <a:gd name="adj" fmla="val 3200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ZAMAN?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402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 hesap ve mantık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gerekçesi görülmek istendiğinde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“Adım adım düşün” ifadesini ekle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Hataları görünür ve denetlenebilir kılar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cub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Bileşenleri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Yapıları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BILEŞENLER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Prompt'un 6 Yapı Taşı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 / Persona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kimlik ver: “Deneyimli üretim planlama uzmanı olarak…”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istediğini net fiillerle söyle: özetle, karşılaştır, üret.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Bağlam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Gerekli arka plan, veri ve kısıtları paylaş.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biçimi: tablo, madde, e-posta, JSON, kelime sayısı.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Kısıtlar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Sınırlar: ton, uzunluk, yasaklar, hedef kitle.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layer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Örnekler</a:t>
            </a:r>
            <a:endParaRPr lang="en-US" sz="165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İstenen kalıbı gösteren 1–3 örnek (few-shot).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BILEŞENLER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Hepsi Bir Arada — Etiketli Örnek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6263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FF6A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 deneyimli bir satın alma uzmanısın. </a:t>
            </a:r>
            <a:r>
              <a:rPr lang="en-US" sz="1400" dirty="0">
                <a:solidFill>
                  <a:srgbClr val="6F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Aşağıdaki üç tedarikçi teklifini karşılaştırıp en uygununu öner. </a:t>
            </a:r>
            <a:r>
              <a:rPr lang="en-US" sz="1400" dirty="0">
                <a:solidFill>
                  <a:srgbClr val="8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Teklifler: A=…, B=…, C=… (fiyat, teslim süresi, ödeme vadesi dahil). </a:t>
            </a:r>
            <a:r>
              <a:rPr lang="en-US" sz="1400" dirty="0">
                <a:solidFill>
                  <a:srgbClr val="F2C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Sonucu bir tablo + 2 cümlelik gerekçe olarak ver. </a:t>
            </a:r>
            <a:r>
              <a:rPr lang="en-US" sz="1400" dirty="0">
                <a:solidFill>
                  <a:srgbClr val="FF9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fazla 120 kelime, resmi bir dille yaz. 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43800" y="1645920"/>
            <a:ext cx="3977640" cy="41148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7772400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ANAHTARI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0" y="22402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8183880" y="22128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26974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2E6FD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183880" y="26700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31546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8183880" y="3127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36118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C99A1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 txBox="1"/>
          <p:nvPr/>
        </p:nvSpPr>
        <p:spPr>
          <a:xfrm>
            <a:off x="8183880" y="35844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0" y="40690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D258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8183880" y="40416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47091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 txBox="1"/>
          <p:nvPr/>
        </p:nvSpPr>
        <p:spPr>
          <a:xfrm>
            <a:off x="7955280" y="47731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bileşeni (few-shot) eklemek çıktı kalitesini ayrıca artırır.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YAPILAR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Hazır Prompt Çerçeveleri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Aklında tutması kolay kalıplar — her biri bileşenleri belli bir sırayla birleştirir.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96112" y="2130552"/>
            <a:ext cx="1554480" cy="566928"/>
          </a:xfrm>
          <a:prstGeom prst="roundRect">
            <a:avLst>
              <a:gd name="adj" fmla="val 14516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96112" y="21305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1488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Task · Format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0720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hızlı başlangıç: rol, görev, çıktı biçimi.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8745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6611112" y="2130552"/>
            <a:ext cx="1554480" cy="566928"/>
          </a:xfrm>
          <a:prstGeom prst="roundRect">
            <a:avLst>
              <a:gd name="adj" fmla="val 14516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6611112" y="21305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CO-STAR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1488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Objective · Style · Tone · Audience · Response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0720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ve kitleye duyarlı, cilalı metinler için.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896112" y="4187952"/>
            <a:ext cx="1554480" cy="566928"/>
          </a:xfrm>
          <a:prstGeom prst="roundRect">
            <a:avLst>
              <a:gd name="adj" fmla="val 14516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 txBox="1"/>
          <p:nvPr/>
        </p:nvSpPr>
        <p:spPr>
          <a:xfrm>
            <a:off x="896112" y="41879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42062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Instructions · Steps · End goal · Narrowing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86460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adımlı, hedef odaklı görevler için.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393192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611112" y="4187952"/>
            <a:ext cx="1554480" cy="566928"/>
          </a:xfrm>
          <a:prstGeom prst="roundRect">
            <a:avLst>
              <a:gd name="adj" fmla="val 14516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6611112" y="418795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A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062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Objective · Details · Examples · Sense-check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86460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ve son kontrol içeren titiz işler için.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3 · YAPILAR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RISEN Çerçevesi — Uygulamalı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22960" y="1773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 txBox="1"/>
          <p:nvPr/>
        </p:nvSpPr>
        <p:spPr>
          <a:xfrm>
            <a:off x="822960" y="1773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45920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1645920"/>
            <a:ext cx="7635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bir kalite güvence mühendisisin.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88136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822960" y="26426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82296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514600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514600"/>
            <a:ext cx="7635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parti sac üretiminin hata raporunu değerlendir.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1088136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22960" y="35112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822960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383280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383280"/>
            <a:ext cx="7635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Hataları grupla 2) Kök nedenleri belirt 3) Önlem öner.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88136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822960" y="437997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 txBox="1"/>
          <p:nvPr/>
        </p:nvSpPr>
        <p:spPr>
          <a:xfrm>
            <a:off x="82296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251960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goal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4251960"/>
            <a:ext cx="7635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Yönetime sunulacak, aksiyon odaklı bir özet çıkar.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10881360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22960" y="524865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 txBox="1"/>
          <p:nvPr/>
        </p:nvSpPr>
        <p:spPr>
          <a:xfrm>
            <a:off x="822960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120640"/>
            <a:ext cx="21031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703320" y="5120640"/>
            <a:ext cx="7635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fazla 200 kelime, tablo + 3 aksiyon maddesi biçiminde.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İleri Akıl Yürütme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Ajan Teknikleri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 · İLERI TEKNIKLER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Haritası — Ne Zaman Hangisi?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65960"/>
            <a:ext cx="566928" cy="56692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3" y="21133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47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düşündürme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65960"/>
            <a:ext cx="566928" cy="56692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arrow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985" y="21133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30952" y="1947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çok yol + öz-eleştiri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65960"/>
            <a:ext cx="566928" cy="56692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tre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457" y="21133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07424" y="1947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of Thoughts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Dallara ayır, en iyisini seç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730752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05072"/>
            <a:ext cx="566928" cy="566928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networ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513" y="415247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398678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of Thoughts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6908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Fikirleri bağla ve birleştir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16552" y="3730752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05072"/>
            <a:ext cx="566928" cy="56692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compas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9985" y="415247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30952" y="398678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/ Plan-Act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6908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 → eylem → gözlem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93024" y="3730752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05072"/>
            <a:ext cx="566928" cy="566928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wan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6457" y="415247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07424" y="398678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Meta-Prompting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6908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AI'ya prompt yazdırma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 · İLERI TEKNIKLER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 ve Öz-Eleştiri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arrow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soruyu birbirinden bağımsız 3 farklı yoldan çöz.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Sonra üç sonucu karşılaştır ve en tutarlı olanı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gerekçesiyle seç.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Ardından —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Kendi cevabını bir uzman gözüyle eleştir, zayıf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noktaları bul ve düzeltilmiş NİHAİ cevabı ver.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Soru: [Hat-2 fire oranını düşürmek için en etkili 3 önlem]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GÜÇLÜ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seferlik hatayı azaltır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kendi hatasını yakalar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kalitesini yükseltir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analizlerde güven verir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Önemli/riskli kararlarda, sayısal analizde ve tek bir doğru cevabın olduğu durumlarda.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 · İLERI TEKNIKLER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of Thoughts (ToT)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tre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problemi bir DÜŞÜNCE AĞACI yöntemiyle çöz: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Çözüm için 3 farklı strateji (dal) öner.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Her dalın artı ve eksilerini kısaca değerlendir.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En umut verici dalı seç ve adım adım derinleştir.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Çıkmaza girersen geri dön, başka dala geç.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[Akdeniz'de profil satışını artıracak eylem planı]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NASIL ÇALIŞIR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çizgi yerine dallanır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Seçenekleri kıyaslar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yolu erken eler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Yaratıcı + analitik problemler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çok olası çözümün olduğu, keşif ve planlama gerektiren açık uçlu problemlerde.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 · İLERI TEKNIKLER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of Thoughts (GoT)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konuyu bir DÜŞÜNCE GRAFİĞİ gibi ele al: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Konuyla ilgili 5 ana fikir düğümü çıkar.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Düğümler arası bağları belirt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(neden-sonuç, destekleyen, çelişen).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Bağlardan yola çıkarak fikirleri BİRLEŞTİR,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yeni bir sentez üret.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Sonucu kısa bir öneri olarak özetle.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Konu: [Hat-2 verimliliğini artırmak]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TOT'TAN FARKI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Dallar birbirine bağlanır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Fikirler birleştirilebilir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 olmayan sentez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yönlü, bağlı problemler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fikir/veri parçalarını ilişkilendirip birleştirerek yeni bir sentez üretmek gerektiğinde.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 · AJAN TEKNIKLERI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— Reasoning + Act (Düşün + Uygula)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Şu görevi 'Düşünce → Eylem → Gözlem' döngüsüyle çöz.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 adımda: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Düşünce: ne yapman gerektiğini yaz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Eylem: hangi bilgiyi arayacağını/hesaplayacağını belirt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Gözlem: sonucu not et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Yeterli bilgiye ulaşınca 'NİHAİ CEVAP:' ile bitir.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Görev: [Ekli tabloya göre en kârlı ürün grubunu bul]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 MANTIĞI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Düşünme + eylem iç içe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Araç/arama ile güçlenir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 şeffaf ve izlenir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kod, veri araçlarıyla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bir şeyi araması, hesaplaması veya araç kullanması gereken çok adımlı görevlerde.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 · AJAN TEKNIKLERI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Plan-and-Act — Önce Planla, Sonra Uygula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görevi iki aşamada yap: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PLAN: Görevi tamamlamak için numaralı,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uygulanabilir bir adım listesi çıkar. Dur ve planı göster.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UYGULA: Onayladığım planı adım adım gerçekleştir;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her adımın çıktısını ayrı ayrı ver.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Görev: [Q1 raporundan yönetim sunumu taslağı hazırla]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AYRI PLANLAMA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yön, sonra icra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Planı görüp onaylarsın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Sapmayı erken görürsün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Uzun, karmaşık görevlerde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adımlı, büyük görevlerde; önce yönü doğrulayıp sonra uygulatmak istediğinizde.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 · AJAN TEKNIKLERI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— Çok Sıralı Düşünme (Zincirleme)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görevi tek dev prompt yerine, çıktısı bir sonrakine beslenen küçük adımlara böl. Her adım tek işe odaklanır, kalite artar.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896112" y="2313432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896112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Çıkar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1546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“Bu Q1 raporundan TÜM riskleri madde madde çıkar.”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142232" y="29718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416552" y="205740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4672584" y="2313432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 txBox="1"/>
          <p:nvPr/>
        </p:nvSpPr>
        <p:spPr>
          <a:xfrm>
            <a:off x="4672584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422392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Önceliklendir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690872" y="31546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A76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(çıktıyı yapıştır) “Bu riskleri olasılık ve etkiye göre sırala.”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918704" y="29718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8193024" y="205740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7"/>
          <p:cNvSpPr/>
          <p:nvPr/>
        </p:nvSpPr>
        <p:spPr>
          <a:xfrm>
            <a:off x="8449056" y="2313432"/>
            <a:ext cx="640080" cy="6400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 txBox="1"/>
          <p:nvPr/>
        </p:nvSpPr>
        <p:spPr>
          <a:xfrm>
            <a:off x="8449056" y="2313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198864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Aksiyon üret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467344" y="31546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(çıktıyı yapıştır) “En yüksek 3 risk için birer aksiyon planı yaz.”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49377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2"/>
          <p:cNvSpPr/>
          <p:nvPr/>
        </p:nvSpPr>
        <p:spPr>
          <a:xfrm>
            <a:off x="914400" y="5102352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35489"/>
            <a:ext cx="245791" cy="245791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645920" y="4937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adımı doğrulayıp bir sonrakine geçmek, uzun görevlerde 'her şeyi tek seferde' istemekten çok daha güvenilirdir.</a:t>
            </a:r>
            <a:endParaRPr lang="en-US" sz="1350" dirty="0"/>
          </a:p>
        </p:txBody>
      </p:sp>
      <p:sp>
        <p:nvSpPr>
          <p:cNvPr id="28" name="Text 2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 · AJAN TEKNIKLERI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Tool-Augmented — Araçla Genişletilmiş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g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Aşağıdaki görevi çözerken gerekli ARAÇLARI kullan: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Güncel veri gerekiyorsa web'de ARA ve kaynak ver.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Hesap/analiz gerekiyorsa KOD ÇALIŞTIR (data analysis).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Ekli dosyayı OKU ve içinden yararlan.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Hangi aracı neden kullandığını kısaca belirt.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Görev: [Ekli Excel'i analiz et + güncel HRC fiyatını araştır]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FIKIR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araçlar = ajan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Bilmediğini arar/hesaplar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Halüsinasyonu azaltır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verilere dayanır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bilgi, kesin hesap veya dış veri gerektiğinde — modelin belleğine güvenmek yerine araç kullandırın.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4 · İLERI TEKNIKLER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Meta-Prompting — AI'ya Prompt Yazdırma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wa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 bir prompt mühendisisin. Amacım: [tedarikçi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değerlendirme raporu ürettirmek].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amaç için en etkili prompt'u yaz; rol, bağlam,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 ve kısıtları içersin. Önce bana eksik bilgileri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tamamlatacak 2 net soru sor, sonra prompt'u ver.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IŞE YARAR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prompt'u AI'ya yazdırır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Eksikleri sana sordurur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kazandırır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Prompt'u iteratif geliştirir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yazacağınızdan emin değilseniz veya bir prompt'u profesyonelce iyileştirmek istediğinizde.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İyi ve Kötü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Örnekler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 · ÖRNEK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 1 — Müşteriye E-posta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530352"/>
          </a:xfrm>
          <a:prstGeom prst="roundRect">
            <a:avLst>
              <a:gd name="adj" fmla="val 2069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1911096"/>
            <a:ext cx="5349240" cy="26517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cro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5564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359152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1024128" y="24688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Tedarikçiye gecikme için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 at.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913632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Ton, dil ve amaç belirsiz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bilgisi yok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talep edildiği net değil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172200" y="1645920"/>
            <a:ext cx="5349240" cy="530352"/>
          </a:xfrm>
          <a:prstGeom prst="roundRect">
            <a:avLst>
              <a:gd name="adj" fmla="val 2069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6172200" y="1911096"/>
            <a:ext cx="5349240" cy="265176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5564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6656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İYİ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0" y="2359152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1435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 txBox="1"/>
          <p:nvPr/>
        </p:nvSpPr>
        <p:spPr>
          <a:xfrm>
            <a:off x="6556248" y="24688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Satın alma sorumlusu olarak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firmasına, 4500 no'lu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siparişteki 5 günlük gecikme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için resmi ama yapıcı bir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e-posta yaz; yeni teslim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tarihi talep et. Max 100 kelime.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3913632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bağlam ve talep net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ve uzunluk tanımlı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 gönderilebilir çıktı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 · ÖRNEK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 2 — Veri Özeti / Analiz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530352"/>
          </a:xfrm>
          <a:prstGeom prst="roundRect">
            <a:avLst>
              <a:gd name="adj" fmla="val 2069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1911096"/>
            <a:ext cx="5349240" cy="26517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cro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5564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359152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1024128" y="24688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satış verisini analiz et.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[tablo]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913632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metrik önemli belirsiz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Kitle ve amaç tanımsız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biçimi yok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172200" y="1645920"/>
            <a:ext cx="5349240" cy="530352"/>
          </a:xfrm>
          <a:prstGeom prst="roundRect">
            <a:avLst>
              <a:gd name="adj" fmla="val 2069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6172200" y="1911096"/>
            <a:ext cx="5349240" cy="265176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5564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6656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İYİ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0" y="2359152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1435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 txBox="1"/>
          <p:nvPr/>
        </p:nvSpPr>
        <p:spPr>
          <a:xfrm>
            <a:off x="6556248" y="24688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aylık satış tablosunu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incele: en çok/az satan 3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ürünü, büyüme oranını ve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dikkat çeken trendi bul.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Yönetim için 5 maddede,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rakamlarla özetle.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3913632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Odak metrikler belirtildi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kitle net (yönetim)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 + madde formatı verildi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 · ÖRNEK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Örnek 3 — Teknik Prosedür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49240" cy="530352"/>
          </a:xfrm>
          <a:prstGeom prst="roundRect">
            <a:avLst>
              <a:gd name="adj" fmla="val 2069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40080" y="1911096"/>
            <a:ext cx="5349240" cy="26517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/home/claude/steeltec/icons/cro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55648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359152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1024128" y="24688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İş güvenliği prosedürü yaz.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3913632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süreç için belirsiz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ve standart yok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 seviyesi tanımsız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6172200" y="1645920"/>
            <a:ext cx="5349240" cy="530352"/>
          </a:xfrm>
          <a:prstGeom prst="roundRect">
            <a:avLst>
              <a:gd name="adj" fmla="val 2069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1"/>
          <p:cNvSpPr/>
          <p:nvPr/>
        </p:nvSpPr>
        <p:spPr>
          <a:xfrm>
            <a:off x="6172200" y="1911096"/>
            <a:ext cx="5349240" cy="265176"/>
          </a:xfrm>
          <a:prstGeom prst="rect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1" descr="/home/claude/steeltec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55648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6656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İYİ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0" y="2359152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14351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4"/>
          <p:cNvSpPr txBox="1"/>
          <p:nvPr/>
        </p:nvSpPr>
        <p:spPr>
          <a:xfrm>
            <a:off x="6556248" y="24688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Kaynak atölyesi için, EN ISO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standartlarına uygun, 8 adımlık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 iş güvenliği prosedürü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yaz. Her adımda: sorumlu,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ekipman ve risk notu olsun.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Sade, uygulanabilir dil kullan.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446520" y="3913632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 ve standart belirtildi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sayısı ve alanlar net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Kullanılabilir, denetlenebilir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5 · HATALAR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Sık Yapılan Prompt Hataları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NASIL GÖRÜNÜR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0" name="Image 1" descr="/home/claude/steeltec/icons/cross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9339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691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Belirsizlik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3840480" y="16916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“Bir şeyler yaz” gibi muğlak istek</a:t>
            </a:r>
            <a:endParaRPr lang="en-US" sz="1250" dirty="0"/>
          </a:p>
        </p:txBody>
      </p:sp>
      <p:pic>
        <p:nvPicPr>
          <p:cNvPr id="13" name="Image 2" descr="/home/claude/steeltec/icons/check_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93395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92440" y="1691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görev, format ve kısıt ekle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2578608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6" name="Image 3" descr="/home/claude/steeltec/icons/cross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20924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257860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Aşırı yükleme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3840480" y="257860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prompt'ta 10 farklı iş</a:t>
            </a:r>
            <a:endParaRPr lang="en-US" sz="1250" dirty="0"/>
          </a:p>
        </p:txBody>
      </p:sp>
      <p:pic>
        <p:nvPicPr>
          <p:cNvPr id="19" name="Image 4" descr="/home/claude/steeltec/icons/check_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82092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92440" y="25786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Zincirle: adımlara böl (multi-turn)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40080" y="3465576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22" name="Image 5" descr="/home/claude/steeltec/icons/cross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7892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34440" y="346557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Bağlam vermemek</a:t>
            </a:r>
            <a:endParaRPr lang="en-US" sz="1450" dirty="0"/>
          </a:p>
        </p:txBody>
      </p:sp>
      <p:sp>
        <p:nvSpPr>
          <p:cNvPr id="24" name="Text 16"/>
          <p:cNvSpPr txBox="1"/>
          <p:nvPr/>
        </p:nvSpPr>
        <p:spPr>
          <a:xfrm>
            <a:off x="3840480" y="3465576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Gerekli veriyi/örneği paylaşmamak</a:t>
            </a:r>
            <a:endParaRPr lang="en-US" sz="1250" dirty="0"/>
          </a:p>
        </p:txBody>
      </p:sp>
      <p:pic>
        <p:nvPicPr>
          <p:cNvPr id="25" name="Image 6" descr="/home/claude/steeltec/icons/check_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707892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092440" y="346557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İlgili veriyi ve 1–2 örnek ver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640080" y="4352544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28" name="Image 7" descr="/home/claude/steeltec/icons/cross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94860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34440" y="435254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Körü körüne güven</a:t>
            </a:r>
            <a:endParaRPr lang="en-US" sz="1450" dirty="0"/>
          </a:p>
        </p:txBody>
      </p:sp>
      <p:sp>
        <p:nvSpPr>
          <p:cNvPr id="30" name="Text 20"/>
          <p:cNvSpPr txBox="1"/>
          <p:nvPr/>
        </p:nvSpPr>
        <p:spPr>
          <a:xfrm>
            <a:off x="3840480" y="4352544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Çıktıyı doğrulamadan kullanmak</a:t>
            </a:r>
            <a:endParaRPr lang="en-US" sz="1250" dirty="0"/>
          </a:p>
        </p:txBody>
      </p:sp>
      <p:pic>
        <p:nvPicPr>
          <p:cNvPr id="31" name="Image 8" descr="/home/claude/steeltec/icons/check_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594860"/>
            <a:ext cx="274320" cy="27432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8092440" y="435254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 ve iddiaları bağımsız denetle</a:t>
            </a:r>
            <a:endParaRPr lang="en-US" sz="1250" dirty="0"/>
          </a:p>
        </p:txBody>
      </p:sp>
      <p:sp>
        <p:nvSpPr>
          <p:cNvPr id="33" name="Shape 22"/>
          <p:cNvSpPr/>
          <p:nvPr/>
        </p:nvSpPr>
        <p:spPr>
          <a:xfrm>
            <a:off x="640080" y="5239512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34" name="Image 9" descr="/home/claude/steeltec/icons/cross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481828"/>
            <a:ext cx="292608" cy="292608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34440" y="523951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Negatifi unutmak</a:t>
            </a:r>
            <a:endParaRPr lang="en-US" sz="1450" dirty="0"/>
          </a:p>
        </p:txBody>
      </p:sp>
      <p:sp>
        <p:nvSpPr>
          <p:cNvPr id="36" name="Text 24"/>
          <p:cNvSpPr txBox="1"/>
          <p:nvPr/>
        </p:nvSpPr>
        <p:spPr>
          <a:xfrm>
            <a:off x="3840480" y="523951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İSTEMEDİĞİNİ söylememek</a:t>
            </a:r>
            <a:endParaRPr lang="en-US" sz="1250" dirty="0"/>
          </a:p>
        </p:txBody>
      </p:sp>
      <p:pic>
        <p:nvPicPr>
          <p:cNvPr id="37" name="Image 10" descr="/home/claude/steeltec/icons/check_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5481828"/>
            <a:ext cx="274320" cy="27432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8092440" y="52395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“Şunu yapma / şunu ekleme” de</a:t>
            </a:r>
            <a:endParaRPr lang="en-US" sz="1250" dirty="0"/>
          </a:p>
        </p:txBody>
      </p:sp>
      <p:sp>
        <p:nvSpPr>
          <p:cNvPr id="39" name="Text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40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ChatGPT'yi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Ustalıkla Kullanmak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CHATGPT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Araç Haritası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559052" y="1865376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757" y="2065081"/>
            <a:ext cx="368686" cy="368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7066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 yükle, analiz + grafik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1627632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421124" y="1865376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f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829" y="2065081"/>
            <a:ext cx="368686" cy="3686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7066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Dosya Okuma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639312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PDF/Word özetle ve sorgula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627632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7283196" y="1865376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2901" y="2065081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55664" y="27066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Görsel (Vision)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501384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Fotoğraf/şema/çizim yorumla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627632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10145268" y="1865376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4973" y="2065081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17736" y="270662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Arama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363456" y="3044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 bilgi + kaynak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3758184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1559052" y="3995928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magnify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8757" y="4195633"/>
            <a:ext cx="368686" cy="36868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1520" y="48371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Research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17550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kaynaklı rapor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502152" y="3758184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4421124" y="3995928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pe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0829" y="4195633"/>
            <a:ext cx="368686" cy="36868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93592" y="48371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3639312" y="517550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yazma / kod düzenleme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364224" y="3758184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Shape 27"/>
          <p:cNvSpPr/>
          <p:nvPr/>
        </p:nvSpPr>
        <p:spPr>
          <a:xfrm>
            <a:off x="7283196" y="3995928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6" name="Image 6" descr="/home/claude/steeltec/icons/databas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2901" y="4195633"/>
            <a:ext cx="368686" cy="36868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55664" y="48371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450" dirty="0"/>
          </a:p>
        </p:txBody>
      </p:sp>
      <p:sp>
        <p:nvSpPr>
          <p:cNvPr id="38" name="Text 29"/>
          <p:cNvSpPr txBox="1"/>
          <p:nvPr/>
        </p:nvSpPr>
        <p:spPr>
          <a:xfrm>
            <a:off x="6501384" y="517550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Tercihlerini hatırlar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226296" y="3758184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0" name="Shape 31"/>
          <p:cNvSpPr/>
          <p:nvPr/>
        </p:nvSpPr>
        <p:spPr>
          <a:xfrm>
            <a:off x="10145268" y="3995928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1" name="Image 7" descr="/home/claude/steeltec/icons/folde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4973" y="4195633"/>
            <a:ext cx="368686" cy="36868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317736" y="48371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GPT'ler &amp; Projects</a:t>
            </a:r>
            <a:endParaRPr lang="en-US" sz="1450" dirty="0"/>
          </a:p>
        </p:txBody>
      </p:sp>
      <p:sp>
        <p:nvSpPr>
          <p:cNvPr id="43" name="Text 33"/>
          <p:cNvSpPr txBox="1"/>
          <p:nvPr/>
        </p:nvSpPr>
        <p:spPr>
          <a:xfrm>
            <a:off x="9363456" y="517550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asistan (skills)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Excel/CSV Analizi — Data Analysis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81328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 txBox="1"/>
          <p:nvPr/>
        </p:nvSpPr>
        <p:spPr>
          <a:xfrm>
            <a:off x="91440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DOSYASI:  </a:t>
            </a:r>
            <a:r>
              <a:rPr lang="en-US" sz="12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IW_SteelTec_Satis_Uretim_2024.xlsx  →  ChatGPT'ye yükleyip aşağıdaki prompt'u yapıştırın.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6766560" cy="3337560"/>
          </a:xfrm>
          <a:prstGeom prst="roundRect">
            <a:avLst>
              <a:gd name="adj" fmla="val 1644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40080" y="2304288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768096" y="216712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(dosyayı ekledikten sonra)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551176"/>
            <a:ext cx="6437376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satış tablosunu incele: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Toplam ciroyu ve en çok/az satan 3 ürün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grubunu bul.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Bölgelere göre satışı karşılaştır, en zayıf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bölgeyi belirt.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Aylık ciro trendini bir GRAFİKLE göster.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'Uretim' sayfasında fire oranı en yüksek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hattı bul ve nedenini yorumla.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Yönetim için 5 maddelik içgörü özeti çıkar.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2148840"/>
            <a:ext cx="3886200" cy="3337560"/>
          </a:xfrm>
          <a:prstGeom prst="roundRect">
            <a:avLst>
              <a:gd name="adj" fmla="val 3288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86384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İPUÇLARI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26974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ister; ChatGPT kod çalıştırıp çizer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“Hesabı göster” dersen adımları verir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Sonucu indirilebilir Excel olarak isteyebilirsin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Sayıları kaynak veriyle bir kez doğrula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Belge Özetleme ve Sorgulama — PDF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81328"/>
            <a:ext cx="10881360" cy="457200"/>
          </a:xfrm>
          <a:prstGeom prst="roundRect">
            <a:avLst>
              <a:gd name="adj" fmla="val 5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 txBox="1"/>
          <p:nvPr/>
        </p:nvSpPr>
        <p:spPr>
          <a:xfrm>
            <a:off x="91440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DOSYASI:  </a:t>
            </a:r>
            <a:r>
              <a:rPr lang="en-US" sz="12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IW_SteelTec_2024_Q1_Rapor.pdf  →  ChatGPT'ye yükleyin.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6766560" cy="3337560"/>
          </a:xfrm>
          <a:prstGeom prst="roundRect">
            <a:avLst>
              <a:gd name="adj" fmla="val 1644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640080" y="230428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 txBox="1"/>
          <p:nvPr/>
        </p:nvSpPr>
        <p:spPr>
          <a:xfrm>
            <a:off x="768096" y="216712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04672" y="2551176"/>
            <a:ext cx="6437376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çeyrek raporunu oku ve SADECE belgedeki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bilgilere dayan: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Yönetici için 5 maddelik bir özet çıkar.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En kritik 3 riski ve önerilen aksiyonları listele.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'Hat-2 ile ilgili sorun neydi ve ne yapılıyor?'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sorusunu yanıtla.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Emin olmadığın yeri 'belgede belirtilmemiş' diye işaretle.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2148840"/>
            <a:ext cx="3886200" cy="3337560"/>
          </a:xfrm>
          <a:prstGeom prst="roundRect">
            <a:avLst>
              <a:gd name="adj" fmla="val 3288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7863840" y="2331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“SADECE BELGE”?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269748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Halüsinasyonu (uydurmayı) engeller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Cevabı belgeye sabitler (grounding)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“Bilmiyorum” demesine izin verir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belgede sayfa/atıf isteyebilirsin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Toplu Sınıflandırma ve Aksiyon Çıkarma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402336"/>
          </a:xfrm>
          <a:prstGeom prst="roundRect">
            <a:avLst>
              <a:gd name="adj" fmla="val 5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Dosya: musteri_geri_bildirim.csv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38528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1938528"/>
            <a:ext cx="534924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640080" y="2093976"/>
            <a:ext cx="534924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768096" y="1956816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SINIFLANDIRMA PROMPT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340864"/>
            <a:ext cx="50200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CSV'deki 'Mesaj' sütununu tek tek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“olumlu / olumsuz / nötr” olarak sınıflandır ve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'Sınıf' sütununu doldur.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Sonra: duygu dağılımını yüzdeyle özetle ve en sık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şikâyet temasını çıkar. İndirilebilir tablo ver.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349240" cy="402336"/>
          </a:xfrm>
          <a:prstGeom prst="roundRect">
            <a:avLst>
              <a:gd name="adj" fmla="val 5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6309360" y="14173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Dosya: toplanti_notlari.txt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938528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172200" y="1938528"/>
            <a:ext cx="534924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6172200" y="2093976"/>
            <a:ext cx="534924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6300216" y="1956816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AKSİYON ÇIKARMA PROMPT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36792" y="2340864"/>
            <a:ext cx="502005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ham toplantı notlarını düzenle: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Kararları madde madde listele.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Aksiyonları 'Sorumlu — İş — Termin' tablosu yap.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Takip gereken açık konuları ayrı başlıkta topla.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914400" y="5056632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0" name="Image 0" descr="/home/claude/steeltec/icon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5189769"/>
            <a:ext cx="245791" cy="245791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45920" y="48920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Verimlilik: </a:t>
            </a:r>
            <a:r>
              <a:rPr lang="en-US" sz="13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Yüzlerce satır geri bildirimi dakikalar içinde sınıflandırıp özetlemek, bu tekniğin en somut kurumsal faydalarından biridir.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Görsel Analiz — Vision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ey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(görseli ekledikten sonra)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[üretim panosu / el yazısı form / teknik çizim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fotoğrafını yükle]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 fotoğraftaki değerleri bir tabloya dök.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Okunmayan ya da anormal görünen değerleri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işaretle ve kısa bir not düş.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(Alternatif: 'Bu şemadaki adımları metne çevir.')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KULLANIM ALANLARI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yazısı form → dijital tablo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Fotoğraftaki sayaç/pano okuma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çizim / şema yorumu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görüntüsü hata analizi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bir metin değil görselse (fotoğraf, tarama, ekran görüntüsü, çizim) — modele 'gördüğünü' yorumlatın.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Arama — Güncel Bilgi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Güncel web bilgisini kullanarak yanıtla ve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KAYNAK linklerini ver: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 3 ayda Türkiye'de çelik hammadde (hurda / HRC)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fiyatlarında öne çıkan gelişmeleri özetle.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Eğilimi 3 maddede ver ve her iddiayı bir kaynağa bağla.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tarihi sonrası için şart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kaynak iste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kaynağı çapraz doğrula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Fiyat/haber gibi değişkenlerde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Fiyat, haber, mevzuat gibi güncel ve değişken bilgilerde — modelin belleği yeterli değildir.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Research — Çok Kaynaklı Rapor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magnif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71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ChatGPT'nin onlarca kaynağı tarayıp dakikalar içinde kaynaklı, uzun bir araştırma raporu ürettiği moddur. Karar öncesi pazar/rakip araştırmaları için idealdir.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6766560" cy="3429000"/>
          </a:xfrm>
          <a:prstGeom prst="roundRect">
            <a:avLst>
              <a:gd name="adj" fmla="val 1600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640080" y="2212848"/>
            <a:ext cx="6766560" cy="155448"/>
          </a:xfrm>
          <a:prstGeom prst="rect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768096" y="207568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(Deep Research modunu seç)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459736"/>
            <a:ext cx="643737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'Türkiye paslanmaz çelik pazarı 2024–2025' üzerine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kaynaklı bir araştırma raporu hazırla.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Bölümler: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Pazar büyüklüğü ve talep sürücüleri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Başlıca oyuncular ve rekabet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Fiyat dinamikleri ve riskler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IW SteelTec için 5 stratejik öneri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 önemli iddiayı kaynağıyla göster.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2057400"/>
            <a:ext cx="3886200" cy="3429000"/>
          </a:xfrm>
          <a:prstGeom prst="roundRect">
            <a:avLst>
              <a:gd name="adj" fmla="val 3200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786384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İYİ SONUÇ İÇİN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26060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Kapsamı ve bölümleri net yaz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aralığı ve coğrafya belirt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ve tablo iste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dk sürebilir, sabırlı ol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Çıktıyı yine de doğrula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— Birlikte Yazma ve Düzenleme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p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6766560" cy="3063240"/>
          </a:xfrm>
          <a:prstGeom prst="roundRect">
            <a:avLst>
              <a:gd name="adj" fmla="val 1791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768096" y="166420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(Canvas'ta aç)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048256"/>
            <a:ext cx="643737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Canvas'ta bir çalışma alanı aç ve müşteriye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gönderilecek bir teklif e-postası taslağı yaz.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Sonra şu düzenlemeleri birlikte yapalım: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'Daha kısa ve resmi yap'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'Fiyat tablosu ekle'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'2. paragrafı sadeleştir'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886200" cy="3063240"/>
          </a:xfrm>
          <a:prstGeom prst="roundRect">
            <a:avLst>
              <a:gd name="adj" fmla="val 3582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 txBox="1"/>
          <p:nvPr/>
        </p:nvSpPr>
        <p:spPr>
          <a:xfrm>
            <a:off x="786384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SAĞLAR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212848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Metni yan panelde düzenler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bölüm revizyon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metin/kod için ideal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 üzerinde iterasyon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937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914400" y="5138928"/>
            <a:ext cx="512064" cy="51206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37" y="5272065"/>
            <a:ext cx="245791" cy="24579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956048"/>
            <a:ext cx="9692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bir metni veya kodu adım adım, bölüm bölüm birlikte geliştirmek istediğinizde.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KIŞISELLEŞTIRME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Instructions ve Memory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32688" y="1965960"/>
            <a:ext cx="713232" cy="71323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28" y="2151400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10512" y="1947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Instructions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10512" y="23500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sohbette geçerli kalıcı tercihler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92608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olduğun ve işin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Tercih ettiğin dil ve ton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çıktı formatı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 zaman Türkçe, madde madde yanıtla”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6647688" y="1965960"/>
            <a:ext cx="713232" cy="71323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128" y="2151400"/>
            <a:ext cx="342351" cy="3423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25512" y="1947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525512" y="23500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Konuştukça öğrenip hatırlama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292608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bilgileri hatırlar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Bağlamı sohbetler arası taşır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İstediğinde temizlenebilir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veriyi kaydetmemeye dikkat et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6 · KIŞISELLEŞTIRME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Özel GPT'ler ve Projects — Kendi 'Skill'in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Tekrarlayan bir işi kalıcı bir asistana dönüştürün: talimat + örnek + kendi dosyalarınızı bir kez tanımlayın, her seferinde hazır gelsin.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1577340" y="2249424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1577340" y="22494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09067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Amacı tanımla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34564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“IW SteelTec Teklif Yazarı” — ne yapsın?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02152" y="20116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0"/>
          <p:cNvSpPr/>
          <p:nvPr/>
        </p:nvSpPr>
        <p:spPr>
          <a:xfrm>
            <a:off x="4439412" y="2249424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 txBox="1"/>
          <p:nvPr/>
        </p:nvSpPr>
        <p:spPr>
          <a:xfrm>
            <a:off x="4439412" y="22494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309067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Talimat ver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66744" y="34564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Rol, ton, format ve kurallarını yaz.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64224" y="20116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7301484" y="2249424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 txBox="1"/>
          <p:nvPr/>
        </p:nvSpPr>
        <p:spPr>
          <a:xfrm>
            <a:off x="7301484" y="22494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6473952" y="309067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Bilgi yükle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528816" y="34564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listesi, şablon, ürün kataloğu ekle.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226296" y="20116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20"/>
          <p:cNvSpPr/>
          <p:nvPr/>
        </p:nvSpPr>
        <p:spPr>
          <a:xfrm>
            <a:off x="10163556" y="2249424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 txBox="1"/>
          <p:nvPr/>
        </p:nvSpPr>
        <p:spPr>
          <a:xfrm>
            <a:off x="10163556" y="22494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9336024" y="3090672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 &amp; paylaş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390888" y="3456432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Ekiple paylaş; herkes aynı kalitede üretir.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Shape 25"/>
          <p:cNvSpPr/>
          <p:nvPr/>
        </p:nvSpPr>
        <p:spPr>
          <a:xfrm>
            <a:off x="914400" y="4892040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9" name="Image 1" descr="/home/claude/steeltec/icons/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311" y="5048951"/>
            <a:ext cx="289682" cy="28968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783080" y="461772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İlgili sohbetleri, dosyaları ve talimatları tek bir çalışma alanında toplar. Özel GPT + Projects = departmanınıza özel, tekrar kullanılabilir bir yapay zeka asistanı.</a:t>
            </a:r>
            <a:endParaRPr lang="en-US" sz="1350" dirty="0"/>
          </a:p>
        </p:txBody>
      </p:sp>
      <p:sp>
        <p:nvSpPr>
          <p:cNvPr id="31" name="Text 2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microsof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7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Copilot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ile Çalışmak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7 · COPILOT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vs Microsoft Copilot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932688" y="1965960"/>
            <a:ext cx="731520" cy="73152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commen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21561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47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048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Serbest, güçlü genel asistan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97180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Analiz, kreatif, kodlama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GPT'ler ve Projects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Research, Canvas, Vision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yükleyerek çalışma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6647688" y="1965960"/>
            <a:ext cx="731520" cy="731520"/>
          </a:xfrm>
          <a:prstGeom prst="ellipse">
            <a:avLst/>
          </a:prstGeom>
          <a:solidFill>
            <a:srgbClr val="D2582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/home/claude/steeltec/icons/microsof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83" y="21561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19476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24048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Office'e gömülü iş asistanı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297180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PPT, Outlook içinde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verisine erişim (izinli)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toplantı özeti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Şirket güvenlik sınırlarında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12064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1005840" y="51206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prompt ilkeleri her ikisinde de geçerlidir.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araçta değil, iyi prompt yazmadadır.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7 · COPILOT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ile Sunum Oluşturma (Meta!)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pp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eğitim gibi sunumları Copilot PowerPoint içinde üretebilirsiniz. Örnek akış ve prompt aşağıda.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6766560" cy="3520440"/>
          </a:xfrm>
          <a:prstGeom prst="roundRect">
            <a:avLst>
              <a:gd name="adj" fmla="val 1558"/>
            </a:avLst>
          </a:prstGeom>
          <a:solidFill>
            <a:srgbClr val="1B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6766560" cy="310896"/>
          </a:xfrm>
          <a:prstGeom prst="roundRect">
            <a:avLst>
              <a:gd name="adj" fmla="val 17647"/>
            </a:avLst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640080" y="2121408"/>
            <a:ext cx="6766560" cy="155448"/>
          </a:xfrm>
          <a:prstGeom prst="rect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 txBox="1"/>
          <p:nvPr/>
        </p:nvSpPr>
        <p:spPr>
          <a:xfrm>
            <a:off x="768096" y="1984248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(PowerPoint &gt; Copilot)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368296"/>
            <a:ext cx="6437376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Şu konuda 10 slaytlık profesyonel bir sunum oluştur: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'Üretim ekipleri için yapay zeka farkındalığı'.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Başlık + ajanda + 7 içerik + kapanış olsun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Her slaytta başlık, 3-4 madde ve konuşmacı notu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Sade, kurumsal bir tema kullan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Teknik terimleri basit dille açıkla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Sonra: '3. slayta bir örnek ekle' diyerek düzenle.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1965960"/>
            <a:ext cx="3886200" cy="3520440"/>
          </a:xfrm>
          <a:prstGeom prst="roundRect">
            <a:avLst>
              <a:gd name="adj" fmla="val 3117"/>
            </a:avLst>
          </a:prstGeom>
          <a:solidFill>
            <a:srgbClr val="1E2430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 txBox="1"/>
          <p:nvPr/>
        </p:nvSpPr>
        <p:spPr>
          <a:xfrm>
            <a:off x="786384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İPUÇLARI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25146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Slayt sayısı ve yapıyı belirt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olan Word dosyasından da üretir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tek slayt düzenlemesi iste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Temayı sonradan değiştirebilirsin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Notları mutlaka gözden geçir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7 · COPILOT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Genelinde Copilot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pp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PowerPoint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Word'den sunum üret, slayt düzenle, tasarım öner.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exce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 yaz, tablo analiz et, trend ve grafik çıkar.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Taslak yaz, özetle, yeniden yazdır, ton değiştir.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outloo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Outlook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E-postayı özetle, yanıt taslağı üret, uzun ipliği topla.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comment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Toplantıyı özetle, kararları ve aksiyonları çıkar.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magnif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Chat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verisiyle sorulara yanıt (izinli kapsamda).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0" y="182880"/>
            <a:ext cx="402336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273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/home/claude/steeltec/icons/industr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6" y="2376526"/>
            <a:ext cx="504749" cy="504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8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03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Sektörel Senaryolar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Güvenlik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8 · SEKTÖREL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IW SteelTec İçin Kullanım Senaryoları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1901952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outl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23" y="2058863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Satış &amp; Teklif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Teklif e-postaları, müşteri yanıtları, takip mesajları.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672584" y="1901952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495" y="205886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76672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Üretim &amp; Planlama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672584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verisi analizi, fire/duruş yorumu, rapor.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27632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8449056" y="1901952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5967" y="205886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53144" y="1920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Kalite &amp; İSG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449056" y="261518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Prosedür taslakları, hata analizi, denetim özetleri.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96112" y="4078224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us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23" y="42351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00200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İlan metni, mülakat soruları, eğitim içeriği taslağı.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4672584" y="4078224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lis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495" y="4235135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76672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Satın Alma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672584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Tedarikçi karşılaştırma, sözleşme özeti, RFQ metni.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803904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8449056" y="4078224"/>
            <a:ext cx="603504" cy="603504"/>
          </a:xfrm>
          <a:prstGeom prst="ellipse">
            <a:avLst/>
          </a:prstGeom>
          <a:solidFill>
            <a:srgbClr val="37425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boo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5967" y="42351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53144" y="409651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Dokümantasyon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449056" y="479145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notu, prosedür, kılavuz ve özet üretimi.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8 · SEKTÖREL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 Verinle Çalışma — Grounding / RAG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71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kendi belgelerinize 'sabitleyerek' (grounding) genel bilgi yerine sizin verinizle yanıt vermesini sağlarsınız. Halüsinasyonu azaltır, cevabı kaynağa bağlar.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1559052" y="2295144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f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757" y="2494849"/>
            <a:ext cx="368686" cy="36868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Belgeyi ver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804672" y="3483864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İlgili PDF/Excel/notu yükle veya yapıştır.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02152" y="20574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4421124" y="2295144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4" name="Image 2" descr="/home/claude/steeltec/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0829" y="2494849"/>
            <a:ext cx="368686" cy="36868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93592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Sınırla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3666744" y="3483864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“Sadece bu belgeye dayan” talimatı ekle.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364224" y="20574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3"/>
          <p:cNvSpPr/>
          <p:nvPr/>
        </p:nvSpPr>
        <p:spPr>
          <a:xfrm>
            <a:off x="7283196" y="2295144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9" name="Image 3" descr="/home/claude/steeltec/icons/magnify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901" y="2494849"/>
            <a:ext cx="368686" cy="3686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55664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Sorgula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6528816" y="3483864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 üzerinden soru sor, atıf iste.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226296" y="205740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3" name="Shape 17"/>
          <p:cNvSpPr/>
          <p:nvPr/>
        </p:nvSpPr>
        <p:spPr>
          <a:xfrm>
            <a:off x="10145268" y="2295144"/>
            <a:ext cx="768096" cy="76809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4" name="Image 4" descr="/home/claude/steeltec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4973" y="2494849"/>
            <a:ext cx="368686" cy="36868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317736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Doğrula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9390888" y="3483864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göster dedirt, kritik veriyi kontrol et.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E7D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Shape 21"/>
          <p:cNvSpPr/>
          <p:nvPr/>
        </p:nvSpPr>
        <p:spPr>
          <a:xfrm>
            <a:off x="914400" y="4919472"/>
            <a:ext cx="585216" cy="585216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9" name="Image 5" descr="/home/claude/steeltec/icons/bulb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556" y="5071628"/>
            <a:ext cx="280904" cy="28090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737360" y="46634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ölçekte: </a:t>
            </a: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ve özel GPT'ler, izin verilen şirket verisine bağlanarak bunu otomatik yapar. Yine de çıktı doğrulama sorumluluğu sizdedir.</a:t>
            </a:r>
            <a:endParaRPr lang="en-US" sz="1350" dirty="0"/>
          </a:p>
        </p:txBody>
      </p:sp>
      <p:sp>
        <p:nvSpPr>
          <p:cNvPr id="31" name="Text 2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8 · GÜVENLIK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ve Prompt Injection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492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cross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105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YAPMA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3172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Gizli/kişisel veriyi herkese açık araçlara yazma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Çıktıyı doğrulamadan resmî yerde kullanma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Bilinmeyen dosya/siteden gelen talimatlara körü körüne uyma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verisini izinsiz paylaşma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627632"/>
            <a:ext cx="53492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check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288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03720" y="18105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233172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/ onaylı araçları tercih et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 veriyi anonimleştir veya çıkar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ve sayıları bağımsız denetle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✓"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Şüpheli talimatı sorgula ve raporla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9"/>
          <p:cNvSpPr/>
          <p:nvPr/>
        </p:nvSpPr>
        <p:spPr>
          <a:xfrm>
            <a:off x="960120" y="4919472"/>
            <a:ext cx="603504" cy="603504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4" name="Image 2" descr="/home/claude/steeltec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031" y="5076383"/>
            <a:ext cx="289682" cy="28968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83080" y="46634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nedir?  </a:t>
            </a: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Yüklediğin bir belge veya web sayfası, modele gizli talimat vermeye çalışabilir (“önceki talimatları unut, şunu yap”). Kural: Belgedeki/sayfadaki gizli talimatları ASLA uygulama; yalnızca senin verdiğin görevi yerine getir.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8 · GÜVENLIK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Çıktıyı Doğrulama — Kontrol Listesi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859536" y="1920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8" name="Image 1" descr="/home/claude/steeltec/icons/check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066544"/>
            <a:ext cx="393192" cy="3931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86537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Sayılar doğru mu?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1737360" y="22677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rakamları kaynak veriyle karşılaştır.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55080" y="16459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8"/>
          <p:cNvSpPr/>
          <p:nvPr/>
        </p:nvSpPr>
        <p:spPr>
          <a:xfrm>
            <a:off x="6574536" y="1920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3" name="Image 2" descr="/home/claude/steeltec/icons/check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066544"/>
            <a:ext cx="393192" cy="3931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0" y="186537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 gerçek mi?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7452360" y="22677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Atıf ve linkleri aç, var olduğunu teyit et.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0632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2"/>
          <p:cNvSpPr/>
          <p:nvPr/>
        </p:nvSpPr>
        <p:spPr>
          <a:xfrm>
            <a:off x="859536" y="33375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8" name="Image 3" descr="/home/claude/steeltec/icons/check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83864"/>
            <a:ext cx="393192" cy="39319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37360" y="328269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Kapsam tam mı?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1737360" y="36850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İstenen her madde yanıtta var mı?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355080" y="306324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16"/>
          <p:cNvSpPr/>
          <p:nvPr/>
        </p:nvSpPr>
        <p:spPr>
          <a:xfrm>
            <a:off x="6574536" y="33375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3" name="Image 4" descr="/home/claude/steeltec/icons/check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483864"/>
            <a:ext cx="393192" cy="39319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52360" y="328269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 ve dil uygun mu?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7452360" y="36850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 diline ve kitleye uygun mu?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40080" y="44805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Shape 20"/>
          <p:cNvSpPr/>
          <p:nvPr/>
        </p:nvSpPr>
        <p:spPr>
          <a:xfrm>
            <a:off x="859536" y="47548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8" name="Image 5" descr="/home/claude/steeltec/icons/check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901184"/>
            <a:ext cx="393192" cy="39319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737360" y="47000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Gizlilik korundu mu?</a:t>
            </a:r>
            <a:endParaRPr lang="en-US" sz="1550" dirty="0"/>
          </a:p>
        </p:txBody>
      </p:sp>
      <p:sp>
        <p:nvSpPr>
          <p:cNvPr id="30" name="Text 22"/>
          <p:cNvSpPr txBox="1"/>
          <p:nvPr/>
        </p:nvSpPr>
        <p:spPr>
          <a:xfrm>
            <a:off x="1737360" y="51023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Paylaşmaman gereken veri sızmış mı?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6355080" y="448056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Shape 24"/>
          <p:cNvSpPr/>
          <p:nvPr/>
        </p:nvSpPr>
        <p:spPr>
          <a:xfrm>
            <a:off x="6574536" y="47548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E4F3EB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3" name="Image 6" descr="/home/claude/steeltec/icons/check_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901184"/>
            <a:ext cx="393192" cy="39319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452360" y="47000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Önyargı/hata var mı?</a:t>
            </a:r>
            <a:endParaRPr lang="en-US" sz="1550" dirty="0"/>
          </a:p>
        </p:txBody>
      </p:sp>
      <p:sp>
        <p:nvSpPr>
          <p:cNvPr id="35" name="Text 26"/>
          <p:cNvSpPr txBox="1"/>
          <p:nvPr/>
        </p:nvSpPr>
        <p:spPr>
          <a:xfrm>
            <a:off x="7452360" y="51023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 hatası veya haksız genelleme var mı?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İyi Prompt'un 8 Altın Kuralı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783080" y="191109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steeltec/icon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275" y="2101291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 ver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bir kimlik ve bakış açısı tanımla.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30168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7"/>
          <p:cNvSpPr/>
          <p:nvPr/>
        </p:nvSpPr>
        <p:spPr>
          <a:xfrm>
            <a:off x="4590288" y="191109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1" name="Image 1" descr="/home/claude/steeltec/icons/targ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483" y="2101291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21608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ol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813048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Görevi belirsiz bırakma; ne istediğini yaz.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37376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1"/>
          <p:cNvSpPr/>
          <p:nvPr/>
        </p:nvSpPr>
        <p:spPr>
          <a:xfrm>
            <a:off x="7397496" y="191109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6" name="Image 2" descr="/home/claude/steeltec/icons/boo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691" y="2101291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28816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Bağlam ekle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620256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Gerekli veri, örnek ve arka planı paylaş.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44584" y="169164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10204704" y="191109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4899" y="2101291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36024" y="27157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belirt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427464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biçimini ve uzunluğunu söyle.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22960" y="38404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19"/>
          <p:cNvSpPr/>
          <p:nvPr/>
        </p:nvSpPr>
        <p:spPr>
          <a:xfrm>
            <a:off x="1783080" y="405993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6" name="Image 4" descr="/home/claude/steeltec/icons/rou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3275" y="4250131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14400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Adımlandır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005840" y="5212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işi böl, adım adım düşündür.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630168" y="38404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Shape 23"/>
          <p:cNvSpPr/>
          <p:nvPr/>
        </p:nvSpPr>
        <p:spPr>
          <a:xfrm>
            <a:off x="4590288" y="405993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1" name="Image 5" descr="/home/claude/steeltec/icons/arrow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0483" y="4250131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721608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İterasyon yap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3813048" y="5212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Çıktıyı düzelttir, geliştir, yeniden sor.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37376" y="38404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Shape 27"/>
          <p:cNvSpPr/>
          <p:nvPr/>
        </p:nvSpPr>
        <p:spPr>
          <a:xfrm>
            <a:off x="7397496" y="405993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6" name="Image 6" descr="/home/claude/steeltec/icons/scal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7691" y="4250131"/>
            <a:ext cx="351130" cy="35113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28816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Kısıt koy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6620256" y="5212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Ton, sınır ve yasakları belirt.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244584" y="384048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2730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Shape 31"/>
          <p:cNvSpPr/>
          <p:nvPr/>
        </p:nvSpPr>
        <p:spPr>
          <a:xfrm>
            <a:off x="10204704" y="4059936"/>
            <a:ext cx="731520" cy="73152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1" name="Image 7" descr="/home/claude/steeltec/icons/shiel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94899" y="4250131"/>
            <a:ext cx="351130" cy="35113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336024" y="48646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Doğrula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9427464" y="5212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Sonucu güvenmeden önce kontrol et.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82296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Büyük Atölye — Tüm Dosyaları Kullan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744200" y="438912"/>
            <a:ext cx="868680" cy="86868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steeltec/icons/fl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0057" y="664769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371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Öğrendiğiniz her tekniği tek senaryoda birleştirin. Aşağıdaki 4 görevi ekli dosyalarla, sırayla (multi-turn) çözün.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5"/>
          <p:cNvSpPr/>
          <p:nvPr/>
        </p:nvSpPr>
        <p:spPr>
          <a:xfrm>
            <a:off x="868680" y="2185416"/>
            <a:ext cx="530352" cy="53035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9" name="Image 1" descr="/home/claude/steeltec/icons/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72" y="2323308"/>
            <a:ext cx="254569" cy="25456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00200" y="225856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7"/>
          <p:cNvSpPr txBox="1"/>
          <p:nvPr/>
        </p:nvSpPr>
        <p:spPr>
          <a:xfrm>
            <a:off x="1600200" y="2258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A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063240" y="20116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Satış+üretim verisini analiz et, Hat-2 fire sorununu bul, grafikle.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0"/>
          <p:cNvSpPr/>
          <p:nvPr/>
        </p:nvSpPr>
        <p:spPr>
          <a:xfrm>
            <a:off x="868680" y="3191256"/>
            <a:ext cx="530352" cy="53035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5" name="Image 2" descr="/home/claude/steeltec/icon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572" y="3329148"/>
            <a:ext cx="254569" cy="25456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600200" y="326440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2"/>
          <p:cNvSpPr txBox="1"/>
          <p:nvPr/>
        </p:nvSpPr>
        <p:spPr>
          <a:xfrm>
            <a:off x="1600200" y="32644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A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063240" y="3017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raporunu 5 maddede özetle, riskleri ve aksiyonları çıkar.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5"/>
          <p:cNvSpPr/>
          <p:nvPr/>
        </p:nvSpPr>
        <p:spPr>
          <a:xfrm>
            <a:off x="868680" y="4197096"/>
            <a:ext cx="530352" cy="53035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1" name="Image 3" descr="/home/claude/steeltec/icons/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572" y="4334988"/>
            <a:ext cx="254569" cy="254569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600200" y="42702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17"/>
          <p:cNvSpPr txBox="1"/>
          <p:nvPr/>
        </p:nvSpPr>
        <p:spPr>
          <a:xfrm>
            <a:off x="1600200" y="42702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A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3063240" y="4023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geri bildirimini sınıflandır, 3 ana şikâyet temasını bul.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6B4">
                <a:alpha val="2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0"/>
          <p:cNvSpPr/>
          <p:nvPr/>
        </p:nvSpPr>
        <p:spPr>
          <a:xfrm>
            <a:off x="868680" y="5202936"/>
            <a:ext cx="530352" cy="530352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27" name="Image 4" descr="/home/claude/steeltec/icons/quo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572" y="5340828"/>
            <a:ext cx="254569" cy="254569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600200" y="527608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2"/>
          <p:cNvSpPr txBox="1"/>
          <p:nvPr/>
        </p:nvSpPr>
        <p:spPr>
          <a:xfrm>
            <a:off x="1600200" y="52760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A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3063240" y="5029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notlarından karar ve aksiyon tablosu üret.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64008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D24E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adım: Dört çıktıyı tek bir yönetici brifingi haline getirmesini isteyin (sentez).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Prompt Engineering Eğitimi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E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teeltec/icons/industry_color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8686800" y="2651760"/>
            <a:ext cx="438912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371600"/>
            <a:ext cx="1051560" cy="1051560"/>
          </a:xfrm>
          <a:prstGeom prst="ellipse">
            <a:avLst/>
          </a:prstGeom>
          <a:solidFill>
            <a:srgbClr val="FF6A13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1" descr="/home/claude/steeltec/icons/gradua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66" y="1645006"/>
            <a:ext cx="504749" cy="50474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Teşekkürler!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FD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“İyi bir prompt, iyi bir sonucun yarısıdır.”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öğrendiklerinizi hemen kendi işinizde deneyin — en iyi öğrenme, uygulayarak olur.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22960" y="5120640"/>
            <a:ext cx="1369771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 txBox="1"/>
          <p:nvPr/>
        </p:nvSpPr>
        <p:spPr>
          <a:xfrm>
            <a:off x="822960" y="5120640"/>
            <a:ext cx="13697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Token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375611" y="5120640"/>
            <a:ext cx="1638605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7"/>
          <p:cNvSpPr txBox="1"/>
          <p:nvPr/>
        </p:nvSpPr>
        <p:spPr>
          <a:xfrm>
            <a:off x="2375611" y="5120640"/>
            <a:ext cx="16386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Türleri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197096" y="5120640"/>
            <a:ext cx="1638605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9"/>
          <p:cNvSpPr txBox="1"/>
          <p:nvPr/>
        </p:nvSpPr>
        <p:spPr>
          <a:xfrm>
            <a:off x="4197096" y="5120640"/>
            <a:ext cx="16386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Bileşen &amp; Yapı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18581" y="5120640"/>
            <a:ext cx="1907438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1"/>
          <p:cNvSpPr txBox="1"/>
          <p:nvPr/>
        </p:nvSpPr>
        <p:spPr>
          <a:xfrm>
            <a:off x="6018581" y="5120640"/>
            <a:ext cx="190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· GoT · ReAct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8899" y="5120640"/>
            <a:ext cx="1907438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3"/>
          <p:cNvSpPr txBox="1"/>
          <p:nvPr/>
        </p:nvSpPr>
        <p:spPr>
          <a:xfrm>
            <a:off x="8108899" y="5120640"/>
            <a:ext cx="190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&amp; Copilot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10199218" y="5120640"/>
            <a:ext cx="1100938" cy="457200"/>
          </a:xfrm>
          <a:prstGeom prst="roundRect">
            <a:avLst>
              <a:gd name="adj" fmla="val 50000"/>
            </a:avLst>
          </a:prstGeom>
          <a:solidFill>
            <a:srgbClr val="273041"/>
          </a:solidFill>
          <a:ln w="12700">
            <a:solidFill>
              <a:srgbClr val="37425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5"/>
          <p:cNvSpPr txBox="1"/>
          <p:nvPr/>
        </p:nvSpPr>
        <p:spPr>
          <a:xfrm>
            <a:off x="10199218" y="5120640"/>
            <a:ext cx="110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9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 SteelTec · Kurumsal Yapay Zeka Eğitimi · Prompt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5282</Words>
  <Application>Microsoft Office PowerPoint</Application>
  <PresentationFormat>Geniş ekran</PresentationFormat>
  <Paragraphs>1051</Paragraphs>
  <Slides>62</Slides>
  <Notes>62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62</vt:i4>
      </vt:variant>
    </vt:vector>
  </HeadingPairs>
  <TitlesOfParts>
    <vt:vector size="67" baseType="lpstr">
      <vt:lpstr>Arial</vt:lpstr>
      <vt:lpstr>Calibri</vt:lpstr>
      <vt:lpstr>Cambria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Sarp VAHABI</cp:lastModifiedBy>
  <cp:revision>2</cp:revision>
  <dcterms:created xsi:type="dcterms:W3CDTF">2026-09-14T21:56:59Z</dcterms:created>
  <dcterms:modified xsi:type="dcterms:W3CDTF">2026-09-15T04:07:17Z</dcterms:modified>
</cp:coreProperties>
</file>