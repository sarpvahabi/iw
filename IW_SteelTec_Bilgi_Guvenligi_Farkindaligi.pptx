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303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7093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0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32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1.png"/><Relationship Id="rId4" Type="http://schemas.openxmlformats.org/officeDocument/2006/relationships/image" Target="../media/image31.png"/><Relationship Id="rId9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16.png"/><Relationship Id="rId4" Type="http://schemas.openxmlformats.org/officeDocument/2006/relationships/image" Target="../media/image34.png"/><Relationship Id="rId9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2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9.png"/><Relationship Id="rId4" Type="http://schemas.openxmlformats.org/officeDocument/2006/relationships/image" Target="../media/image21.png"/><Relationship Id="rId9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4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39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7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8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20.png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8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1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6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37.png"/><Relationship Id="rId4" Type="http://schemas.openxmlformats.org/officeDocument/2006/relationships/image" Target="../media/image13.png"/><Relationship Id="rId9" Type="http://schemas.openxmlformats.org/officeDocument/2006/relationships/image" Target="../media/image4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8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7.png"/><Relationship Id="rId4" Type="http://schemas.openxmlformats.org/officeDocument/2006/relationships/image" Target="../media/image42.png"/><Relationship Id="rId9" Type="http://schemas.openxmlformats.org/officeDocument/2006/relationships/image" Target="../media/image5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1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1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13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50.png"/><Relationship Id="rId4" Type="http://schemas.openxmlformats.org/officeDocument/2006/relationships/image" Target="../media/image3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1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8.png"/><Relationship Id="rId4" Type="http://schemas.openxmlformats.org/officeDocument/2006/relationships/image" Target="../media/image3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7.png"/><Relationship Id="rId4" Type="http://schemas.openxmlformats.org/officeDocument/2006/relationships/image" Target="../media/image6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7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6.png"/><Relationship Id="rId4" Type="http://schemas.openxmlformats.org/officeDocument/2006/relationships/image" Target="../media/image59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46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teeltec/icons/shield_color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8869680" y="-36576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KURUMSAL FARKINDALIK EĞİTİMİ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46304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Bilgi Güvenliği</a:t>
            </a:r>
            <a:endParaRPr lang="en-US" sz="4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Farkındalığı Eğitimi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3101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CFD9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Güvenliğin en güçlü halkası sensin.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9319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tr-TR" sz="13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350" dirty="0" err="1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apsamlı</a:t>
            </a:r>
            <a:r>
              <a:rPr lang="en-US" sz="13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atölye · tehdit ortamı ve zararlı yazılımlar · saldırı türleri · parola &amp; kimlik · sosyal mühendislik ve oltalama · cihaz, ağ, web ve veri · KVKK ve hukuk · olay müdahale ve kültür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22960" y="4983480"/>
            <a:ext cx="1056132" cy="457200"/>
          </a:xfrm>
          <a:prstGeom prst="roundRect">
            <a:avLst>
              <a:gd name="adj" fmla="val 50000"/>
            </a:avLst>
          </a:prstGeom>
          <a:solidFill>
            <a:srgbClr val="273041"/>
          </a:solidFill>
          <a:ln w="12700">
            <a:solidFill>
              <a:srgbClr val="3742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 txBox="1"/>
          <p:nvPr/>
        </p:nvSpPr>
        <p:spPr>
          <a:xfrm>
            <a:off x="822960" y="4983480"/>
            <a:ext cx="10561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Bölüm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061972" y="4983480"/>
            <a:ext cx="2400300" cy="457200"/>
          </a:xfrm>
          <a:prstGeom prst="roundRect">
            <a:avLst>
              <a:gd name="adj" fmla="val 50000"/>
            </a:avLst>
          </a:prstGeom>
          <a:solidFill>
            <a:srgbClr val="273041"/>
          </a:solidFill>
          <a:ln w="12700">
            <a:solidFill>
              <a:srgbClr val="3742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 txBox="1"/>
          <p:nvPr/>
        </p:nvSpPr>
        <p:spPr>
          <a:xfrm>
            <a:off x="2061972" y="4983480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13+ Canlı Site Demosu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45152" y="4983480"/>
            <a:ext cx="2016252" cy="457200"/>
          </a:xfrm>
          <a:prstGeom prst="roundRect">
            <a:avLst>
              <a:gd name="adj" fmla="val 50000"/>
            </a:avLst>
          </a:prstGeom>
          <a:solidFill>
            <a:srgbClr val="273041"/>
          </a:solidFill>
          <a:ln w="12700">
            <a:solidFill>
              <a:srgbClr val="3742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 txBox="1"/>
          <p:nvPr/>
        </p:nvSpPr>
        <p:spPr>
          <a:xfrm>
            <a:off x="4645152" y="4983480"/>
            <a:ext cx="20162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Senaryolar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844284" y="4983480"/>
            <a:ext cx="1248156" cy="457200"/>
          </a:xfrm>
          <a:prstGeom prst="roundRect">
            <a:avLst>
              <a:gd name="adj" fmla="val 50000"/>
            </a:avLst>
          </a:prstGeom>
          <a:solidFill>
            <a:srgbClr val="273041"/>
          </a:solidFill>
          <a:ln w="12700">
            <a:solidFill>
              <a:srgbClr val="3742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6844284" y="4983480"/>
            <a:ext cx="1248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 Örnek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75320" y="4983480"/>
            <a:ext cx="1824228" cy="457200"/>
          </a:xfrm>
          <a:prstGeom prst="roundRect">
            <a:avLst>
              <a:gd name="adj" fmla="val 50000"/>
            </a:avLst>
          </a:prstGeom>
          <a:solidFill>
            <a:srgbClr val="273041"/>
          </a:solidFill>
          <a:ln w="12700">
            <a:solidFill>
              <a:srgbClr val="3742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 txBox="1"/>
          <p:nvPr/>
        </p:nvSpPr>
        <p:spPr>
          <a:xfrm>
            <a:off x="8275320" y="4983480"/>
            <a:ext cx="182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Faydalı Araçlar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E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Derste birlikte gerçek sitelere gireceğiz: haveibeenpwned, VirusTotal, phishing quiz, USOM, KVKK ve daha fazlası.  ·  </a:t>
            </a:r>
            <a:r>
              <a:rPr lang="tr-TR" sz="1200" i="1" dirty="0">
                <a:solidFill>
                  <a:srgbClr val="AE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Sarp Vahabi, MCT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KAZANIMLAR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Eğitim Sonunda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868680" y="1773936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1" descr="/home/claude/steeltec/icons/ey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1916582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172821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Tehdidi tanıyın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486400" y="1728216"/>
            <a:ext cx="5897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Zararlı yazılım, oltalama ve sosyal mühendisliği fark edin.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2606040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8"/>
          <p:cNvSpPr/>
          <p:nvPr/>
        </p:nvSpPr>
        <p:spPr>
          <a:xfrm>
            <a:off x="868680" y="2779776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2" descr="/home/claude/steeltec/icons/ke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326" y="2922422"/>
            <a:ext cx="263347" cy="26334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45920" y="273405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Kimliğinizi koruyun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0" y="2734056"/>
            <a:ext cx="5897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parola, parola yöneticisi ve MFA'yı doğru kullanın.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3611880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2"/>
          <p:cNvSpPr/>
          <p:nvPr/>
        </p:nvSpPr>
        <p:spPr>
          <a:xfrm>
            <a:off x="868680" y="3785616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3" descr="/home/claude/steeltec/icons/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326" y="3928262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45920" y="373989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Veriyi koruyun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0" y="3739896"/>
            <a:ext cx="5897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ve kişisel veriyi (KVKK) güvenle işleyin.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40080" y="4617720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6"/>
          <p:cNvSpPr/>
          <p:nvPr/>
        </p:nvSpPr>
        <p:spPr>
          <a:xfrm>
            <a:off x="868680" y="4791456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3" name="Image 4" descr="/home/claude/steeltec/icons/phon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326" y="4934102"/>
            <a:ext cx="263347" cy="263347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45920" y="474573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Güvenli davranın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5486400" y="4745736"/>
            <a:ext cx="5897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Cihaz, ağ, web ve sosyal medyada doğru refleksler edinin.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640080" y="5623560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0"/>
          <p:cNvSpPr/>
          <p:nvPr/>
        </p:nvSpPr>
        <p:spPr>
          <a:xfrm>
            <a:off x="868680" y="5797296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8" name="Image 5" descr="/home/claude/steeltec/icons/megaphon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326" y="5939942"/>
            <a:ext cx="263347" cy="263347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645920" y="575157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Doğru tepki verin</a:t>
            </a:r>
            <a:endParaRPr lang="en-US" sz="1700" dirty="0"/>
          </a:p>
        </p:txBody>
      </p:sp>
      <p:sp>
        <p:nvSpPr>
          <p:cNvPr id="30" name="Text 22"/>
          <p:cNvSpPr txBox="1"/>
          <p:nvPr/>
        </p:nvSpPr>
        <p:spPr>
          <a:xfrm>
            <a:off x="5486400" y="5751576"/>
            <a:ext cx="5897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olayı fark edip zamanında ve doğru şekilde bildirin.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182880"/>
            <a:ext cx="40233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73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steeltec/icons/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6" y="2376526"/>
            <a:ext cx="504749" cy="5047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033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Temel Kavramlar, İlkeler ve</a:t>
            </a:r>
            <a:endParaRPr lang="en-US" sz="38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Tehdit Ortamı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 · DURUM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Tehdit Ortamı — Rakamlarla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 araştırmalar tek bir şeyi söylüyor: saldırıların merkezinde teknoloji değil, insan var.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%62</a:t>
            </a:r>
            <a:endParaRPr lang="en-US" sz="33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017520"/>
            <a:ext cx="2322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ihlalde insan faktörü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685032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Verizon 2026 DBIR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10712" y="19659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 txBox="1"/>
          <p:nvPr/>
        </p:nvSpPr>
        <p:spPr>
          <a:xfrm>
            <a:off x="3502152" y="2240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D24E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&lt;60 sn</a:t>
            </a:r>
            <a:endParaRPr lang="en-US" sz="3300" dirty="0"/>
          </a:p>
        </p:txBody>
      </p:sp>
      <p:sp>
        <p:nvSpPr>
          <p:cNvPr id="11" name="Text 9"/>
          <p:cNvSpPr txBox="1"/>
          <p:nvPr/>
        </p:nvSpPr>
        <p:spPr>
          <a:xfrm>
            <a:off x="3575304" y="3017520"/>
            <a:ext cx="2322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oltalamaya kanma süresi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575304" y="3685032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tıkla iş işten geçer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1344" y="19659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 txBox="1"/>
          <p:nvPr/>
        </p:nvSpPr>
        <p:spPr>
          <a:xfrm>
            <a:off x="6272784" y="2240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D24E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+%37</a:t>
            </a:r>
            <a:endParaRPr lang="en-US" sz="3300" dirty="0"/>
          </a:p>
        </p:txBody>
      </p:sp>
      <p:sp>
        <p:nvSpPr>
          <p:cNvPr id="15" name="Text 13"/>
          <p:cNvSpPr txBox="1"/>
          <p:nvPr/>
        </p:nvSpPr>
        <p:spPr>
          <a:xfrm>
            <a:off x="6345936" y="3017520"/>
            <a:ext cx="2322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fidye yazılımı artışı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345936" y="3685032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İhlallerin ~%44'ünde var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51976" y="19659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 txBox="1"/>
          <p:nvPr/>
        </p:nvSpPr>
        <p:spPr>
          <a:xfrm>
            <a:off x="9043416" y="2240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D24E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$6,3 mlr</a:t>
            </a:r>
            <a:endParaRPr lang="en-US" sz="3300" dirty="0"/>
          </a:p>
        </p:txBody>
      </p:sp>
      <p:sp>
        <p:nvSpPr>
          <p:cNvPr id="19" name="Text 17"/>
          <p:cNvSpPr txBox="1"/>
          <p:nvPr/>
        </p:nvSpPr>
        <p:spPr>
          <a:xfrm>
            <a:off x="9116568" y="3017520"/>
            <a:ext cx="2322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 (e-posta) kaybı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116568" y="3685032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2024, FBI IC3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48056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E4F3E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960120" y="4800600"/>
            <a:ext cx="658368" cy="658368"/>
          </a:xfrm>
          <a:prstGeom prst="ellipse">
            <a:avLst/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3" name="Image 0" descr="/home/claude/steeltec/icons/gradua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296" y="4971776"/>
            <a:ext cx="316017" cy="316017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828800" y="4526280"/>
            <a:ext cx="9509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 haber: </a:t>
            </a:r>
            <a:r>
              <a:rPr lang="en-US" sz="14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Düzenli farkındalık eğitimi çalışanların oltalamaya kanma oranını 12 ayda ortalama %33'ten %4'e düşürüyor (KnowBe4). Bugün burada olmanız, en etkili savunmadır.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 · KAVRAMLAR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Temel Kavramlar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96112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23" y="2058863"/>
            <a:ext cx="289682" cy="2896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Bilgi güvenliği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Bilginin (dijital+kağıt) gizliliğini, bütünlüğünü, erişilebilirliğini korumak.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6552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672584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steeltec/icons/glob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495" y="2058863"/>
            <a:ext cx="289682" cy="28968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76672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Siber güvenlik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672584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Bilgisayar, ağ ve sistemleri dijital saldırılardan korumak.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93024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8449056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/home/claude/steeltec/icons/warnin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5967" y="2058863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53144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Tehdit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449056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Zarar verebilecek olası tehlike (saldırgan, zararlı yazılım…).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896112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/home/claude/steeltec/icons/lockope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023" y="4235135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Açıklık / zafiyet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96112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Sömürülebilen güvenlik zayıflığı (yama eksiği, zayıf parola…).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16552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19"/>
          <p:cNvSpPr/>
          <p:nvPr/>
        </p:nvSpPr>
        <p:spPr>
          <a:xfrm>
            <a:off x="4672584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6" name="Image 4" descr="/home/claude/steeltec/icons/bol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495" y="4235135"/>
            <a:ext cx="289682" cy="28968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76672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Saldırı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672584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zafiyeti kullanarak zarar verme girişimi.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93024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3"/>
          <p:cNvSpPr/>
          <p:nvPr/>
        </p:nvSpPr>
        <p:spPr>
          <a:xfrm>
            <a:off x="8449056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1" name="Image 5" descr="/home/claude/steeltec/icons/targe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5967" y="4235135"/>
            <a:ext cx="289682" cy="28968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53144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449056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Tehdidin zafiyeti kullanma olasılığı ve etkisi.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 · TEMEL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Bilgi Güvenliğinin 3 Temeli (GBE)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474720"/>
          </a:xfrm>
          <a:prstGeom prst="roundRect">
            <a:avLst>
              <a:gd name="adj" fmla="val 3158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943100" y="2103120"/>
            <a:ext cx="914400" cy="91440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844" y="23408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1546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Gizlilik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5661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9319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Bilgiye yalnızca yetkili kişiler erişir. Örn: bordrolar herkese açık olmamalı.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34840" y="1783080"/>
            <a:ext cx="352044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5737860" y="2103120"/>
            <a:ext cx="914400" cy="914400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2" name="Image 1" descr="/home/claude/steeltec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604" y="234086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31546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Bütünlük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5661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4709160" y="39319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 doğru ve değiştirilmemiş kalır. Örn: fiyat listesi izinsiz değişmemeli.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29600" y="1783080"/>
            <a:ext cx="352044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3"/>
          <p:cNvSpPr/>
          <p:nvPr/>
        </p:nvSpPr>
        <p:spPr>
          <a:xfrm>
            <a:off x="9532620" y="2103120"/>
            <a:ext cx="914400" cy="914400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2" descr="/home/claude/steeltec/icons/bol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0364" y="234086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66760" y="31546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Erişilebilirlik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35661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8503920" y="39319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 gerektiğinde erişilebilir. Örn: fidye yazılımı üretimi kilitlememeli.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saldırı bu üçünden birini hedefler: ya çalar (gizlilik), ya bozar (bütünlük), ya da kilitler (erişilebilirlik).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 · İLKELER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Temel Güvenlik İlkeleri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896112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1" descr="/home/claude/steeltec/icons/lay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23" y="2058863"/>
            <a:ext cx="289682" cy="28968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Derinlemesine savunma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96112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kapı değil, kat kat koruma. Bir katman aşılsa diğerleri durdurur.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416552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8"/>
          <p:cNvSpPr/>
          <p:nvPr/>
        </p:nvSpPr>
        <p:spPr>
          <a:xfrm>
            <a:off x="4672584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2" descr="/home/claude/steeltec/icons/user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495" y="2058863"/>
            <a:ext cx="289682" cy="28968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76672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az yetki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672584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Herkes yalnızca işi için gerekene erişir; ne fazlası ne eksiği.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193024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2"/>
          <p:cNvSpPr/>
          <p:nvPr/>
        </p:nvSpPr>
        <p:spPr>
          <a:xfrm>
            <a:off x="8449056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3" descr="/home/claude/steeltec/icons/ey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5967" y="2058863"/>
            <a:ext cx="289682" cy="28968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53144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Bilmesi gereken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449056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 yalnızca ihtiyacı olana açılır (need-to-know).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40080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6"/>
          <p:cNvSpPr/>
          <p:nvPr/>
        </p:nvSpPr>
        <p:spPr>
          <a:xfrm>
            <a:off x="896112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3" name="Image 4" descr="/home/claude/steeltec/icons/sitema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023" y="4235135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00200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Görevler ayrılığı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896112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işlem tek kişiye bırakılmaz; onay ayrı kişide olur.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416552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0"/>
          <p:cNvSpPr/>
          <p:nvPr/>
        </p:nvSpPr>
        <p:spPr>
          <a:xfrm>
            <a:off x="4672584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8" name="Image 5" descr="/home/claude/steeltec/icons/ban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9495" y="4235135"/>
            <a:ext cx="289682" cy="28968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376672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Sıfır güven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4672584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'Asla güvenme, her zaman doğrula.' Her erişim yeniden kontrol edilir.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8193024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2" name="Shape 24"/>
          <p:cNvSpPr/>
          <p:nvPr/>
        </p:nvSpPr>
        <p:spPr>
          <a:xfrm>
            <a:off x="8449056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3" name="Image 6" descr="/home/claude/steeltec/icons/warning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05967" y="4235135"/>
            <a:ext cx="289682" cy="28968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153144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İhlali varsay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8449056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'Bir gün aşılabilir' diye hazırlan: izle, yedekle, sınırla.</a:t>
            </a:r>
            <a:endParaRPr lang="en-US" sz="1150" dirty="0"/>
          </a:p>
        </p:txBody>
      </p:sp>
      <p:sp>
        <p:nvSpPr>
          <p:cNvPr id="36" name="Text 27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 · İLKELER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Derinlemesine Savunma (Katmanlı Güvenlik)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Saldırgan tek bir engeli aşsa bile arkasında başka katmanlar olmalı. Ve en dış katman: siz.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786384" y="2002536"/>
            <a:ext cx="384048" cy="38404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/home/claude/steeltec/icons/han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236" y="2102388"/>
            <a:ext cx="184343" cy="18434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1920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İnsan / farkındalık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983480" y="192024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Düşün-tıkla, oltalamayı bildir — en kritik katman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551176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786384" y="2633472"/>
            <a:ext cx="384048" cy="384048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2" name="Image 1" descr="/home/claude/steeltec/icons/build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236" y="2733324"/>
            <a:ext cx="184343" cy="18434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08760" y="255117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Fiziksel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983480" y="255117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Kilit, kart, temiz masa, ziyaretçi kontrolü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3182112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2"/>
          <p:cNvSpPr/>
          <p:nvPr/>
        </p:nvSpPr>
        <p:spPr>
          <a:xfrm>
            <a:off x="786384" y="3264408"/>
            <a:ext cx="384048" cy="384048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7" name="Image 2" descr="/home/claude/steeltec/icons/networ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236" y="3364260"/>
            <a:ext cx="184343" cy="18434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08760" y="31821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Ağ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4983480" y="318211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duvarı, ağ bölümleme, VPN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3813048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6"/>
          <p:cNvSpPr/>
          <p:nvPr/>
        </p:nvSpPr>
        <p:spPr>
          <a:xfrm>
            <a:off x="786384" y="3895344"/>
            <a:ext cx="384048" cy="384048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2" name="Image 3" descr="/home/claude/steeltec/icons/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236" y="3995196"/>
            <a:ext cx="184343" cy="18434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508760" y="38130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Uç nokta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4983480" y="381304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Antivirüs/EDR, güncelleme, disk şifreleme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40080" y="4443984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0"/>
          <p:cNvSpPr/>
          <p:nvPr/>
        </p:nvSpPr>
        <p:spPr>
          <a:xfrm>
            <a:off x="786384" y="4526280"/>
            <a:ext cx="384048" cy="384048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7" name="Image 4" descr="/home/claude/steeltec/icons/key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236" y="4626132"/>
            <a:ext cx="184343" cy="184343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508760" y="444398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Kimlik &amp; uygulama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4983480" y="444398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MFA, en az yetki, güçlü parola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40080" y="507492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4"/>
          <p:cNvSpPr/>
          <p:nvPr/>
        </p:nvSpPr>
        <p:spPr>
          <a:xfrm>
            <a:off x="786384" y="5157216"/>
            <a:ext cx="384048" cy="384048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2" name="Image 5" descr="/home/claude/steeltec/icons/databas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236" y="5257068"/>
            <a:ext cx="184343" cy="184343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508760" y="50749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4983480" y="50749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Şifreleme, yedek (3-2-1), sınıflandırma</a:t>
            </a:r>
            <a:endParaRPr lang="en-US" sz="1150" dirty="0"/>
          </a:p>
        </p:txBody>
      </p:sp>
      <p:sp>
        <p:nvSpPr>
          <p:cNvPr id="35" name="Text 27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 · ETKI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İhlalin Bedeli Nedir?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896112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1" descr="/home/claude/steeltec/icons/dolla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23" y="2058863"/>
            <a:ext cx="289682" cy="28968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Finansal kayıp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96112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Fidye, dolandırıcılık, kesinti ve kurtarma maliyetleri.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416552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8"/>
          <p:cNvSpPr/>
          <p:nvPr/>
        </p:nvSpPr>
        <p:spPr>
          <a:xfrm>
            <a:off x="4672584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2" descr="/home/claude/steeltec/icons/industr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495" y="2058863"/>
            <a:ext cx="289682" cy="28968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76672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Üretim durması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672584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Sistemler kilitlenirse hatlar ve teslimatlar durabilir.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193024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2"/>
          <p:cNvSpPr/>
          <p:nvPr/>
        </p:nvSpPr>
        <p:spPr>
          <a:xfrm>
            <a:off x="8449056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3" descr="/home/claude/steeltec/icons/sca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5967" y="2058863"/>
            <a:ext cx="289682" cy="28968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53144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Yasal yaptırım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449056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 cezaları, sözleşme ihlalleri, davalar.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40080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6"/>
          <p:cNvSpPr/>
          <p:nvPr/>
        </p:nvSpPr>
        <p:spPr>
          <a:xfrm>
            <a:off x="896112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3" name="Image 4" descr="/home/claude/steeltec/icons/quot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023" y="4235135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00200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İtibar kaybı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896112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ve tedarikçi güveni zedelenir.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416552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0"/>
          <p:cNvSpPr/>
          <p:nvPr/>
        </p:nvSpPr>
        <p:spPr>
          <a:xfrm>
            <a:off x="4672584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8" name="Image 5" descr="/home/claude/steeltec/icons/databas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9495" y="4235135"/>
            <a:ext cx="289682" cy="28968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376672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kaybı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4672584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Müşteri, çalışan ve ticari sır verilerinin sızması.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8193024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2" name="Shape 24"/>
          <p:cNvSpPr/>
          <p:nvPr/>
        </p:nvSpPr>
        <p:spPr>
          <a:xfrm>
            <a:off x="8449056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3" name="Image 6" descr="/home/claude/steeltec/icons/clo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05967" y="4235135"/>
            <a:ext cx="289682" cy="28968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153144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Zaman kaybı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8449056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Haftalarca süren araştırma, kurtarma ve toparlanma.</a:t>
            </a:r>
            <a:endParaRPr lang="en-US" sz="1150" dirty="0"/>
          </a:p>
        </p:txBody>
      </p:sp>
      <p:sp>
        <p:nvSpPr>
          <p:cNvPr id="36" name="Text 27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 · AKTÖRLER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Kimler Saldırır? Hacker Türleri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96112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doll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23" y="2058863"/>
            <a:ext cx="289682" cy="2896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Siber suçlular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için: fidye, dolandırıcılık, veri satışı.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6552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672584" y="1901952"/>
            <a:ext cx="603504" cy="603504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steeltec/icons/mas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495" y="2058863"/>
            <a:ext cx="289682" cy="28968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76672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Siyah şapka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672584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Kötü niyetli, yasa dışı sızan saldırgan.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93024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8449056" y="1901952"/>
            <a:ext cx="603504" cy="603504"/>
          </a:xfrm>
          <a:prstGeom prst="ellipse">
            <a:avLst/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/home/claude/steeltec/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5967" y="2058863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53144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Beyaz şapka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449056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İzinli, etik hacker; açıkları bulup kapatır.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896112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/home/claude/steeltec/icons/building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023" y="4235135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Rakip / casusluk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896112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Ar-Ge, fiyat ve müşteri sırlarını çalar.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16552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19"/>
          <p:cNvSpPr/>
          <p:nvPr/>
        </p:nvSpPr>
        <p:spPr>
          <a:xfrm>
            <a:off x="4672584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6" name="Image 4" descr="/home/claude/steeltec/icons/us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495" y="4235135"/>
            <a:ext cx="289682" cy="28968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76672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İçeriden kişi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4672584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Kızgın veya dikkatsiz çalışan; kasıtlı/kazara.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93024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3"/>
          <p:cNvSpPr/>
          <p:nvPr/>
        </p:nvSpPr>
        <p:spPr>
          <a:xfrm>
            <a:off x="8449056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1" name="Image 5" descr="/home/claude/steeltec/icons/glob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5967" y="4235135"/>
            <a:ext cx="289682" cy="28968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53144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Devlet destekli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8449056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altyapı ve sanayiyi hedefleyen gelişmiş gruplar.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 · VERI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Sınıflandırma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91640"/>
            <a:ext cx="108813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822960" y="1865376"/>
            <a:ext cx="2468880" cy="585216"/>
          </a:xfrm>
          <a:prstGeom prst="roundRect">
            <a:avLst>
              <a:gd name="adj" fmla="val 12500"/>
            </a:avLst>
          </a:prstGeom>
          <a:solidFill>
            <a:srgbClr val="3A455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 txBox="1"/>
          <p:nvPr/>
        </p:nvSpPr>
        <p:spPr>
          <a:xfrm>
            <a:off x="868680" y="186537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Genel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520440" y="1691640"/>
            <a:ext cx="3017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Herkese açık olabilir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1691640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sitesi içeriği, broşür, ilan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2752344"/>
            <a:ext cx="108813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822960" y="2926080"/>
            <a:ext cx="2468880" cy="585216"/>
          </a:xfrm>
          <a:prstGeom prst="roundRect">
            <a:avLst>
              <a:gd name="adj" fmla="val 12500"/>
            </a:avLst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 txBox="1"/>
          <p:nvPr/>
        </p:nvSpPr>
        <p:spPr>
          <a:xfrm>
            <a:off x="868680" y="292608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İç Kullanım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2752344"/>
            <a:ext cx="3017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şirket içi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2752344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duyurular, prosedürler, org şeması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3813048"/>
            <a:ext cx="108813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4"/>
          <p:cNvSpPr/>
          <p:nvPr/>
        </p:nvSpPr>
        <p:spPr>
          <a:xfrm>
            <a:off x="822960" y="3986784"/>
            <a:ext cx="2468880" cy="585216"/>
          </a:xfrm>
          <a:prstGeom prst="roundRect">
            <a:avLst>
              <a:gd name="adj" fmla="val 12500"/>
            </a:avLst>
          </a:prstGeom>
          <a:solidFill>
            <a:srgbClr val="D24E0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5"/>
          <p:cNvSpPr txBox="1"/>
          <p:nvPr/>
        </p:nvSpPr>
        <p:spPr>
          <a:xfrm>
            <a:off x="868680" y="398678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Gizli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3520440" y="3813048"/>
            <a:ext cx="3017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Sınırlı, yetkiyle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583680" y="3813048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 listeleri, sözleşmeler, müşteri verisi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0080" y="4873752"/>
            <a:ext cx="108813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9"/>
          <p:cNvSpPr/>
          <p:nvPr/>
        </p:nvSpPr>
        <p:spPr>
          <a:xfrm>
            <a:off x="822960" y="5047488"/>
            <a:ext cx="2468880" cy="585216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0"/>
          <p:cNvSpPr txBox="1"/>
          <p:nvPr/>
        </p:nvSpPr>
        <p:spPr>
          <a:xfrm>
            <a:off x="868680" y="504748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Çok Gizli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3520440" y="4873752"/>
            <a:ext cx="3017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üst koruma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6583680" y="4873752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Ar-Ge, formüller, finansal sırlar, özel nitelikli veri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Kural: Bir veriyi paylaşmadan önce “bu hangi sınıfta?” diye sorun. Şüphedeyseniz, daha korumalı davranın.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CANLI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 · UYGULAMALI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Hesabım Sızmış mı? Kendimizi Kontrol Edelim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777240" y="1572768"/>
            <a:ext cx="384048" cy="38404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0" descr="/home/claude/steeltec/icons/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642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14813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haveibeenpwned.com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240280"/>
            <a:ext cx="640080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868680" y="2423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DERSTE BİRLİKTE YAPALIM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2816352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Siteye girin, kendi kurumsal veya kişisel e-posta adresinizi yazın.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“pwned?” butonuna basın; adresiniz hangi sızıntılarda geçmiş görün.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Ardından haveibeenpwned.com/Passwords ile bir parolanın sızıp sızmadığına bakın (parolanız cihazınızdan çıkmaz).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Alternatif: monitor.mozilla.org ile sürekli izleme kurun.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223760" y="2240280"/>
            <a:ext cx="4297680" cy="3063240"/>
          </a:xfrm>
          <a:prstGeom prst="roundRect">
            <a:avLst>
              <a:gd name="adj" fmla="val 358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745236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GÖRECEĞIZ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452360" y="2816352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Adresinizin geçtiği ihlal sayısı ve tarihleri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verilerin sızdığı (parola, telefon…)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'her hesaba farklı parola' şart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544068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Shape 14"/>
          <p:cNvSpPr/>
          <p:nvPr/>
        </p:nvSpPr>
        <p:spPr>
          <a:xfrm>
            <a:off x="822960" y="5541264"/>
            <a:ext cx="457200" cy="45720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660136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463040" y="544068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İpucu: </a:t>
            </a: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Adresiniz listede çıkarsa panik yok: o hesapların parolasını değiştirin, aynı parolayı kullandığınız her yeri de güncelleyin, MFA açın.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182880"/>
            <a:ext cx="40233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73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steeltec/icons/viru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6" y="2376526"/>
            <a:ext cx="504749" cy="5047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033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Zararlı Yazılımlar ve</a:t>
            </a:r>
            <a:endParaRPr lang="en-US" sz="38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Saldırı Türleri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 · ZARARLI YAZILIM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Zararlı Yazılım Türleri —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bu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896112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1" descr="/home/claude/steeltec/icons/viru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23" y="2058863"/>
            <a:ext cx="289682" cy="28968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Virüs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96112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Başka dosyalara bulaşarak çoğalır; dosya açılınca çalışır.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416552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8"/>
          <p:cNvSpPr/>
          <p:nvPr/>
        </p:nvSpPr>
        <p:spPr>
          <a:xfrm>
            <a:off x="4672584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2" descr="/home/claude/steeltec/icons/networ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495" y="2058863"/>
            <a:ext cx="289682" cy="28968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76672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Solucan (Worm)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672584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Kendini ağda yayar; insan müdahalesi gerektirmez.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193024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2"/>
          <p:cNvSpPr/>
          <p:nvPr/>
        </p:nvSpPr>
        <p:spPr>
          <a:xfrm>
            <a:off x="8449056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3" descr="/home/claude/steeltec/icons/mas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5967" y="2058863"/>
            <a:ext cx="289682" cy="28968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53144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Truva atı (Trojan)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449056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Masum görünür (oyun, güncelleme), arkada zarar verir.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40080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6"/>
          <p:cNvSpPr/>
          <p:nvPr/>
        </p:nvSpPr>
        <p:spPr>
          <a:xfrm>
            <a:off x="896112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3" name="Image 4" descr="/home/claude/steeltec/icons/fir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023" y="4235135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00200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Fidye (Ransomware)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896112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Dosyaları şifreler, açmak için fidye ister.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416552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0"/>
          <p:cNvSpPr/>
          <p:nvPr/>
        </p:nvSpPr>
        <p:spPr>
          <a:xfrm>
            <a:off x="4672584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8" name="Image 5" descr="/home/claude/steeltec/icons/ey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9495" y="4235135"/>
            <a:ext cx="289682" cy="28968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376672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Casus (Spyware)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4672584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Gizlice izler; tuş, ekran, veri toplar.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8193024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2" name="Shape 24"/>
          <p:cNvSpPr/>
          <p:nvPr/>
        </p:nvSpPr>
        <p:spPr>
          <a:xfrm>
            <a:off x="8449056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3" name="Image 6" descr="/home/claude/steeltec/icons/megaphon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05967" y="4235135"/>
            <a:ext cx="289682" cy="28968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153144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Reklam (Adware)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8449056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İstenmeyen reklam gösterir, tarayıcıyı ele geçirir.</a:t>
            </a:r>
            <a:endParaRPr lang="en-US" sz="1150" dirty="0"/>
          </a:p>
        </p:txBody>
      </p:sp>
      <p:sp>
        <p:nvSpPr>
          <p:cNvPr id="36" name="Text 27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 · ZARARLI YAZILIM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Zararlı Yazılım Türleri —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bu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896112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1" descr="/home/claude/steeltec/icons/robo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23" y="2058863"/>
            <a:ext cx="289682" cy="28968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Botnet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96112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Cihazınızı 'zombi' yapıp saldırı ordusuna katar.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416552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8"/>
          <p:cNvSpPr/>
          <p:nvPr/>
        </p:nvSpPr>
        <p:spPr>
          <a:xfrm>
            <a:off x="4672584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2" descr="/home/claude/steeltec/icons/user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495" y="2058863"/>
            <a:ext cx="289682" cy="28968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76672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Rootkit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672584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Sistemin derinine gizlenir, tespiti zorlaştırır.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193024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2"/>
          <p:cNvSpPr/>
          <p:nvPr/>
        </p:nvSpPr>
        <p:spPr>
          <a:xfrm>
            <a:off x="8449056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3" descr="/home/claude/steeltec/icons/fingerprin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5967" y="2058863"/>
            <a:ext cx="289682" cy="28968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53144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Keylogger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449056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Yazdığınız her tuşu (parola dahil) kaydeder.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40080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6"/>
          <p:cNvSpPr/>
          <p:nvPr/>
        </p:nvSpPr>
        <p:spPr>
          <a:xfrm>
            <a:off x="896112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3" name="Image 4" descr="/home/claude/steeltec/icons/dolla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023" y="4235135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00200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Kripto madenci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896112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Cihazınızın gücünü gizlice kripto kazmak için kullanır.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416552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0"/>
          <p:cNvSpPr/>
          <p:nvPr/>
        </p:nvSpPr>
        <p:spPr>
          <a:xfrm>
            <a:off x="4672584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8" name="Image 5" descr="/home/claude/steeltec/icons/warning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9495" y="4235135"/>
            <a:ext cx="289682" cy="28968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376672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Scareware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4672584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'Virüsünüz var!' diye korkutup sahte yazılım sattırır.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8193024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2" name="Shape 24"/>
          <p:cNvSpPr/>
          <p:nvPr/>
        </p:nvSpPr>
        <p:spPr>
          <a:xfrm>
            <a:off x="8449056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3" name="Image 6" descr="/home/claude/steeltec/icons/fil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05967" y="4235135"/>
            <a:ext cx="289682" cy="28968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153144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Dosyasız (fileless)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8449056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Diske iz bırakmadan bellekte çalışır; zor yakalanır.</a:t>
            </a:r>
            <a:endParaRPr lang="en-US" sz="1150" dirty="0"/>
          </a:p>
        </p:txBody>
      </p:sp>
      <p:sp>
        <p:nvSpPr>
          <p:cNvPr id="36" name="Text 27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 · BULAŞMA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Zararlı Yazılım Nasıl Bulaşır, Nasıl Korunuruz?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downloa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5349240" cy="548640"/>
          </a:xfrm>
          <a:prstGeom prst="roundRect">
            <a:avLst>
              <a:gd name="adj" fmla="val 20000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640080" y="1920240"/>
            <a:ext cx="5349240" cy="274320"/>
          </a:xfrm>
          <a:prstGeom prst="rect">
            <a:avLst/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9" name="Image 1" descr="/home/claude/steeltec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78308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1645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KORUNMA (YAP)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96112" y="2395728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Güncellemeleri/yamaları hemen kur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resmi kaynaktan indir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Antivirüs/EDR'ı açık ve güncel tut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Ekleri açmadan önce doğrula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Düzenli yedek al (3-2-1 kuralı)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72200" y="164592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9"/>
          <p:cNvSpPr/>
          <p:nvPr/>
        </p:nvSpPr>
        <p:spPr>
          <a:xfrm>
            <a:off x="6172200" y="1645920"/>
            <a:ext cx="5349240" cy="54864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Shape 10"/>
          <p:cNvSpPr/>
          <p:nvPr/>
        </p:nvSpPr>
        <p:spPr>
          <a:xfrm>
            <a:off x="6172200" y="1920240"/>
            <a:ext cx="534924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5" name="Image 2" descr="/home/claude/steeltec/icons/cros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78308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66560" y="1645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BULAŞMA YOLLARI (DİKKAT)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428232" y="2395728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Oltalama e-postası eki (en yaygın)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Sahte indirme / korsan yazılım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Bilinmeyen USB bellek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Güncellenmemiş, açık sistemler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Zararlı reklam ve sahte siteler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 · SALDIRILAR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Yaygın Saldırı Türleri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bo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896112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1" descr="/home/claude/steeltec/icons/networ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23" y="2058863"/>
            <a:ext cx="289682" cy="28968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DDoS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96112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 aşırı trafikle boğup hizmet dışı bırakır.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416552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8"/>
          <p:cNvSpPr/>
          <p:nvPr/>
        </p:nvSpPr>
        <p:spPr>
          <a:xfrm>
            <a:off x="4672584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2" descr="/home/claude/steeltec/icons/arrow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495" y="2058863"/>
            <a:ext cx="289682" cy="28968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76672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Ortadaki adam (MITM)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672584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taraf arasındaki iletişimi gizlice dinler/değiştirir.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193024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2"/>
          <p:cNvSpPr/>
          <p:nvPr/>
        </p:nvSpPr>
        <p:spPr>
          <a:xfrm>
            <a:off x="8449056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3" descr="/home/claude/steeltec/icons/ke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5967" y="2058863"/>
            <a:ext cx="289682" cy="28968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53144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Kaba kuvvet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449056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Parolayı deneme-yanılmayla kırmaya çalışır.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40080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6"/>
          <p:cNvSpPr/>
          <p:nvPr/>
        </p:nvSpPr>
        <p:spPr>
          <a:xfrm>
            <a:off x="896112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3" name="Image 4" descr="/home/claude/steeltec/icons/cod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023" y="4235135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00200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Uygulama saldırıları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896112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Web/yazılım açıklarını sömürür (ör. enjeksiyon).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416552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0"/>
          <p:cNvSpPr/>
          <p:nvPr/>
        </p:nvSpPr>
        <p:spPr>
          <a:xfrm>
            <a:off x="4672584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8" name="Image 5" descr="/home/claude/steeltec/icons/plug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9495" y="4235135"/>
            <a:ext cx="289682" cy="28968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376672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Tedarik zinciri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4672584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Güvendiğiniz bir tedarikçi/yazılım üzerinden sızar.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8193024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2" name="Shape 24"/>
          <p:cNvSpPr/>
          <p:nvPr/>
        </p:nvSpPr>
        <p:spPr>
          <a:xfrm>
            <a:off x="8449056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3" name="Image 6" descr="/home/claude/steeltec/icons/warning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05967" y="4235135"/>
            <a:ext cx="289682" cy="28968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153144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Sıfırıncı gün (0-day)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8449056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Henüz yaması olmayan bilinmeyen açığı kullanır.</a:t>
            </a:r>
            <a:endParaRPr lang="en-US" sz="1150" dirty="0"/>
          </a:p>
        </p:txBody>
      </p:sp>
      <p:sp>
        <p:nvSpPr>
          <p:cNvPr id="36" name="Text 27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 · METODOLOJI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Saldırı Nasıl İlerler? (Kill Chain)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Saldırganlar genelde adım adım ilerler. Zinciri erken kırmak (ör. oltalamayı fark etmek) tüm saldırıyı durdurur.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1138428" y="2249424"/>
            <a:ext cx="694944" cy="69494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/home/claude/steeltec/icons/magnif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113" y="2430109"/>
            <a:ext cx="333573" cy="33357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31620" y="2103120"/>
            <a:ext cx="365760" cy="365760"/>
          </a:xfrm>
          <a:prstGeom prst="ellipse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 txBox="1"/>
          <p:nvPr/>
        </p:nvSpPr>
        <p:spPr>
          <a:xfrm>
            <a:off x="153162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063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Keşif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3401568"/>
            <a:ext cx="1545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Hedefi araştırır (LinkedIn, site, e-posta)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2304288" y="257860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423160" y="201168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1"/>
          <p:cNvSpPr/>
          <p:nvPr/>
        </p:nvSpPr>
        <p:spPr>
          <a:xfrm>
            <a:off x="2921508" y="2249424"/>
            <a:ext cx="694944" cy="69494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5" name="Image 1" descr="/home/claude/steeltec/icons/hoo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2193" y="2430109"/>
            <a:ext cx="333573" cy="333573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314700" y="2103120"/>
            <a:ext cx="365760" cy="365760"/>
          </a:xfrm>
          <a:prstGeom prst="ellipse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3"/>
          <p:cNvSpPr txBox="1"/>
          <p:nvPr/>
        </p:nvSpPr>
        <p:spPr>
          <a:xfrm>
            <a:off x="331470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2468880" y="3063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Silahlanma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2496312" y="3401568"/>
            <a:ext cx="1545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Tuzağı hazırlar (zararlı ek, sahte site)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4087368" y="257860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206240" y="201168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8"/>
          <p:cNvSpPr/>
          <p:nvPr/>
        </p:nvSpPr>
        <p:spPr>
          <a:xfrm>
            <a:off x="4704588" y="2249424"/>
            <a:ext cx="694944" cy="69494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3" name="Image 2" descr="/home/claude/steeltec/icons/envelop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5273" y="2430109"/>
            <a:ext cx="333573" cy="333573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097780" y="2103120"/>
            <a:ext cx="365760" cy="365760"/>
          </a:xfrm>
          <a:prstGeom prst="ellipse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20"/>
          <p:cNvSpPr txBox="1"/>
          <p:nvPr/>
        </p:nvSpPr>
        <p:spPr>
          <a:xfrm>
            <a:off x="509778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4251960" y="3063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Teslim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4279392" y="3401568"/>
            <a:ext cx="1545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Oltalama e-postası/mesajı gönderir</a:t>
            </a:r>
            <a:endParaRPr lang="en-US" sz="950" dirty="0"/>
          </a:p>
        </p:txBody>
      </p:sp>
      <p:sp>
        <p:nvSpPr>
          <p:cNvPr id="28" name="Text 23"/>
          <p:cNvSpPr txBox="1"/>
          <p:nvPr/>
        </p:nvSpPr>
        <p:spPr>
          <a:xfrm>
            <a:off x="5870448" y="257860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5989320" y="201168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5"/>
          <p:cNvSpPr/>
          <p:nvPr/>
        </p:nvSpPr>
        <p:spPr>
          <a:xfrm>
            <a:off x="6487668" y="2249424"/>
            <a:ext cx="694944" cy="694944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1" name="Image 3" descr="/home/claude/steeltec/icons/bol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8353" y="2430109"/>
            <a:ext cx="333573" cy="333573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6880860" y="2103120"/>
            <a:ext cx="365760" cy="365760"/>
          </a:xfrm>
          <a:prstGeom prst="ellipse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3" name="Text 27"/>
          <p:cNvSpPr txBox="1"/>
          <p:nvPr/>
        </p:nvSpPr>
        <p:spPr>
          <a:xfrm>
            <a:off x="68808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6035040" y="3063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Sömürü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6062472" y="3401568"/>
            <a:ext cx="1545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Tık/açıkla sisteme girer</a:t>
            </a:r>
            <a:endParaRPr lang="en-US" sz="950" dirty="0"/>
          </a:p>
        </p:txBody>
      </p:sp>
      <p:sp>
        <p:nvSpPr>
          <p:cNvPr id="36" name="Text 30"/>
          <p:cNvSpPr txBox="1"/>
          <p:nvPr/>
        </p:nvSpPr>
        <p:spPr>
          <a:xfrm>
            <a:off x="7653528" y="257860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7772400" y="201168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8" name="Shape 32"/>
          <p:cNvSpPr/>
          <p:nvPr/>
        </p:nvSpPr>
        <p:spPr>
          <a:xfrm>
            <a:off x="8270748" y="2249424"/>
            <a:ext cx="694944" cy="694944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9" name="Image 4" descr="/home/claude/steeltec/icons/userlo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1433" y="2430109"/>
            <a:ext cx="333573" cy="333573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8663940" y="2103120"/>
            <a:ext cx="365760" cy="365760"/>
          </a:xfrm>
          <a:prstGeom prst="ellipse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1" name="Text 34"/>
          <p:cNvSpPr txBox="1"/>
          <p:nvPr/>
        </p:nvSpPr>
        <p:spPr>
          <a:xfrm>
            <a:off x="866394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42" name="Text 35"/>
          <p:cNvSpPr txBox="1"/>
          <p:nvPr/>
        </p:nvSpPr>
        <p:spPr>
          <a:xfrm>
            <a:off x="7818120" y="3063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Yerleşme</a:t>
            </a:r>
            <a:endParaRPr lang="en-US" sz="1300" dirty="0"/>
          </a:p>
        </p:txBody>
      </p:sp>
      <p:sp>
        <p:nvSpPr>
          <p:cNvPr id="43" name="Text 36"/>
          <p:cNvSpPr txBox="1"/>
          <p:nvPr/>
        </p:nvSpPr>
        <p:spPr>
          <a:xfrm>
            <a:off x="7845552" y="3401568"/>
            <a:ext cx="1545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Kalıcılık ve yayılma sağlar</a:t>
            </a:r>
            <a:endParaRPr lang="en-US" sz="950" dirty="0"/>
          </a:p>
        </p:txBody>
      </p:sp>
      <p:sp>
        <p:nvSpPr>
          <p:cNvPr id="44" name="Text 37"/>
          <p:cNvSpPr txBox="1"/>
          <p:nvPr/>
        </p:nvSpPr>
        <p:spPr>
          <a:xfrm>
            <a:off x="9436608" y="257860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38"/>
          <p:cNvSpPr/>
          <p:nvPr/>
        </p:nvSpPr>
        <p:spPr>
          <a:xfrm>
            <a:off x="9555480" y="201168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6" name="Shape 39"/>
          <p:cNvSpPr/>
          <p:nvPr/>
        </p:nvSpPr>
        <p:spPr>
          <a:xfrm>
            <a:off x="10053828" y="2249424"/>
            <a:ext cx="694944" cy="694944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7" name="Image 5" descr="/home/claude/steeltec/icons/dollar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34513" y="2430109"/>
            <a:ext cx="333573" cy="333573"/>
          </a:xfrm>
          <a:prstGeom prst="rect">
            <a:avLst/>
          </a:prstGeom>
        </p:spPr>
      </p:pic>
      <p:sp>
        <p:nvSpPr>
          <p:cNvPr id="48" name="Shape 40"/>
          <p:cNvSpPr/>
          <p:nvPr/>
        </p:nvSpPr>
        <p:spPr>
          <a:xfrm>
            <a:off x="10447020" y="2103120"/>
            <a:ext cx="365760" cy="365760"/>
          </a:xfrm>
          <a:prstGeom prst="ellipse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9" name="Text 41"/>
          <p:cNvSpPr txBox="1"/>
          <p:nvPr/>
        </p:nvSpPr>
        <p:spPr>
          <a:xfrm>
            <a:off x="1044702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50" name="Text 42"/>
          <p:cNvSpPr txBox="1"/>
          <p:nvPr/>
        </p:nvSpPr>
        <p:spPr>
          <a:xfrm>
            <a:off x="9601200" y="3063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Amaç</a:t>
            </a:r>
            <a:endParaRPr lang="en-US" sz="1300" dirty="0"/>
          </a:p>
        </p:txBody>
      </p:sp>
      <p:sp>
        <p:nvSpPr>
          <p:cNvPr id="51" name="Text 43"/>
          <p:cNvSpPr txBox="1"/>
          <p:nvPr/>
        </p:nvSpPr>
        <p:spPr>
          <a:xfrm>
            <a:off x="9628632" y="3401568"/>
            <a:ext cx="1545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çalar, şifreler, fidye ister</a:t>
            </a:r>
            <a:endParaRPr lang="en-US" sz="950" dirty="0"/>
          </a:p>
        </p:txBody>
      </p:sp>
      <p:sp>
        <p:nvSpPr>
          <p:cNvPr id="52" name="Shape 44"/>
          <p:cNvSpPr/>
          <p:nvPr/>
        </p:nvSpPr>
        <p:spPr>
          <a:xfrm>
            <a:off x="640080" y="470916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E4F3E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3" name="Shape 45"/>
          <p:cNvSpPr/>
          <p:nvPr/>
        </p:nvSpPr>
        <p:spPr>
          <a:xfrm>
            <a:off x="960120" y="4983480"/>
            <a:ext cx="566928" cy="566928"/>
          </a:xfrm>
          <a:prstGeom prst="ellipse">
            <a:avLst/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4" name="Image 6" descr="/home/claude/steeltec/icons/shield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7521" y="5130881"/>
            <a:ext cx="272125" cy="272125"/>
          </a:xfrm>
          <a:prstGeom prst="rect">
            <a:avLst/>
          </a:prstGeom>
        </p:spPr>
      </p:pic>
      <p:sp>
        <p:nvSpPr>
          <p:cNvPr id="55" name="Text 46"/>
          <p:cNvSpPr txBox="1"/>
          <p:nvPr/>
        </p:nvSpPr>
        <p:spPr>
          <a:xfrm>
            <a:off x="1783080" y="47091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 gücünüz: </a:t>
            </a: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Zincirin ilk halkaları (keşif, teslim, sömürü) tam olarak sizin fark edebileceğiniz yerler. Bir oltalamayı bildirmek, kill chain'i başında koparır.</a:t>
            </a:r>
            <a:endParaRPr lang="en-US" sz="1350" dirty="0"/>
          </a:p>
        </p:txBody>
      </p:sp>
      <p:sp>
        <p:nvSpPr>
          <p:cNvPr id="56" name="Text 47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57" name="Text 48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 · KRITIK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Fidye Yazılımı ve 3-2-1 Yedekleme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731520" cy="7315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fir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20189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8288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Fidye yazılımı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517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Dosyaları/sistemleri şifreleyip kilitler; üretim hatlarını bile durdurabilir. Genelde oltalama eki veya zayıf uzak erişimle bulaşır.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65760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7B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YAP: </a:t>
            </a: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cihazı ağdan ayır, HEMEN IT'ye bildir, kapatma.
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1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YAPMA: </a:t>
            </a: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fidye ödeme, dosya açmaya çalışma, gizleme.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16002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6537960" y="18105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İYİ SAVUNMA: 3-2-1 YEDEKLEME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37960" y="228600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Shape 10"/>
          <p:cNvSpPr/>
          <p:nvPr/>
        </p:nvSpPr>
        <p:spPr>
          <a:xfrm>
            <a:off x="6693408" y="2468880"/>
            <a:ext cx="640080" cy="6400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669340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241401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kopya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0" y="2788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Verinin en az üç kopyası bulunsun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537960" y="3401568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Shape 15"/>
          <p:cNvSpPr/>
          <p:nvPr/>
        </p:nvSpPr>
        <p:spPr>
          <a:xfrm>
            <a:off x="6693408" y="3584448"/>
            <a:ext cx="640080" cy="6400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 txBox="1"/>
          <p:nvPr/>
        </p:nvSpPr>
        <p:spPr>
          <a:xfrm>
            <a:off x="6693408" y="35844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352958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farklı ortam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498080" y="39044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ayrı ortamda (disk + bulut vb.)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537960" y="4517136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Shape 20"/>
          <p:cNvSpPr/>
          <p:nvPr/>
        </p:nvSpPr>
        <p:spPr>
          <a:xfrm>
            <a:off x="6693408" y="4700016"/>
            <a:ext cx="640080" cy="6400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1"/>
          <p:cNvSpPr txBox="1"/>
          <p:nvPr/>
        </p:nvSpPr>
        <p:spPr>
          <a:xfrm>
            <a:off x="6693408" y="47000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7498080" y="4645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dışarıda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7498080" y="502005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kopya tesis dışında/çevrimdışı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CANLI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 · UYGULAMALI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Şüpheli Dosya/Bağlantıyı Açmadan Tarayalım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777240" y="1572768"/>
            <a:ext cx="384048" cy="38404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0" descr="/home/claude/steeltec/icons/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642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14813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virustotal.com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240280"/>
            <a:ext cx="640080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868680" y="2423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DERSTE BİRLİKTE YAPALIM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2816352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Siteye girin; 'URL' sekmesine şüpheli bir bağlantı yapıştırıp tarayın.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 antivirüs motorunun sonucunu birlikte okuyun.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'File' sekmesiyle şüpheli bir dosyayı (açmadan) yükleyip tarayın.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İleri düzey: urlscan.io ile bir sitenin ekran görüntüsü ve davranışını inceleyin.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223760" y="2240280"/>
            <a:ext cx="4297680" cy="3063240"/>
          </a:xfrm>
          <a:prstGeom prst="roundRect">
            <a:avLst>
              <a:gd name="adj" fmla="val 358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745236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GÖRECEĞIZ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452360" y="2816352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 motorun 'zararlı' dediği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Bağlantının gerçekte nereye gittiği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Dosyanın güvenli mi şüpheli mi olduğu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544068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Shape 14"/>
          <p:cNvSpPr/>
          <p:nvPr/>
        </p:nvSpPr>
        <p:spPr>
          <a:xfrm>
            <a:off x="822960" y="5541264"/>
            <a:ext cx="457200" cy="45720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660136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463040" y="544068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İpucu: </a:t>
            </a: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Hassas/gizli dosyaları yüklemeyin — yüklenen dosyalar analiz için paylaşılır. Kişisel veriler için IT'nin kurumsal aracını kullanın.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CANLI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 · UYGULAMALI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Saldırıları Canlı İzleyelim — Tehdit Haritası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777240" y="1572768"/>
            <a:ext cx="384048" cy="38404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0" descr="/home/claude/steeltec/icons/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642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14813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cybermap.kaspersky.com  ·  threatmap.checkpoint.com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240280"/>
            <a:ext cx="640080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868680" y="2423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DERSTE BİRLİKTE YAPALIM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2816352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Haritayı açın; dünya genelinde gerçek zamanlı saldırı akışını izleyin.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Türkiye'yi bulun; ülkemize ve dünyaya yönelik saldırı yoğunluğuna bakın.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sık görülen saldırı türlerini ve kaynak ülkeleri birlikte okuyun.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Alternatif: threatmap.fortiguard.com veya radar.cloudflare.com.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223760" y="2240280"/>
            <a:ext cx="4297680" cy="3063240"/>
          </a:xfrm>
          <a:prstGeom prst="roundRect">
            <a:avLst>
              <a:gd name="adj" fmla="val 358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745236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GÖRECEĞIZ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452360" y="2816352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Saldırıların 7/24 sürdüğü gerçeği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Hiçbir kurumun 'çok küçük' olmadığı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Tehdidin küresel ve sürekli olduğu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544068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Shape 14"/>
          <p:cNvSpPr/>
          <p:nvPr/>
        </p:nvSpPr>
        <p:spPr>
          <a:xfrm>
            <a:off x="822960" y="5541264"/>
            <a:ext cx="457200" cy="45720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660136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463040" y="544068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İpucu: </a:t>
            </a: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haritalar 'her an hedef olabiliriz' gerçeğini somutlaştırır. Amaç korkutmak değil, tetikte olmayı normalleştirmek.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182880"/>
            <a:ext cx="40233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73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steeltec/icons/ke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6" y="2376526"/>
            <a:ext cx="504749" cy="5047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033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Parola, Kimlik ve</a:t>
            </a:r>
            <a:endParaRPr lang="en-US" sz="38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Çok Faktörlü Doğrulama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 · SALDIRILAR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Parolalar Nasıl Ele Geçirilir?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ke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896112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1" descr="/home/claude/steeltec/icons/ke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23" y="2058863"/>
            <a:ext cx="289682" cy="28968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Kaba kuvvet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96112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kombinasyonları tek tek dener (kısa parolada hızlı).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416552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8"/>
          <p:cNvSpPr/>
          <p:nvPr/>
        </p:nvSpPr>
        <p:spPr>
          <a:xfrm>
            <a:off x="4672584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2" descr="/home/claude/steeltec/icons/boo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495" y="2058863"/>
            <a:ext cx="289682" cy="28968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76672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Sözlük saldırısı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672584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Yaygın parola ve kelime listelerini dener.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193024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2"/>
          <p:cNvSpPr/>
          <p:nvPr/>
        </p:nvSpPr>
        <p:spPr>
          <a:xfrm>
            <a:off x="8449056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3" descr="/home/claude/steeltec/icons/arrow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5967" y="2058863"/>
            <a:ext cx="289682" cy="28968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53144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Kimlik doldurma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449056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yerden sızan e-posta+parolayı her sitede dener.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40080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6"/>
          <p:cNvSpPr/>
          <p:nvPr/>
        </p:nvSpPr>
        <p:spPr>
          <a:xfrm>
            <a:off x="896112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3" name="Image 4" descr="/home/claude/steeltec/icons/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023" y="4235135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00200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Parola püskürtme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896112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yaygın parolayı binlerce hesapta dener.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416552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0"/>
          <p:cNvSpPr/>
          <p:nvPr/>
        </p:nvSpPr>
        <p:spPr>
          <a:xfrm>
            <a:off x="4672584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8" name="Image 5" descr="/home/claude/steeltec/icons/fis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495" y="4235135"/>
            <a:ext cx="289682" cy="28968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376672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Oltalama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4672584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Sahte giriş sayfasıyla parolayı doğrudan çaldırır.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8193024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2" name="Shape 24"/>
          <p:cNvSpPr/>
          <p:nvPr/>
        </p:nvSpPr>
        <p:spPr>
          <a:xfrm>
            <a:off x="8449056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3" name="Image 6" descr="/home/claude/steeltec/icons/fingerprin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5967" y="4235135"/>
            <a:ext cx="289682" cy="28968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153144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Keylogger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8449056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Yazdığınız parolayı zararlı yazılımla kaydeder.</a:t>
            </a:r>
            <a:endParaRPr lang="en-US" sz="1150" dirty="0"/>
          </a:p>
        </p:txBody>
      </p:sp>
      <p:sp>
        <p:nvSpPr>
          <p:cNvPr id="36" name="Text 27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 · ÇÖZÜM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Güçlü Parola = Uzun Parola Cümlesi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868680" y="18105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PAROLA CÜMLESİ (PASSPHRASE)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3-4 kelimeyi birleştirin. Hatırlaması kolay, kırması çok zor: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2880360"/>
            <a:ext cx="4892040" cy="640080"/>
          </a:xfrm>
          <a:prstGeom prst="roundRect">
            <a:avLst>
              <a:gd name="adj" fmla="val 11429"/>
            </a:avLst>
          </a:prstGeom>
          <a:solidFill>
            <a:srgbClr val="14351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868680" y="28803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7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Mavi-Çelik-Vinç-42!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0332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az 12-16 karakter hedefleyin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Anlamsız kelime birleşimleri seçin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önemli hesaba FARKLI parola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 bilgi kullanmayın (ad, doğum, takım)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 txBox="1"/>
          <p:nvPr/>
        </p:nvSpPr>
        <p:spPr>
          <a:xfrm>
            <a:off x="6400800" y="18105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KIRILMA SÜRESİ (KABACA)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2286000"/>
            <a:ext cx="4892040" cy="749808"/>
          </a:xfrm>
          <a:prstGeom prst="roundRect">
            <a:avLst>
              <a:gd name="adj" fmla="val 7317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 txBox="1"/>
          <p:nvPr/>
        </p:nvSpPr>
        <p:spPr>
          <a:xfrm>
            <a:off x="6583680" y="228600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sifre123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0" y="228600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anında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0" y="3127248"/>
            <a:ext cx="4892040" cy="749808"/>
          </a:xfrm>
          <a:prstGeom prst="roundRect">
            <a:avLst>
              <a:gd name="adj" fmla="val 7317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 txBox="1"/>
          <p:nvPr/>
        </p:nvSpPr>
        <p:spPr>
          <a:xfrm>
            <a:off x="6583680" y="3127248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P@w9!x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312724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birkaç saat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3968496"/>
            <a:ext cx="4892040" cy="749808"/>
          </a:xfrm>
          <a:prstGeom prst="roundRect">
            <a:avLst>
              <a:gd name="adj" fmla="val 7317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 txBox="1"/>
          <p:nvPr/>
        </p:nvSpPr>
        <p:spPr>
          <a:xfrm>
            <a:off x="6583680" y="396849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Kopek2019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396849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birkaç gün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0" y="4809744"/>
            <a:ext cx="4892040" cy="749808"/>
          </a:xfrm>
          <a:prstGeom prst="roundRect">
            <a:avLst>
              <a:gd name="adj" fmla="val 7317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 txBox="1"/>
          <p:nvPr/>
        </p:nvSpPr>
        <p:spPr>
          <a:xfrm>
            <a:off x="6583680" y="480974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Mavi-Çelik-Vinç-42!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480974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yüzlerce yıl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CANLI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 · UYGULAMALI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Parolamı Kırmak Ne Kadar Sürer? — Test Edelim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777240" y="1572768"/>
            <a:ext cx="384048" cy="38404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0" descr="/home/claude/steeltec/icons/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642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14813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security.org/how-secure-is-my-password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240280"/>
            <a:ext cx="640080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868680" y="2423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DERSTE BİRLİKTE YAPALIM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2816352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Siteye girin; örnek bir zayıf parola yazıp tahmini kırılma süresini görün.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parolayı uzatınca sürenin nasıl fırladığını gösterin.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'parola cümlesi' yazıp farkı canlı karşılaştırın.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Alternatif: bitwarden.com/password-strength ile güç testi.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223760" y="2240280"/>
            <a:ext cx="4297680" cy="3063240"/>
          </a:xfrm>
          <a:prstGeom prst="roundRect">
            <a:avLst>
              <a:gd name="adj" fmla="val 358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745236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GÖRECEĞIZ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452360" y="2816352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Uzunluğun süreyi nasıl katladığı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'Karmaşık ama kısa'nın neden zayıf olduğu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12-16+ karakter hedeflemeliyiz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544068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Shape 14"/>
          <p:cNvSpPr/>
          <p:nvPr/>
        </p:nvSpPr>
        <p:spPr>
          <a:xfrm>
            <a:off x="822960" y="5541264"/>
            <a:ext cx="457200" cy="45720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660136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463040" y="544068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İpucu: </a:t>
            </a: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parolanızı yazmayın; benzer yapıda örnekler kullanın. Bu araçlar eğitim/gösterim içindir.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 · ARAÇ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Parola Yöneticisi — Hepsini O Hatırlasın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7665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777240" cy="7772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user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203088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8288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Nasıl çalışır?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4320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güçlü “ana parola” hatırlarsınız; uygulama diğer tüm hesaplar için uzun, benzersiz parolalar üretip şifreli saklar ve otomatik doldurur.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88620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✓"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hesaba farklı, güçlü parola — hiç ezberlemeden</a:t>
            </a:r>
            <a:endParaRPr lang="en-US" sz="1300" dirty="0"/>
          </a:p>
          <a:p>
            <a:pPr marL="203200" indent="-203200">
              <a:spcAft>
                <a:spcPts val="1100"/>
              </a:spcAft>
              <a:buSzPct val="100000"/>
              <a:buChar char="✓"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Sahte sitede otomatik doldurmaz → oltalamayı ele verir</a:t>
            </a:r>
            <a:endParaRPr lang="en-US" sz="1300" dirty="0"/>
          </a:p>
          <a:p>
            <a:pPr marL="203200" indent="-203200">
              <a:spcAft>
                <a:spcPts val="1100"/>
              </a:spcAft>
              <a:buSzPct val="100000"/>
              <a:buChar char="✓"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Sızıntı uyarısı ve parola sağlığı denetimi</a:t>
            </a:r>
            <a:endParaRPr lang="en-US" sz="1300" dirty="0"/>
          </a:p>
          <a:p>
            <a:pPr marL="203200" indent="-203200">
              <a:spcAft>
                <a:spcPts val="1100"/>
              </a:spcAft>
              <a:buSzPct val="100000"/>
              <a:buChar char="✓"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Cihazlar arası güvenli senkron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35240" y="1600200"/>
            <a:ext cx="3886200" cy="4206240"/>
          </a:xfrm>
          <a:prstGeom prst="roundRect">
            <a:avLst>
              <a:gd name="adj" fmla="val 2824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7863840" y="18105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BİLİNEN SEÇENEKLER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228600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Bitwarden (ücretsiz, açık kaynak)</a:t>
            </a:r>
            <a:endParaRPr lang="en-US" sz="13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KeePass (yerel, açık kaynak)</a:t>
            </a:r>
            <a:endParaRPr lang="en-US" sz="13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1Password (kurumsal)</a:t>
            </a:r>
            <a:endParaRPr lang="en-US" sz="13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/ Google şifre yöneticisi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863840" y="489204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8028432" y="48920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ipucu: </a:t>
            </a:r>
            <a:r>
              <a:rPr lang="en-US" sz="115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 onaylı çözümü IT ile teyit edin.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 · MFA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Çok Faktörlü Doğrulama (MFA) — En Etkili Kalkan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Parolanız çalınsa bile, ikinci bir doğrulama olmadan hesabınıza girilemez. MFA'yı mutlaka açın.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1988820" y="2240280"/>
            <a:ext cx="822960" cy="822960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/home/claude/steeltec/icons/pho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790" y="2454250"/>
            <a:ext cx="395021" cy="39502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32004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Bildiğiniz + Elinizdeki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7033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Parola + telefonunuza gelen onay/kod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34840" y="1965960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5783580" y="2240280"/>
            <a:ext cx="822960" cy="8229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2" name="Image 1" descr="/home/claude/steeltec/icons/fingerprin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7550" y="245425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32004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Olduğunuz şey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37033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Parmak izi, yüz tanıma (biyometrik)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29600" y="1965960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Shape 12"/>
          <p:cNvSpPr/>
          <p:nvPr/>
        </p:nvSpPr>
        <p:spPr>
          <a:xfrm>
            <a:off x="9578340" y="2240280"/>
            <a:ext cx="822960" cy="822960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7" name="Image 2" descr="/home/claude/steeltec/icons/ke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2310" y="245425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66760" y="32004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Sahip olduğunuz</a:t>
            </a:r>
            <a:endParaRPr lang="en-US" sz="1550" dirty="0"/>
          </a:p>
        </p:txBody>
      </p:sp>
      <p:sp>
        <p:nvSpPr>
          <p:cNvPr id="19" name="Text 14"/>
          <p:cNvSpPr txBox="1"/>
          <p:nvPr/>
        </p:nvSpPr>
        <p:spPr>
          <a:xfrm>
            <a:off x="8458200" y="37033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 anahtarı (en güçlüsü), authenticator uygulaması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75488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BE7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Shape 16"/>
          <p:cNvSpPr/>
          <p:nvPr/>
        </p:nvSpPr>
        <p:spPr>
          <a:xfrm>
            <a:off x="960120" y="502920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2" name="Image 3" descr="/home/claude/steeltec/icons/warning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766" y="5171846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91640" y="475488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 — MFA yorgunluğu saldırısı: </a:t>
            </a: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Beklemediğiniz halde arka arkaya onay bildirimi geliyorsa, birisi parolanızı ele geçirmiş olabilir. ASLA “onayla” demeyin; reddedin ve IT'ye bildirin.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CANLI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 · UYGULAMALI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Hesaplarımı Güçlendirelim — 2FA ve Güvenlik Denetimi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777240" y="1572768"/>
            <a:ext cx="384048" cy="38404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0" descr="/home/claude/steeltec/icons/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642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14813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2fa.directory  ·  myaccount.google.com/security-checkup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240280"/>
            <a:ext cx="640080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868680" y="2423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DERSTE BİRLİKTE YAPALIM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2816352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2fa.directory'de sık kullandığınız servisleri arayın; hangileri 2FA destekliyor görün.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önemli hesabınızda (banka, e-posta) MFA'yı birlikte açalım.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Güvenlik Denetimi'ni (Security Checkup) açıp uyarıları inceleyin.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hesapları için: account.microsoft.com/security.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223760" y="2240280"/>
            <a:ext cx="4297680" cy="3063240"/>
          </a:xfrm>
          <a:prstGeom prst="roundRect">
            <a:avLst>
              <a:gd name="adj" fmla="val 358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745236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GÖRECEĞIZ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452360" y="2816352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hesaplar 2FA destekliyor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Hesabınızdaki güvenlik uyarıları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Bağlı cihazlar ve son oturumlar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544068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Shape 14"/>
          <p:cNvSpPr/>
          <p:nvPr/>
        </p:nvSpPr>
        <p:spPr>
          <a:xfrm>
            <a:off x="822960" y="5541264"/>
            <a:ext cx="457200" cy="45720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660136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463040" y="544068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İpucu: </a:t>
            </a: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Authenticator uygulaması (TOTP) veya donanım anahtarı, SMS koddan daha güvenlidir. Mümkünse SMS yerine bunları tercih edin.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 · ERIŞIM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Az Yetki ve Yetkilendirme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766560" cy="4206240"/>
          </a:xfrm>
          <a:prstGeom prst="roundRect">
            <a:avLst>
              <a:gd name="adj" fmla="val 2609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777240" cy="7772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user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203088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8288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az yetki ilkesi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4320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Herkes yalnızca işi için gereken veriye ve sisteme erişebilmeli — ne fazlası, ne eksiği. Bu, bir hesap ele geçirilse bile zararı sınırlar.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84048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✓"/>
            </a:pPr>
            <a:r>
              <a:rPr lang="en-US" sz="1300" b="1" dirty="0">
                <a:solidFill>
                  <a:srgbClr val="7B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Gereksiz erişim isteme; kullanmadığını iade et</a:t>
            </a:r>
            <a:endParaRPr lang="en-US" sz="1300" dirty="0"/>
          </a:p>
          <a:p>
            <a:pPr marL="203200" indent="-203200">
              <a:spcAft>
                <a:spcPts val="1100"/>
              </a:spcAft>
              <a:buSzPct val="100000"/>
              <a:buChar char="✓"/>
            </a:pPr>
            <a:r>
              <a:rPr lang="en-US" sz="1300" b="1" dirty="0">
                <a:solidFill>
                  <a:srgbClr val="7B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Yönetici hesabını yalnızca gerektiğinde kullan</a:t>
            </a:r>
            <a:endParaRPr lang="en-US" sz="1300" dirty="0"/>
          </a:p>
          <a:p>
            <a:pPr marL="203200" indent="-203200">
              <a:spcAft>
                <a:spcPts val="1100"/>
              </a:spcAft>
              <a:buSzPct val="100000"/>
              <a:buChar char="✓"/>
            </a:pPr>
            <a:r>
              <a:rPr lang="en-US" sz="1300" b="1" dirty="0">
                <a:solidFill>
                  <a:srgbClr val="7B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 paylaşma; herkes kendi kimliğiyle girsin</a:t>
            </a:r>
            <a:endParaRPr lang="en-US" sz="1300" dirty="0"/>
          </a:p>
          <a:p>
            <a:pPr marL="203200" indent="-203200">
              <a:spcAft>
                <a:spcPts val="1100"/>
              </a:spcAft>
              <a:buSzPct val="100000"/>
              <a:buChar char="✓"/>
            </a:pPr>
            <a:r>
              <a:rPr lang="en-US" sz="1300" b="1" dirty="0">
                <a:solidFill>
                  <a:srgbClr val="7B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Ayrılan/rol değiştiren için erişimi güncelle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35240" y="1600200"/>
            <a:ext cx="3886200" cy="420624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7863840" y="18105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YETKİ MATRİSİ (ÖRNEK)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863840" y="2240280"/>
            <a:ext cx="3429000" cy="658368"/>
          </a:xfrm>
          <a:prstGeom prst="roundRect">
            <a:avLst>
              <a:gd name="adj" fmla="val 6944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 txBox="1"/>
          <p:nvPr/>
        </p:nvSpPr>
        <p:spPr>
          <a:xfrm>
            <a:off x="8001000" y="22402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9372600" y="22402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Erişim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863840" y="2953512"/>
            <a:ext cx="3429000" cy="658368"/>
          </a:xfrm>
          <a:prstGeom prst="roundRect">
            <a:avLst>
              <a:gd name="adj" fmla="val 6944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 txBox="1"/>
          <p:nvPr/>
        </p:nvSpPr>
        <p:spPr>
          <a:xfrm>
            <a:off x="8001000" y="2953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9372600" y="295351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teklifler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863840" y="3666744"/>
            <a:ext cx="3429000" cy="658368"/>
          </a:xfrm>
          <a:prstGeom prst="roundRect">
            <a:avLst>
              <a:gd name="adj" fmla="val 6944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 txBox="1"/>
          <p:nvPr/>
        </p:nvSpPr>
        <p:spPr>
          <a:xfrm>
            <a:off x="8001000" y="3666744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9372600" y="366674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 verisi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863840" y="4379976"/>
            <a:ext cx="3429000" cy="658368"/>
          </a:xfrm>
          <a:prstGeom prst="roundRect">
            <a:avLst>
              <a:gd name="adj" fmla="val 6944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19"/>
          <p:cNvSpPr txBox="1"/>
          <p:nvPr/>
        </p:nvSpPr>
        <p:spPr>
          <a:xfrm>
            <a:off x="8001000" y="437997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9372600" y="437997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Özlük (gizli)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863840" y="5093208"/>
            <a:ext cx="3429000" cy="658368"/>
          </a:xfrm>
          <a:prstGeom prst="roundRect">
            <a:avLst>
              <a:gd name="adj" fmla="val 6944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22"/>
          <p:cNvSpPr txBox="1"/>
          <p:nvPr/>
        </p:nvSpPr>
        <p:spPr>
          <a:xfrm>
            <a:off x="8001000" y="509320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Muhasebe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9372600" y="509320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182880"/>
            <a:ext cx="40233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73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steeltec/icons/fis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6" y="2376526"/>
            <a:ext cx="504749" cy="5047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033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Sosyal Mühendislik ve</a:t>
            </a:r>
            <a:endParaRPr lang="en-US" sz="38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Oltalama (Phishing)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 · TEMEL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Sosyal Mühendislik: Zihni Hacklemek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Saldırgan sistemi değil, sizi hackler. Sizi hızlı ve düşünmeden hareket etmeye iten duygusal tetikleyiciler kullanır: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868680" y="2240280"/>
            <a:ext cx="621792" cy="621792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/home/claude/steeltec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46" y="2401946"/>
            <a:ext cx="298460" cy="298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0482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Aciliyet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39572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“24 saatte kapanacak!” — düşünmeden tıklatır.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16552" y="192024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4645152" y="2240280"/>
            <a:ext cx="621792" cy="621792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2" name="Image 1" descr="/home/claude/steeltec/icons/idc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818" y="2401946"/>
            <a:ext cx="298460" cy="298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76672" y="20482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Otorite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5376672" y="239572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“Ben müdürüm, hemen yap.” — sorgulatmaz.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93024" y="192024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Shape 12"/>
          <p:cNvSpPr/>
          <p:nvPr/>
        </p:nvSpPr>
        <p:spPr>
          <a:xfrm>
            <a:off x="8421624" y="2240280"/>
            <a:ext cx="621792" cy="621792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7" name="Image 2" descr="/home/claude/steeltec/icons/warnin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3290" y="2401946"/>
            <a:ext cx="298460" cy="298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153144" y="20482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Korku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9153144" y="239572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“Yasal işlem başlatıldı” — paniği kullanır.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3401568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6"/>
          <p:cNvSpPr/>
          <p:nvPr/>
        </p:nvSpPr>
        <p:spPr>
          <a:xfrm>
            <a:off x="868680" y="3721608"/>
            <a:ext cx="621792" cy="621792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2" name="Image 3" descr="/home/claude/steeltec/icons/ey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346" y="3883274"/>
            <a:ext cx="298460" cy="2984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00200" y="352958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Merak</a:t>
            </a:r>
            <a:endParaRPr lang="en-US" sz="1450" dirty="0"/>
          </a:p>
        </p:txBody>
      </p:sp>
      <p:sp>
        <p:nvSpPr>
          <p:cNvPr id="24" name="Text 18"/>
          <p:cNvSpPr txBox="1"/>
          <p:nvPr/>
        </p:nvSpPr>
        <p:spPr>
          <a:xfrm>
            <a:off x="1600200" y="387705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“Zam listesi ektedir” — açtırmak için cezbeder.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416552" y="3401568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Shape 20"/>
          <p:cNvSpPr/>
          <p:nvPr/>
        </p:nvSpPr>
        <p:spPr>
          <a:xfrm>
            <a:off x="4645152" y="3721608"/>
            <a:ext cx="621792" cy="621792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7" name="Image 4" descr="/home/claude/steeltec/icons/dolla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6818" y="3883274"/>
            <a:ext cx="298460" cy="29846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376672" y="352958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Açgözlülük</a:t>
            </a:r>
            <a:endParaRPr lang="en-US" sz="1450" dirty="0"/>
          </a:p>
        </p:txBody>
      </p:sp>
      <p:sp>
        <p:nvSpPr>
          <p:cNvPr id="29" name="Text 22"/>
          <p:cNvSpPr txBox="1"/>
          <p:nvPr/>
        </p:nvSpPr>
        <p:spPr>
          <a:xfrm>
            <a:off x="5376672" y="387705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“Ödül kazandınız” — kişisel çıkarı hedefler.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93024" y="3401568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1" name="Shape 24"/>
          <p:cNvSpPr/>
          <p:nvPr/>
        </p:nvSpPr>
        <p:spPr>
          <a:xfrm>
            <a:off x="8421624" y="3721608"/>
            <a:ext cx="621792" cy="621792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2" name="Image 5" descr="/home/claude/steeltec/icons/handshak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3290" y="3883274"/>
            <a:ext cx="298460" cy="29846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153144" y="352958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</a:t>
            </a:r>
            <a:endParaRPr lang="en-US" sz="1450" dirty="0"/>
          </a:p>
        </p:txBody>
      </p:sp>
      <p:sp>
        <p:nvSpPr>
          <p:cNvPr id="34" name="Text 26"/>
          <p:cNvSpPr txBox="1"/>
          <p:nvPr/>
        </p:nvSpPr>
        <p:spPr>
          <a:xfrm>
            <a:off x="9153144" y="387705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Tanıdık taklidi; “bir dakikanı alır” der.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40080" y="507492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Text 28"/>
          <p:cNvSpPr txBox="1"/>
          <p:nvPr/>
        </p:nvSpPr>
        <p:spPr>
          <a:xfrm>
            <a:off x="914400" y="50749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Altın kural: </a:t>
            </a:r>
            <a:r>
              <a:rPr lang="en-US" sz="13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mesaj sizi güçlü bir duyguyla (panik, heyecan, korku) hemen harekete geçmeye itiyorsa — DURUN. Bu en büyük tehlike işaretidir.</a:t>
            </a:r>
            <a:endParaRPr lang="en-US" sz="1350" dirty="0"/>
          </a:p>
        </p:txBody>
      </p:sp>
      <p:sp>
        <p:nvSpPr>
          <p:cNvPr id="37" name="Text 29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 · TÜRLER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Oltalama Çeşitleri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envelop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896112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1" descr="/home/claude/steeltec/icons/envelop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23" y="2058863"/>
            <a:ext cx="289682" cy="28968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E-posta oltalama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96112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Klasik: sahte e-posta ile kitlesel tuzak.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416552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8"/>
          <p:cNvSpPr/>
          <p:nvPr/>
        </p:nvSpPr>
        <p:spPr>
          <a:xfrm>
            <a:off x="4672584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2" descr="/home/claude/steeltec/icons/targ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495" y="2058863"/>
            <a:ext cx="289682" cy="28968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76672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Hedefli (spear)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672584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özel, adınızı ve işinizi bilerek yazılmış.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193024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2"/>
          <p:cNvSpPr/>
          <p:nvPr/>
        </p:nvSpPr>
        <p:spPr>
          <a:xfrm>
            <a:off x="8449056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3" descr="/home/claude/steeltec/icons/idcar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5967" y="2058863"/>
            <a:ext cx="289682" cy="28968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53144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Balina (whaling)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449056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 yöneticileri hedefleyen yüksek getirili saldırı.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40080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6"/>
          <p:cNvSpPr/>
          <p:nvPr/>
        </p:nvSpPr>
        <p:spPr>
          <a:xfrm>
            <a:off x="896112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3" name="Image 4" descr="/home/claude/steeltec/icons/phon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023" y="4235135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00200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SMS (smishing)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896112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“Kargonuz bekliyor” gibi sahte SMS bağlantıları.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416552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0"/>
          <p:cNvSpPr/>
          <p:nvPr/>
        </p:nvSpPr>
        <p:spPr>
          <a:xfrm>
            <a:off x="4672584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8" name="Image 5" descr="/home/claude/steeltec/icons/megaphon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495" y="4235135"/>
            <a:ext cx="289682" cy="28968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376672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Telefon (vishing)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4672584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IT/banka taklidiyle telefonda bilgi/parola isteme.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8193024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2" name="Shape 24"/>
          <p:cNvSpPr/>
          <p:nvPr/>
        </p:nvSpPr>
        <p:spPr>
          <a:xfrm>
            <a:off x="8449056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3" name="Image 6" descr="/home/claude/steeltec/icons/qrcod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5967" y="4235135"/>
            <a:ext cx="289682" cy="28968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153144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(quishing)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8449056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Sahte QR kod ile zararlı siteye yönlendirme.</a:t>
            </a:r>
            <a:endParaRPr lang="en-US" sz="1150" dirty="0"/>
          </a:p>
        </p:txBody>
      </p:sp>
      <p:sp>
        <p:nvSpPr>
          <p:cNvPr id="36" name="Text 27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 · FIZIKSEL SOSYAL MÜHENDISLIK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Omuz Sörfü, Çöp Karıştırma ve Peşe Takılma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914400" y="1984248"/>
            <a:ext cx="658368" cy="65836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576" y="2155424"/>
            <a:ext cx="316017" cy="31601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94767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Omuz sörfü (shoulder surfing)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60604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alanda ekranınıza/parola girişinize bakarak bilgi çalma.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55080" y="169164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6629400" y="1984248"/>
            <a:ext cx="658368" cy="65836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steeltec/icons/tras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576" y="2155424"/>
            <a:ext cx="316017" cy="31601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98080" y="194767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Çöp karıştırma (dumpster diving)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498080" y="260604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Atılan evrak, not, çıktılardan hassas bilgi toplama.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8404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914400" y="4133088"/>
            <a:ext cx="658368" cy="65836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/home/claude/steeltec/icons/buildin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576" y="4304264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83080" y="409651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Peşe takılma (tailgating)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783080" y="475488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Kapıdan sizin peşinizden yetkisiz kişinin girmesi.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55080" y="38404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6629400" y="4133088"/>
            <a:ext cx="658368" cy="65836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/home/claude/steeltec/icons/idcar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0576" y="4304264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8080" y="409651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Kimlik taklidi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498080" y="475488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Kargocu/teknisyen kılığında binaya/bilgiye erişim.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Savunma: ekranı kilitle, hassas evrakı öğütücüde imha et, yaka kartını tak, tanımadığına kapıyı tutma.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 · TESPIT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Sahte E-postanın Kırmızı Bayrakları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766560" cy="4251960"/>
          </a:xfrm>
          <a:prstGeom prst="roundRect">
            <a:avLst>
              <a:gd name="adj" fmla="val 1290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640080" y="1709928"/>
            <a:ext cx="6766560" cy="1554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 txBox="1"/>
          <p:nvPr/>
        </p:nvSpPr>
        <p:spPr>
          <a:xfrm>
            <a:off x="768096" y="1572768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ŞÜPHELİ E-POSTA (ÖRNEK)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956816"/>
            <a:ext cx="6437376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Kimden: destek@ıwsteeltec-guvenlik.com   ①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Konu: ACİL: Hesabınız askıya alınacak!  ②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Sayın Kullanıcı,  ③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Hesabınızda olağan dışı hareket saptandı.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saat içinde doğrulama yapmazsanız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hesabınız KALICI olarak silinecektir. ④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Lütfen aşağıdaki bağlantıdan giriş yapın: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http://guvenli-dogrulama.xyz/login  ⑤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Ekteki formu da doldurun: dekont.html.exe  ⑥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Saygılarımızla,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 Güvenlik Ekibi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635240" y="1554480"/>
            <a:ext cx="3886200" cy="425196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 txBox="1"/>
          <p:nvPr/>
        </p:nvSpPr>
        <p:spPr>
          <a:xfrm>
            <a:off x="786384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İŞTE İPUÇLARI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148840"/>
            <a:ext cx="3474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Sahte/benzer alan adı (ı≠i, ekli kelime)</a:t>
            </a:r>
            <a:endParaRPr lang="en-US" sz="12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Aciliyet ve tehdit dili</a:t>
            </a:r>
            <a:endParaRPr lang="en-US" sz="12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Kişiye özel değil (“Sayın Kullanıcı”)</a:t>
            </a:r>
            <a:endParaRPr lang="en-US" sz="12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Korkutma: “kalıcı silinecek”</a:t>
            </a:r>
            <a:endParaRPr lang="en-US" sz="12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Bağlantı adresi tuhaf (.xyz, http)</a:t>
            </a:r>
            <a:endParaRPr lang="en-US" sz="12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Tehlikeli ek (.html.exe)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 · BECERI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Tıklamadan Önce: Bağlantıyı Oku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bağlantının nereye gittiğini tıklamadan görebilirsiniz. Gerçek adres, en sondaki alan adıdır.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28016" cy="868680"/>
          </a:xfrm>
          <a:prstGeom prst="roundRect">
            <a:avLst>
              <a:gd name="adj" fmla="val 14286"/>
            </a:avLst>
          </a:prstGeom>
          <a:solidFill>
            <a:srgbClr val="2E6FD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 txBox="1"/>
          <p:nvPr/>
        </p:nvSpPr>
        <p:spPr>
          <a:xfrm>
            <a:off x="960120" y="19202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Görünen metin: “Banka Girişi”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192024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Fareyle üzerine gelin (hover) → gerçek adres altta çıkar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07792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640080" y="2907792"/>
            <a:ext cx="128016" cy="868680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 txBox="1"/>
          <p:nvPr/>
        </p:nvSpPr>
        <p:spPr>
          <a:xfrm>
            <a:off x="960120" y="290779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microsoft.com.giris-dogrula.xyz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2907792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alan sondadır → burada alan “giris-dogrula.xyz”, Microsoft DEĞİL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895344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640080" y="3895344"/>
            <a:ext cx="128016" cy="868680"/>
          </a:xfrm>
          <a:prstGeom prst="roundRect">
            <a:avLst>
              <a:gd name="adj" fmla="val 14286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 txBox="1"/>
          <p:nvPr/>
        </p:nvSpPr>
        <p:spPr>
          <a:xfrm>
            <a:off x="960120" y="3895344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iwsteeltec.com/ik/izin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3895344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Tanıdık ve doğru alan adı → güvenli görünüyor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882896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640080" y="4882896"/>
            <a:ext cx="128016" cy="868680"/>
          </a:xfrm>
          <a:prstGeom prst="roundRect">
            <a:avLst>
              <a:gd name="adj" fmla="val 14286"/>
            </a:avLst>
          </a:prstGeom>
          <a:solidFill>
            <a:srgbClr val="D24E0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 txBox="1"/>
          <p:nvPr/>
        </p:nvSpPr>
        <p:spPr>
          <a:xfrm>
            <a:off x="960120" y="4882896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bit.ly/3xY... (kısaltılmış)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4882896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Nereye gittiği gizli → şüpheliyse açmayın veya önizleyin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532120"/>
            <a:ext cx="10881360" cy="384048"/>
          </a:xfrm>
          <a:prstGeom prst="roundRect">
            <a:avLst>
              <a:gd name="adj" fmla="val 23810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 txBox="1"/>
          <p:nvPr/>
        </p:nvSpPr>
        <p:spPr>
          <a:xfrm>
            <a:off x="914400" y="55321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sonraki demo: </a:t>
            </a:r>
            <a:r>
              <a:rPr lang="en-US" sz="12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Google'ın oltalama testini birlikte çözeceğiz.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CANLI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 · UYGULAMALI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Oltalama Testi — Gözümüzü Eğitelim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777240" y="1572768"/>
            <a:ext cx="384048" cy="38404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0" descr="/home/claude/steeltec/icons/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642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14813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phishingquiz.withgoogle.com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240280"/>
            <a:ext cx="640080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868680" y="2423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DERSTE BİRLİKTE YAPALIM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2816352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Siteye girin; 8 örnek e-postayı birlikte inceleyeceğiz.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e-posta için 'gerçek mi, oltalama mı' tahmin edin.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sorudan sonra ipuçlarını (gönderen, bağlantı, dil) konuşalım.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İsteğe bağlı: openphish.com veya phishtank.com ile gerçek örneklere bakın.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223760" y="2240280"/>
            <a:ext cx="4297680" cy="3063240"/>
          </a:xfrm>
          <a:prstGeom prst="roundRect">
            <a:avLst>
              <a:gd name="adj" fmla="val 358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745236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E-POSTADA BAKIN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452360" y="2816352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Gönderen adresi gerçek mi?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Bağlantı nereye gidiyor?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Aciliyet/tehdit dili var mı?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Beklenen bir mesaj mı?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544068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Shape 14"/>
          <p:cNvSpPr/>
          <p:nvPr/>
        </p:nvSpPr>
        <p:spPr>
          <a:xfrm>
            <a:off x="822960" y="5541264"/>
            <a:ext cx="457200" cy="45720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660136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463040" y="544068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İpucu: </a:t>
            </a: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 yüksek puan değil, bakışı eğitmek. Kurumunuzun düzenlediği simüle oltalama tatbikatlarına da ciddiyetle katılın.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CANLI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 · UYGULAMALI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Şüpheli Bağlantıyı Çözümleyelim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777240" y="1572768"/>
            <a:ext cx="384048" cy="38404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0" descr="/home/claude/steeltec/icons/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642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14813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urlscan.io  ·  virustotal.com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240280"/>
            <a:ext cx="640080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868680" y="2423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DERSTE BİRLİKTE YAPALIM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2816352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urlscan.io'ya şüpheli bir bağlantı yapıştırın; sitenin ekran görüntüsü ve davranışına bakın.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Kısaltılmış bir linkin (bit.ly) nereye gittiğini önizleyin.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linki VirusTotal'da tarayıp motor sonuçlarını okuyun.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Sonuçları birlikte yorumlayın: gerçek hedef alan adı ne?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223760" y="2240280"/>
            <a:ext cx="4297680" cy="3063240"/>
          </a:xfrm>
          <a:prstGeom prst="roundRect">
            <a:avLst>
              <a:gd name="adj" fmla="val 358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745236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GÖRECEĞIZ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452360" y="2816352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Bağlantının gerçek varış adresi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Sayfanın sahte giriş formu olup olmadığı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Bilinen zararlı olarak işaretli mi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544068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Shape 14"/>
          <p:cNvSpPr/>
          <p:nvPr/>
        </p:nvSpPr>
        <p:spPr>
          <a:xfrm>
            <a:off x="822960" y="5541264"/>
            <a:ext cx="457200" cy="45720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660136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463040" y="544068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İpucu: </a:t>
            </a: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Şüpheli linke asla mobil/iş cihazınızda doğrudan tıklamayın; önce bu araçlarla güvenli tarafta inceleyin.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 · UYGULAMALI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E-posta Sahte mi? — Birlikte Analiz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puzz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6766560" cy="3246120"/>
          </a:xfrm>
          <a:prstGeom prst="roundRect">
            <a:avLst>
              <a:gd name="adj" fmla="val 3380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 txBox="1"/>
          <p:nvPr/>
        </p:nvSpPr>
        <p:spPr>
          <a:xfrm>
            <a:off x="868680" y="18288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GELEN E-POSTA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14884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Kimden: “Kargo Takip &lt;bilgi@kargo-teslimat.info&gt;”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Konu: Paketiniz teslim edilemedi 📦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“Adres bilgileriniz eksik olduğu için paketiniz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bekliyor. 12 TL kargo farkını ödeyip teslimatı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tamamlamak için tıklayın: odeme-kargo.info/tr”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 bu aralar bir kargo beklemiyorsunuz.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35240" y="1645920"/>
            <a:ext cx="388620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 txBox="1"/>
          <p:nvPr/>
        </p:nvSpPr>
        <p:spPr>
          <a:xfrm>
            <a:off x="786384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SEÇENEKLER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2212848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Tıklar, 12 TL öderim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Merak edip bağlantıya bakarım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 bilgisi ister, o an anlarım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Tıklamam, silerim / bildiririm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507492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E4F3E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Shape 10"/>
          <p:cNvSpPr/>
          <p:nvPr/>
        </p:nvSpPr>
        <p:spPr>
          <a:xfrm>
            <a:off x="914400" y="5239512"/>
            <a:ext cx="530352" cy="530352"/>
          </a:xfrm>
          <a:prstGeom prst="ellipse">
            <a:avLst/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4" name="Image 1" descr="/home/claude/steeltec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292" y="5377404"/>
            <a:ext cx="254569" cy="25456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691640" y="507492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yaklaşım: </a:t>
            </a: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Tıklamayın. Beklemediğiniz kargo + tuhaf alan adı (.info) + küçük ödeme tuzağı = klasik smishing. Kargoyu resmî uygulamadan takip edin, mesajı bildirin.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 · YÜKSEK RISK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CEO Dolandırıcılığı ve Sahte Fatura (BEC)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766560" cy="3108960"/>
          </a:xfrm>
          <a:prstGeom prst="roundRect">
            <a:avLst>
              <a:gd name="adj" fmla="val 3529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868680" y="1783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Muhasebeye, genel müdürden geliyormuş gibi bir e-posta: </a:t>
            </a:r>
            <a:r>
              <a:rPr lang="en-US" sz="1400" i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“Acil ve gizli bir tedarikçi ödemesi var. Bu IBAN'a bugün 250.000 TL gönder, sonra açıklarım. Kimseyle paylaşma.”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4904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işe yarar: </a:t>
            </a:r>
            <a:r>
              <a:rPr lang="en-US" sz="125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otorite + aciliyet + gizlilik. Çalışan patronu sorgulamak istemez.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862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 txBox="1"/>
          <p:nvPr/>
        </p:nvSpPr>
        <p:spPr>
          <a:xfrm>
            <a:off x="786384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SAVUNMA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219456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Para/IBAN taleplerini İKİNCİ kanaldan doğrula (telefonla ara)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“Gizli tut, kimseye söyleme” = tehlike işareti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 değişikliğini mutlaka teyit et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 dışı hiçbir ödeme yapma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8920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BE7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914400" y="5056632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0" descr="/home/claude/steeltec/icons/doll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01" y="5204033"/>
            <a:ext cx="272125" cy="27212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691640" y="48920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Rakam: </a:t>
            </a: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 dünyada 2024'te tek başına ~6,3 milyar dolar kayba yol açtı (FBI). Genelde tek bir onaylanmamış transferle başlar.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 · YENI TEHDIT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Yapay Zeka Çağında Dolandırıcılık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zeka, saldırıları daha ucuz, hızlı ve inandırıcı hale getirdi. Artık “kötü Türkçe”ye güvenemeyiz.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658368" cy="65836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/home/claude/steeltec/icons/envelop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576" y="2457176"/>
            <a:ext cx="316017" cy="31601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83080" y="213969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Kusursuz metinler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783080" y="257860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hatasız ve kişiye özel oltalama yazıyor.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55080" y="192024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6629400" y="2286000"/>
            <a:ext cx="658368" cy="65836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2" name="Image 1" descr="/home/claude/steeltec/icons/pho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576" y="2457176"/>
            <a:ext cx="316017" cy="31601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98080" y="213969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 klonlama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498080" y="257860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Yöneticinizin sesini taklit eden sahte aramalar.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356616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Shape 12"/>
          <p:cNvSpPr/>
          <p:nvPr/>
        </p:nvSpPr>
        <p:spPr>
          <a:xfrm>
            <a:off x="914400" y="3931920"/>
            <a:ext cx="658368" cy="65836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7" name="Image 2" descr="/home/claude/steeltec/icons/ey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576" y="4103096"/>
            <a:ext cx="316017" cy="31601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83080" y="378561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Deepfake video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783080" y="422452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Sahte görüntülü toplantılarla para/onay talebi.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55080" y="356616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6"/>
          <p:cNvSpPr/>
          <p:nvPr/>
        </p:nvSpPr>
        <p:spPr>
          <a:xfrm>
            <a:off x="6629400" y="3931920"/>
            <a:ext cx="658368" cy="65836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2" name="Image 3" descr="/home/claude/steeltec/icons/robo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0576" y="4103096"/>
            <a:ext cx="316017" cy="31601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98080" y="378561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Otomasyon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7498080" y="422452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Binlerce hedefe aynı anda kişiselleştirilmiş saldırı.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40080" y="507492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E4F3E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0"/>
          <p:cNvSpPr txBox="1"/>
          <p:nvPr/>
        </p:nvSpPr>
        <p:spPr>
          <a:xfrm>
            <a:off x="914400" y="50749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savunma: </a:t>
            </a: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Beklenmedik para/bilgi talebini her zaman İKİNCİ kanaldan doğrulayın. Sesi/videoyu bile sorgulayın; önceden kararlaştırılmış bir 'kod kelime' yardımcı olabilir.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CANLI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 · UYGULAMALI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Deepfake Gerçekliği — Bu Yüz Gerçek mi?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777240" y="1572768"/>
            <a:ext cx="384048" cy="38404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0" descr="/home/claude/steeltec/icons/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642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14813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thispersondoesnotexist.com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240280"/>
            <a:ext cx="640080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868680" y="2423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DERSTE BİRLİKTE YAPALIM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2816352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Siteyi açın; her yenilemede yapay zekânın ürettiği yeni bir 'insan yüzü' gelir.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kişilerin hiçbiri gerçek değil — hepsi AI üretimi.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Sahte profil fotoğraflarının ne kadar inandırıcı olduğunu birlikte görün.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Tartışın: bir profil fotoğrafına bakarak 'gerçek kişi' güvenini nasıl sorgularız?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223760" y="2240280"/>
            <a:ext cx="4297680" cy="3063240"/>
          </a:xfrm>
          <a:prstGeom prst="roundRect">
            <a:avLst>
              <a:gd name="adj" fmla="val 358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745236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ÇIKARIMLAR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452360" y="2816352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Sahte hesap/profil oluşturmak çok kolay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 tek başına kimlik kanıtı değil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Görüntülü görüşmede bile doğrulama şart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544068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Shape 14"/>
          <p:cNvSpPr/>
          <p:nvPr/>
        </p:nvSpPr>
        <p:spPr>
          <a:xfrm>
            <a:off x="822960" y="5541264"/>
            <a:ext cx="457200" cy="45720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660136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463040" y="544068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İpucu: </a:t>
            </a: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profil resmi, LinkedIn görseli veya video, artık kolayca sahte olabilir. Güveni içeriğe değil, doğrulanmış kanallara dayandırın.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 · REFLEKS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Şüpheli Bir Mesajla Ne Yapmalı?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103120" cy="23317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325880" y="2221992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han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075" y="2412187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" y="301752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68096" y="338328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Tıklama, yanıtlama, ek açma. Bir nefes al.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2706624" y="26517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852928" y="1965960"/>
            <a:ext cx="2103120" cy="23317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3538728" y="2221992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2" name="Image 1" descr="/home/claude/steeltec/icons/ey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8923" y="2412187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26080" y="301752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KONTROL ET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980944" y="338328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Göndereni, bağlantıyı (hover), tonu incele.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4919472" y="26517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065776" y="1965960"/>
            <a:ext cx="2103120" cy="23317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3"/>
          <p:cNvSpPr/>
          <p:nvPr/>
        </p:nvSpPr>
        <p:spPr>
          <a:xfrm>
            <a:off x="5751576" y="2221992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2" descr="/home/claude/steeltec/icons/cros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1771" y="2412187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138928" y="301752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VERME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193792" y="338328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Parola, kod, kart, kişisel bilgi asla verme.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7132320" y="26517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7278624" y="1965960"/>
            <a:ext cx="2103120" cy="23317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18"/>
          <p:cNvSpPr/>
          <p:nvPr/>
        </p:nvSpPr>
        <p:spPr>
          <a:xfrm>
            <a:off x="7964424" y="2221992"/>
            <a:ext cx="731520" cy="731520"/>
          </a:xfrm>
          <a:prstGeom prst="ellipse">
            <a:avLst/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4" name="Image 3" descr="/home/claude/steeltec/icons/megaphon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4619" y="2412187"/>
            <a:ext cx="351130" cy="35113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351776" y="301752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BİLDİR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406640" y="338328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IT'ye ilet; “oltalama bildir” butonu.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9345168" y="26517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9491472" y="1965960"/>
            <a:ext cx="2103120" cy="23317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9" name="Shape 23"/>
          <p:cNvSpPr/>
          <p:nvPr/>
        </p:nvSpPr>
        <p:spPr>
          <a:xfrm>
            <a:off x="10177272" y="2221992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0" name="Image 4" descr="/home/claude/steeltec/icons/tras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7467" y="2412187"/>
            <a:ext cx="351130" cy="35113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564624" y="301752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SİL / İZOLE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9619488" y="338328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Onaylandıysa sil; şüphedeysen bırak, sorma.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640080" y="470916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4" name="Shape 27"/>
          <p:cNvSpPr/>
          <p:nvPr/>
        </p:nvSpPr>
        <p:spPr>
          <a:xfrm>
            <a:off x="960120" y="4983480"/>
            <a:ext cx="566928" cy="56692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5" name="Image 5" descr="/home/claude/steeltec/icons/megaphon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521" y="5130881"/>
            <a:ext cx="272125" cy="272125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783080" y="47091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Bildirmek utanç değil, kahramanlıktır: </a:t>
            </a:r>
            <a:r>
              <a:rPr lang="en-US" sz="13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Yanlışlıkla tıkladıysanız bile HEMEN bildirin. Erken haber büyük hasarı önler. Kimse sizi suçlamaz — sessiz kalmak asıl risktir.</a:t>
            </a:r>
            <a:endParaRPr lang="en-US" sz="1350" dirty="0"/>
          </a:p>
        </p:txBody>
      </p:sp>
      <p:sp>
        <p:nvSpPr>
          <p:cNvPr id="37" name="Text 29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CANLI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 · UYGULAMALI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Zararlı Bağlantıyı İhbar Edelim — USOM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777240" y="1572768"/>
            <a:ext cx="384048" cy="38404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0" descr="/home/claude/steeltec/icons/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642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14813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usom.gov.tr</a:t>
            </a:r>
            <a:r>
              <a:rPr lang="tr-TR" sz="1600" b="1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siberguvenlik.gov.tr	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240280"/>
            <a:ext cx="640080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868680" y="2423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DERSTE BİRLİKTE YAPALIM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2816352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USOM (Ulusal Siber Olaylara Müdahale Merkezi) sitesini </a:t>
            </a:r>
            <a:r>
              <a:rPr lang="en-US" sz="1350" dirty="0" err="1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açın</a:t>
            </a: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tr-TR" sz="1350" dirty="0">
              <a:solidFill>
                <a:srgbClr val="222A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tr-TR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Artık siberguvenlik.gov.tr</a:t>
            </a:r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 err="1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</a:t>
            </a: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siber tehdit ve zararlı bağlantı uyarılarına bakın.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Zararlı/oltalama bir bağlantıyı nasıl ihbar edeceğinizi birlikte görün.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 dolandırıcılıkta ayrıca 'Sahte site/ihbar' kanallarını not edin.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223760" y="2240280"/>
            <a:ext cx="4297680" cy="3063240"/>
          </a:xfrm>
          <a:prstGeom prst="roundRect">
            <a:avLst>
              <a:gd name="adj" fmla="val 358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745236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GÖRECEĞIZ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452360" y="2816352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Türkiye'nin resmî siber olay merkezi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Zararlı bağlantı bildirim yolu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 kamu güvenlik duyuruları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544068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Shape 14"/>
          <p:cNvSpPr/>
          <p:nvPr/>
        </p:nvSpPr>
        <p:spPr>
          <a:xfrm>
            <a:off x="822960" y="5541264"/>
            <a:ext cx="457200" cy="45720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660136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463040" y="544068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İpucu: </a:t>
            </a: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bir olayda önce kendi IT/BT Güvenlik ekibinize bildirin; USOM ulusal düzeyde zararlı bağlantı ve olayları ele alır.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 · DIKKAT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Yapay Zeka Araçlarına Ne Yapıştırıyorsunuz?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766560" cy="3017520"/>
          </a:xfrm>
          <a:prstGeom prst="roundRect">
            <a:avLst>
              <a:gd name="adj" fmla="val 3636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777240" cy="7772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robo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203088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8288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Kolaylık ≠ gizlilik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4320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Halka açık bir yapay zeka aracına yapıştırdığınız metin şirket dışına çıkmış olabilir. Müşteri listesi, sözleşme, kaynak kod veya kişisel veriyi bu araçlara girmeyin.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97764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Kural: </a:t>
            </a: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Gizli/çok gizli veriyi yalnızca kurum onaylı, güvenli araçlarda kullanın (ör. kurumsal M365 Copilot).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635240" y="1600200"/>
            <a:ext cx="38862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7863840" y="18105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YAPIŞTIRMA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22402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✗"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/ çalışan kişisel verisi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✗"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Sözleşme ve fiyatlandırma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✗"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kod, teknik sırlar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✗"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Parola ve erişim bilgileri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✗"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Finansal tablolar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" y="480060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Shape 11"/>
          <p:cNvSpPr/>
          <p:nvPr/>
        </p:nvSpPr>
        <p:spPr>
          <a:xfrm>
            <a:off x="960120" y="5029200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5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766" y="5171846"/>
            <a:ext cx="263347" cy="26334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737360" y="48006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test: </a:t>
            </a: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“Bunu bir e-postayla dış dünyaya gönderir miydim?” Cevap hayırsa, halka açık bir yapay zekaya da yapıştırmayın.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182880"/>
            <a:ext cx="40233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73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steeltec/icon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6" y="2376526"/>
            <a:ext cx="504749" cy="5047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033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Cihaz, Ağ, Web, Veri ve</a:t>
            </a:r>
            <a:endParaRPr lang="en-US" sz="38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Fiziksel Güvenlik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 · CIHAZ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İş Cihazınızı Güvende Tutun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pho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5349240" cy="548640"/>
          </a:xfrm>
          <a:prstGeom prst="roundRect">
            <a:avLst>
              <a:gd name="adj" fmla="val 20000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640080" y="1920240"/>
            <a:ext cx="5349240" cy="274320"/>
          </a:xfrm>
          <a:prstGeom prst="rect">
            <a:avLst/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9" name="Image 1" descr="/home/claude/steeltec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78308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1645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96112" y="2395728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Ekranı kilitle (Win+L) — masadan kalkınca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kilit ve güçlü PIN/parola kullan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şifrelemesini açık tut (BitLocker)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IT onaylı yazılım kur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Kayıp/çalıntı durumunda hemen bildir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72200" y="164592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9"/>
          <p:cNvSpPr/>
          <p:nvPr/>
        </p:nvSpPr>
        <p:spPr>
          <a:xfrm>
            <a:off x="6172200" y="1645920"/>
            <a:ext cx="5349240" cy="54864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Shape 10"/>
          <p:cNvSpPr/>
          <p:nvPr/>
        </p:nvSpPr>
        <p:spPr>
          <a:xfrm>
            <a:off x="6172200" y="1920240"/>
            <a:ext cx="534924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5" name="Image 2" descr="/home/claude/steeltec/icons/cros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78308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66560" y="1645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YAPMA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428232" y="2395728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Cihazı kilitsiz/başıboş bırakma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Yönetici hakkını günlük işte kullanma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Bilinmeyen USB'yi takma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cihazına korsan/kişisel yazılım kurma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uyarılarını “sonra” diye kapatma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 · BAKIM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Güncelleme, Yama ve Antivirüs/EDR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downloa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20189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828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Güncelleme = kapıyı kapatmak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517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güncelleme, saldırganların bildiği açıkları kapatır. Ertelenen yama = açık kapı. Sıfırıncı gün açıkları en çok güncellenmemiş sistemleri vurur.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8862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İşletim sistemi ve uygulamaları güncel tut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“Yeniden başlat” uyarısını erteleme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 ve eklentileri güncelle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Desteği biten yazılımı kullanma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60020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6400800" y="1828800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2" name="Image 1" descr="/home/claude/steeltec/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995" y="201899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69480" y="1828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Antivirüs / EDR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0" y="26517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Antivirüs bilinen zararlıları yakalar. EDR (uç nokta tespit/müdahale) şüpheli davranışı da izler ve IT'ye alarm verir.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0" y="374904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Koruma yazılımını KAPATMA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Uyarı çıkınca IT'ye bildir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tarama planını bozma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 testlere bak: av-test.org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 · MOBIL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 Cihaz Güvenliği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pho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896112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1" descr="/home/claude/steeltec/icons/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23" y="2058863"/>
            <a:ext cx="289682" cy="28968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Ekran kilidi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96112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PIN/biyometrik + otomatik kilit şart.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416552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8"/>
          <p:cNvSpPr/>
          <p:nvPr/>
        </p:nvSpPr>
        <p:spPr>
          <a:xfrm>
            <a:off x="4672584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2" descr="/home/claude/steeltec/icons/downloa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495" y="2058863"/>
            <a:ext cx="289682" cy="28968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76672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Resmî mağaza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672584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Uygulamayı yalnızca App Store/Play'den kur.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193024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2"/>
          <p:cNvSpPr/>
          <p:nvPr/>
        </p:nvSpPr>
        <p:spPr>
          <a:xfrm>
            <a:off x="8449056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3" descr="/home/claude/steeltec/icons/togg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5967" y="2058863"/>
            <a:ext cx="289682" cy="28968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53144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İzinler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449056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izinlerini gözden geçir (konum, mikrofon).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40080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6"/>
          <p:cNvSpPr/>
          <p:nvPr/>
        </p:nvSpPr>
        <p:spPr>
          <a:xfrm>
            <a:off x="896112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3" name="Image 4" descr="/home/claude/steeltec/icons/wifi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023" y="4235135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00200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Halka açık Wi-Fi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896112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Güvenmediğin ağda hassas işlem yapma.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416552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0"/>
          <p:cNvSpPr/>
          <p:nvPr/>
        </p:nvSpPr>
        <p:spPr>
          <a:xfrm>
            <a:off x="4672584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8" name="Image 5" descr="/home/claude/steeltec/icons/envelop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9495" y="4235135"/>
            <a:ext cx="289682" cy="28968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376672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Smishing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4672584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Sahte SMS bağlantılarına tıklama.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8193024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2" name="Shape 24"/>
          <p:cNvSpPr/>
          <p:nvPr/>
        </p:nvSpPr>
        <p:spPr>
          <a:xfrm>
            <a:off x="8449056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3" name="Image 6" descr="/home/claude/steeltec/icons/magnify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05967" y="4235135"/>
            <a:ext cx="289682" cy="28968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153144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Kayıp/çalıntı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8449056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Uzaktan kilitle/sil özelliğini önceden aç.</a:t>
            </a:r>
            <a:endParaRPr lang="en-US" sz="1150" dirty="0"/>
          </a:p>
        </p:txBody>
      </p:sp>
      <p:sp>
        <p:nvSpPr>
          <p:cNvPr id="36" name="Text 27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 · WEB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mi HTTPS mi? Güvenli Tarama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349240" cy="548640"/>
          </a:xfrm>
          <a:prstGeom prst="roundRect">
            <a:avLst>
              <a:gd name="adj" fmla="val 20000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349240" cy="274320"/>
          </a:xfrm>
          <a:prstGeom prst="rect">
            <a:avLst/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/home/claude/steeltec/icons/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645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  —  şifreli, kilitli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42316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 'https://' ve kilit simgesiyle başlar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Trafik şifreli — dinlenemez/değiştirilemez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Bankacılık/giriş için ZORUNLU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Yine de: HTTPS 'güvenli site' demek DEĞİL, sadece 'şifreli' demek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645920"/>
            <a:ext cx="53492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6172200" y="1645920"/>
            <a:ext cx="5349240" cy="54864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6172200" y="1920240"/>
            <a:ext cx="534924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1" descr="/home/claude/steeltec/icons/lockope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7830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812280" y="1645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 —  şifresiz, açık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0" y="242316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açık gider; aradaki biri okuyabilir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Parola/kart girmeyin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 'Güvenli değil' uyarısı verir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Oltalama siteleri de artık HTTPS kullanabilir → kilit tek başına yetmez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502920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3"/>
          <p:cNvSpPr txBox="1"/>
          <p:nvPr/>
        </p:nvSpPr>
        <p:spPr>
          <a:xfrm>
            <a:off x="914400" y="50292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refleks: </a:t>
            </a: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Kilit simgesine değil, ALAN ADINA bakın. 'iwsteeltec.com' mı, 'iwsteeltec-giris.xyz' mi? Asıl fark orada.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 · WEB TEHDITLERI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Sahte Siteler ve Web Tuzakları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896112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1" descr="/home/claude/steeltec/icons/magnif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23" y="2058863"/>
            <a:ext cx="289682" cy="28968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Sahte alan adı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96112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microsoft.com yerine micros0ft.com (typosquatting).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416552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8"/>
          <p:cNvSpPr/>
          <p:nvPr/>
        </p:nvSpPr>
        <p:spPr>
          <a:xfrm>
            <a:off x="4672584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2" descr="/home/claude/steeltec/icons/megapho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495" y="2058863"/>
            <a:ext cx="289682" cy="28968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76672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Zararlı reklam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672584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Arama/site reklamları sahte indirmeye yönlendirir.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193024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2"/>
          <p:cNvSpPr/>
          <p:nvPr/>
        </p:nvSpPr>
        <p:spPr>
          <a:xfrm>
            <a:off x="8449056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3" descr="/home/claude/steeltec/icons/rout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5967" y="2058863"/>
            <a:ext cx="289682" cy="28968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53144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 zehirleme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449056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 sonuçlarında üste çıkan sahte 'resmî' siteler.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40080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6"/>
          <p:cNvSpPr/>
          <p:nvPr/>
        </p:nvSpPr>
        <p:spPr>
          <a:xfrm>
            <a:off x="896112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3" name="Image 4" descr="/home/claude/steeltec/icons/downloa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023" y="4235135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00200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Sahte indirme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896112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'Flash güncelle', 'sürücü indir' tuzakları.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416552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0"/>
          <p:cNvSpPr/>
          <p:nvPr/>
        </p:nvSpPr>
        <p:spPr>
          <a:xfrm>
            <a:off x="4672584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8" name="Image 5" descr="/home/claude/steeltec/icons/window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9495" y="4235135"/>
            <a:ext cx="289682" cy="28968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376672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Sahte pop-up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4672584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'Virüs bulundu, ara!' teknik destek dolandırıcılığı.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8193024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2" name="Shape 24"/>
          <p:cNvSpPr/>
          <p:nvPr/>
        </p:nvSpPr>
        <p:spPr>
          <a:xfrm>
            <a:off x="8449056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3" name="Image 6" descr="/home/claude/steeltec/icons/creditcard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05967" y="4235135"/>
            <a:ext cx="289682" cy="28968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153144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Sahte mağaza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8449056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Aşırı ucuz ürünlerle kart bilgisi toplama.</a:t>
            </a:r>
            <a:endParaRPr lang="en-US" sz="1150" dirty="0"/>
          </a:p>
        </p:txBody>
      </p:sp>
      <p:sp>
        <p:nvSpPr>
          <p:cNvPr id="36" name="Text 27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 · AĞ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Halka Açık Wi-Fi ve VPN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wifi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5349240" cy="548640"/>
          </a:xfrm>
          <a:prstGeom prst="roundRect">
            <a:avLst>
              <a:gd name="adj" fmla="val 20000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640080" y="1920240"/>
            <a:ext cx="5349240" cy="274320"/>
          </a:xfrm>
          <a:prstGeom prst="rect">
            <a:avLst/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9" name="Image 1" descr="/home/claude/steeltec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78308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1645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GÜVENLİ (YAP)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96112" y="2395728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Hassas işlemi hücresel veri/hotspot ile yap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 VPN'ini bağlan (şifreli tünel)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HTTPS sitelerde gez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ağa bağlanmayı kapat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bitince ağı 'unut'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72200" y="164592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9"/>
          <p:cNvSpPr/>
          <p:nvPr/>
        </p:nvSpPr>
        <p:spPr>
          <a:xfrm>
            <a:off x="6172200" y="1645920"/>
            <a:ext cx="5349240" cy="54864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Shape 10"/>
          <p:cNvSpPr/>
          <p:nvPr/>
        </p:nvSpPr>
        <p:spPr>
          <a:xfrm>
            <a:off x="6172200" y="1920240"/>
            <a:ext cx="534924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5" name="Image 2" descr="/home/claude/steeltec/icons/cros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78308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66560" y="1645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RİSKLİ (YAPMA)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428232" y="2395728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Wi-Fi'de bankacılık/giriş yapma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Sahte 'Ücretsiz Wi-Fi' ağlarına bağlanma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VPN'siz iş verisine erişme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paylaşımını açık bırakma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Bilinmeyen ağda parola girme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 · VERI PAYLAŞIMI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E-posta ve Dosya Paylaşımında Güvenlik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envelop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5349240" cy="548640"/>
          </a:xfrm>
          <a:prstGeom prst="roundRect">
            <a:avLst>
              <a:gd name="adj" fmla="val 20000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640080" y="1920240"/>
            <a:ext cx="5349240" cy="274320"/>
          </a:xfrm>
          <a:prstGeom prst="rect">
            <a:avLst/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9" name="Image 1" descr="/home/claude/steeltec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78308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1645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96112" y="2395728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Alıcıyı gönderMEDEN önce iki kez kontrol et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dosyayı şifreli/yetkili bağlantıyla paylaş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 alıcıda BCC kullan (adresleri gizle)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 paylaşımda sürelim/erişim sınırı koy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 gönderimi hemen IT'ye bildir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72200" y="164592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9"/>
          <p:cNvSpPr/>
          <p:nvPr/>
        </p:nvSpPr>
        <p:spPr>
          <a:xfrm>
            <a:off x="6172200" y="1645920"/>
            <a:ext cx="5349240" cy="54864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Shape 10"/>
          <p:cNvSpPr/>
          <p:nvPr/>
        </p:nvSpPr>
        <p:spPr>
          <a:xfrm>
            <a:off x="6172200" y="1920240"/>
            <a:ext cx="534924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5" name="Image 2" descr="/home/claude/steeltec/icons/cros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78308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66560" y="1645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YAPMA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428232" y="2395728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tamamlanan yanlış alıcıya güvenme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veriyi kişisel e-postana atma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Hassas dosyayı herkese açık link yapma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Şifreyi dosyayla aynı e-postada gönderme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Bilinmeyen bulut/aktarım sitesi kullanma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 · SOSYAL MEDYA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Sosyal Medya ve Aşırı Paylaşım (Oversharing)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Paylaştığınız her detay, saldırganın 'keşif' malzemesidir. Hedefli oltalama tam da bu bilgilerle hazırlanır.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/home/claude/steeltec/icons/idc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591" y="2442911"/>
            <a:ext cx="289682" cy="28968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72768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Kimlik ipuçları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572768" y="24505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Doğum tarihi, memleket → parola/güvenlik sorusu tahmini.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16552" y="19202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4645152" y="2286000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2" name="Image 1" descr="/home/claude/steeltec/icons/build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063" y="2442911"/>
            <a:ext cx="289682" cy="28968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4924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İş detayları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5349240" y="24505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Ünvan, ekip, proje → hedefli 'CEO' dolandırıcılığı.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93024" y="19202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Shape 12"/>
          <p:cNvSpPr/>
          <p:nvPr/>
        </p:nvSpPr>
        <p:spPr>
          <a:xfrm>
            <a:off x="8421624" y="2286000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7" name="Image 2" descr="/home/claude/steeltec/icons/glob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8535" y="2442911"/>
            <a:ext cx="289682" cy="28968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125712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Konum/seyahat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9125712" y="24505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'Tatildeyim' paylaşımı → ev/ofis boş sinyali.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3493008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6"/>
          <p:cNvSpPr/>
          <p:nvPr/>
        </p:nvSpPr>
        <p:spPr>
          <a:xfrm>
            <a:off x="868680" y="3858768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2" name="Image 3" descr="/home/claude/steeltec/icons/idc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591" y="4015679"/>
            <a:ext cx="289682" cy="28968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572768" y="3675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Yaka kartı/ekran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1572768" y="40233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Fotoğraftaki kart, ekran, pano → bilgi sızıntısı.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416552" y="3493008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Shape 20"/>
          <p:cNvSpPr/>
          <p:nvPr/>
        </p:nvSpPr>
        <p:spPr>
          <a:xfrm>
            <a:off x="4645152" y="3858768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7" name="Image 4" descr="/home/claude/steeltec/icons/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2063" y="4015679"/>
            <a:ext cx="289682" cy="28968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349240" y="3675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Arkadaş taklidi</a:t>
            </a:r>
            <a:endParaRPr lang="en-US" sz="1350" dirty="0"/>
          </a:p>
        </p:txBody>
      </p:sp>
      <p:sp>
        <p:nvSpPr>
          <p:cNvPr id="29" name="Text 22"/>
          <p:cNvSpPr txBox="1"/>
          <p:nvPr/>
        </p:nvSpPr>
        <p:spPr>
          <a:xfrm>
            <a:off x="5349240" y="40233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Klon hesaplar → tanıdık gibi görünüp güven kazanma.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93024" y="3493008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1" name="Shape 24"/>
          <p:cNvSpPr/>
          <p:nvPr/>
        </p:nvSpPr>
        <p:spPr>
          <a:xfrm>
            <a:off x="8421624" y="3858768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2" name="Image 5" descr="/home/claude/steeltec/icons/magnify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8535" y="4015679"/>
            <a:ext cx="289682" cy="28968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125712" y="3675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Birleştirme</a:t>
            </a:r>
            <a:endParaRPr lang="en-US" sz="1350" dirty="0"/>
          </a:p>
        </p:txBody>
      </p:sp>
      <p:sp>
        <p:nvSpPr>
          <p:cNvPr id="34" name="Text 26"/>
          <p:cNvSpPr txBox="1"/>
          <p:nvPr/>
        </p:nvSpPr>
        <p:spPr>
          <a:xfrm>
            <a:off x="9125712" y="40233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bilgiler birleşince tam profil oluşur.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40080" y="512064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E4F3E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Text 28"/>
          <p:cNvSpPr txBox="1"/>
          <p:nvPr/>
        </p:nvSpPr>
        <p:spPr>
          <a:xfrm>
            <a:off x="914400" y="51206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Yap: </a:t>
            </a: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Gizlilik ayarlarını sık; iş bilgisi/yaka kartı/ekran paylaşımından kaçın; tanımadığın bağlantı isteklerini reddet.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 · BULUT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Bulut ve Yedekleme Güvenliği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clou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20189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828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Bulutta veri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5176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kurum onaylı bulutu (ör. M365) kullan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Paylaşımda 'herkese açık link' yerine kişiye özel yetki ver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Paylaşım izinlerini periyodik gözden geçir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hesabına mutlaka MFA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 bulut hesabına iş verisi koyma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6400800" y="1828800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steeltec/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995" y="201899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1828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Yedekleme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26517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Yedek, fidye yazılımına ve donanım arızasına karşı en sağlam sigortadır. 3-2-1 kuralını hatırlayın.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0" y="35204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veriyi düzenli yedekle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Yedeğin geri yüklenebildiğini test et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az bir kopya çevrimdışı/tesis dışı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Yedekleri de şifrele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 · FIZIKSEL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Temiz Masa ve Temiz Ekran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96112" y="1965960"/>
            <a:ext cx="585216" cy="58521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68" y="2118116"/>
            <a:ext cx="280904" cy="2809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72768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Ekranı kilitle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651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Masadan kalkarken Win+L. Her seferinde.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16552" y="16916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672584" y="1965960"/>
            <a:ext cx="585216" cy="58521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steeltec/icons/fi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740" y="2118116"/>
            <a:ext cx="280904" cy="2809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Masayı topla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672584" y="2651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evrakı ortada bırakma, kilitli çekmeceye koy.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93024" y="16916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8449056" y="1965960"/>
            <a:ext cx="585216" cy="58521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/home/claude/steeltec/icons/tras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1212" y="2118116"/>
            <a:ext cx="280904" cy="28090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25712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Güvenli imha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449056" y="2651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Hassas kağıdı öğütücüde imha et, çöpe atma.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730752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896112" y="4005072"/>
            <a:ext cx="585216" cy="58521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/home/claude/steeltec/icons/idcar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268" y="4157228"/>
            <a:ext cx="280904" cy="28090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72768" y="40050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Yaka kartı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96112" y="46908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Kartını tak, başkasına ödünç verme.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16552" y="3730752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19"/>
          <p:cNvSpPr/>
          <p:nvPr/>
        </p:nvSpPr>
        <p:spPr>
          <a:xfrm>
            <a:off x="4672584" y="4005072"/>
            <a:ext cx="585216" cy="58521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6" name="Image 4" descr="/home/claude/steeltec/icons/qrcod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4740" y="4157228"/>
            <a:ext cx="280904" cy="28090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49240" y="40050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Yazıcı/tarayıcı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672584" y="46908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Çıktıyı unutma; ortak yazıcıda 'güvenli yazdır'.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93024" y="3730752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3"/>
          <p:cNvSpPr/>
          <p:nvPr/>
        </p:nvSpPr>
        <p:spPr>
          <a:xfrm>
            <a:off x="8449056" y="4005072"/>
            <a:ext cx="585216" cy="58521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1" name="Image 5" descr="/home/claude/steeltec/icons/usb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1212" y="4157228"/>
            <a:ext cx="280904" cy="28090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25712" y="40050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USB/medya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8449056" y="46908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Başıboş USB'yi takma; teslim et.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 · UZAKTAN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Evden / Sahada Güvenli Çalışma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build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5349240" cy="548640"/>
          </a:xfrm>
          <a:prstGeom prst="roundRect">
            <a:avLst>
              <a:gd name="adj" fmla="val 20000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640080" y="1920240"/>
            <a:ext cx="5349240" cy="274320"/>
          </a:xfrm>
          <a:prstGeom prst="rect">
            <a:avLst/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9" name="Image 1" descr="/home/claude/steeltec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78308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1645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96112" y="2395728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 VPN'i ile bağlan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Wi-Fi'sine güçlü parola + WPA3/WPA2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cihazını aile bireyleriyle paylaşma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Toplantıda arka planına/ekranına dikkat et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Kağıt/çıktıları evde de güvenli sakla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72200" y="164592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9"/>
          <p:cNvSpPr/>
          <p:nvPr/>
        </p:nvSpPr>
        <p:spPr>
          <a:xfrm>
            <a:off x="6172200" y="1645920"/>
            <a:ext cx="5349240" cy="54864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Shape 10"/>
          <p:cNvSpPr/>
          <p:nvPr/>
        </p:nvSpPr>
        <p:spPr>
          <a:xfrm>
            <a:off x="6172200" y="1920240"/>
            <a:ext cx="534924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5" name="Image 2" descr="/home/claude/steeltec/icons/cros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78308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66560" y="1645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YAPMA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428232" y="2395728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verisini kişisel cihaza indirme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Ortak/açık ağda VPN'siz çalışma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Ekranı kilitsiz bırakıp uzaklaşma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Toplantı linkini herkese açık paylaşma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asistan yanında gizli konuşma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 · VERI KORUMA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Şifreleme — Veriyi Anlaşılmaz Kılmak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Şifreleme, veri çalınsa bile okunamaz hale getirir. İki yerde kritiktir: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4924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868680" y="2121408"/>
            <a:ext cx="658368" cy="65836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/home/claude/steeltec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56" y="2292584"/>
            <a:ext cx="316017" cy="31601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212140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Durağan veri (at rest)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97180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şifreleme: BitLocker (Windows), FileVault (Mac)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Şifreli USB ve şifreli yedekler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Telefonda cihaz şifrelemesi açık olsun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349240" cy="2788920"/>
          </a:xfrm>
          <a:prstGeom prst="roundRect">
            <a:avLst>
              <a:gd name="adj" fmla="val 3934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6400800" y="2121408"/>
            <a:ext cx="658368" cy="65836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2" name="Image 1" descr="/home/claude/steeltec/icons/glob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976" y="2292584"/>
            <a:ext cx="316017" cy="31601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23760" y="212140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Aktarımdaki veri (in transit)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6400800" y="297180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ile web trafiği şifreli gider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VPN: kurum ağına şifreli tünel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Şifreli e-posta / güvenli dosya paylaşımı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8920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Shape 12"/>
          <p:cNvSpPr/>
          <p:nvPr/>
        </p:nvSpPr>
        <p:spPr>
          <a:xfrm>
            <a:off x="960120" y="5120640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7" name="Image 2" descr="/home/claude/steeltec/icons/ke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766" y="526328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37360" y="48920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kural: </a:t>
            </a: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Kilit simgesi + kurum VPN'i + BitLocker açık. Teknik detayları IT yönetir; sizin işiniz bunları kapatmamak.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 · ENDÜSTRIYEL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Üretim ve OT / Endüstriyel Sistem Güvenliği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çelik/üretim tesisinde saldırı yalnızca veriyi değil, üretim hatlarını ve iş güvenliğini de tehdit eder. Operasyonel teknoloji (OT) korunmalıdır.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896112" y="2194560"/>
            <a:ext cx="585216" cy="585216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/home/claude/steeltec/icons/netwo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68" y="2346716"/>
            <a:ext cx="280904" cy="28090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72768" y="2194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Ağ ayrımı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283464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 (OT) ağı ile ofis (IT) ağı birbirinden ayrık olmalı.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416552" y="192024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4672584" y="2194560"/>
            <a:ext cx="585216" cy="585216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2" name="Image 1" descr="/home/claude/steeltec/icons/us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740" y="2346716"/>
            <a:ext cx="280904" cy="28090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49240" y="2194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USB disiplini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672584" y="283464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cihazlarına rastgele USB takılmaz; yalnızca onaylı medya.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8193024" y="192024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Shape 12"/>
          <p:cNvSpPr/>
          <p:nvPr/>
        </p:nvSpPr>
        <p:spPr>
          <a:xfrm>
            <a:off x="8449056" y="2194560"/>
            <a:ext cx="585216" cy="585216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7" name="Image 2" descr="/home/claude/steeltec/icons/gea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1212" y="2346716"/>
            <a:ext cx="280904" cy="2809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125712" y="2194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PLC / SCADA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8449056" y="283464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sistemlerine erişim sınırlı ve izlenir olmalı.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640080" y="3831336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6"/>
          <p:cNvSpPr/>
          <p:nvPr/>
        </p:nvSpPr>
        <p:spPr>
          <a:xfrm>
            <a:off x="896112" y="4105656"/>
            <a:ext cx="585216" cy="585216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2" name="Image 3" descr="/home/claude/steeltec/icons/wrench2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268" y="4257812"/>
            <a:ext cx="280904" cy="28090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572768" y="41056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Uzaktan bakım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896112" y="474573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Tedarikçi uzaktan erişimi kontrollü, geçici ve loglanır.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4416552" y="3831336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Shape 20"/>
          <p:cNvSpPr/>
          <p:nvPr/>
        </p:nvSpPr>
        <p:spPr>
          <a:xfrm>
            <a:off x="4672584" y="4105656"/>
            <a:ext cx="585216" cy="585216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7" name="Image 4" descr="/home/claude/steeltec/icons/lo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4740" y="4257812"/>
            <a:ext cx="280904" cy="28090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349240" y="41056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Fiziksel erişim</a:t>
            </a:r>
            <a:endParaRPr lang="en-US" sz="1350" dirty="0"/>
          </a:p>
        </p:txBody>
      </p:sp>
      <p:sp>
        <p:nvSpPr>
          <p:cNvPr id="29" name="Text 22"/>
          <p:cNvSpPr txBox="1"/>
          <p:nvPr/>
        </p:nvSpPr>
        <p:spPr>
          <a:xfrm>
            <a:off x="4672584" y="474573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Pano, saha ve kontrol odalarına yetkisiz giriş engellenir.</a:t>
            </a:r>
            <a:endParaRPr lang="en-US" sz="1080" dirty="0"/>
          </a:p>
        </p:txBody>
      </p:sp>
      <p:sp>
        <p:nvSpPr>
          <p:cNvPr id="30" name="Shape 23"/>
          <p:cNvSpPr/>
          <p:nvPr/>
        </p:nvSpPr>
        <p:spPr>
          <a:xfrm>
            <a:off x="8193024" y="3831336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1" name="Shape 24"/>
          <p:cNvSpPr/>
          <p:nvPr/>
        </p:nvSpPr>
        <p:spPr>
          <a:xfrm>
            <a:off x="8449056" y="4105656"/>
            <a:ext cx="585216" cy="585216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2" name="Image 5" descr="/home/claude/steeltec/icons/warning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1212" y="4257812"/>
            <a:ext cx="280904" cy="28090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125712" y="41056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Değişiklik yönetimi</a:t>
            </a:r>
            <a:endParaRPr lang="en-US" sz="1350" dirty="0"/>
          </a:p>
        </p:txBody>
      </p:sp>
      <p:sp>
        <p:nvSpPr>
          <p:cNvPr id="34" name="Text 26"/>
          <p:cNvSpPr txBox="1"/>
          <p:nvPr/>
        </p:nvSpPr>
        <p:spPr>
          <a:xfrm>
            <a:off x="8449056" y="474573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 sistemine yama/değişiklik planlı ve onaylı yapılır.</a:t>
            </a:r>
            <a:endParaRPr lang="en-US" sz="1080" dirty="0"/>
          </a:p>
        </p:txBody>
      </p:sp>
      <p:sp>
        <p:nvSpPr>
          <p:cNvPr id="35" name="Shape 27"/>
          <p:cNvSpPr/>
          <p:nvPr/>
        </p:nvSpPr>
        <p:spPr>
          <a:xfrm>
            <a:off x="640080" y="5532120"/>
            <a:ext cx="10881360" cy="384048"/>
          </a:xfrm>
          <a:prstGeom prst="roundRect">
            <a:avLst>
              <a:gd name="adj" fmla="val 23810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Text 28"/>
          <p:cNvSpPr txBox="1"/>
          <p:nvPr/>
        </p:nvSpPr>
        <p:spPr>
          <a:xfrm>
            <a:off x="914400" y="55321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Sahadaki herkes: </a:t>
            </a:r>
            <a:r>
              <a:rPr lang="en-US" sz="12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tanımadığın cihazı takma, bilinmeyen kişiyi sahaya alma, tuhaf durumu üretim ve IT'ye bildir.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 · GIZLILIK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Gizlilik ve İzlenme (Anonimlik)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96112" y="1965960"/>
            <a:ext cx="585216" cy="58521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68" y="2118116"/>
            <a:ext cx="280904" cy="2809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72768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Çerezler &amp; izleyiciler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62432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Siteler gezinmenizi çerez ve piksellerle izler.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416552" y="16916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672584" y="1965960"/>
            <a:ext cx="585216" cy="58521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steeltec/icons/fingerprin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740" y="2118116"/>
            <a:ext cx="280904" cy="2809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Tarayıcı parmak izi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672584" y="262432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Cihaz + tarayıcı ayarlarınız sizi 'benzersiz' kılar.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93024" y="16916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8449056" y="1965960"/>
            <a:ext cx="585216" cy="58521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/home/claude/steeltec/icons/glob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1212" y="2118116"/>
            <a:ext cx="280904" cy="28090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25712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&amp; konum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449056" y="262432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adresiniz yaklaşık konum ve kimlik ipucu verir.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40080" y="3648456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896112" y="3922776"/>
            <a:ext cx="585216" cy="58521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/home/claude/steeltec/icons/mas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268" y="4074932"/>
            <a:ext cx="280904" cy="28090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72768" y="392277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VPN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896112" y="458114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Trafiği şifreler, IP'nizi gizler (önce kurum VPN'i).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416552" y="3648456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19"/>
          <p:cNvSpPr/>
          <p:nvPr/>
        </p:nvSpPr>
        <p:spPr>
          <a:xfrm>
            <a:off x="4672584" y="3922776"/>
            <a:ext cx="585216" cy="58521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6" name="Image 4" descr="/home/claude/steeltec/icons/ba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4740" y="4074932"/>
            <a:ext cx="280904" cy="28090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49240" y="392277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İzleme engelleme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672584" y="458114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 gizlilik ayarları ve izleyici engelleyiciler.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8193024" y="3648456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3"/>
          <p:cNvSpPr/>
          <p:nvPr/>
        </p:nvSpPr>
        <p:spPr>
          <a:xfrm>
            <a:off x="8449056" y="3922776"/>
            <a:ext cx="585216" cy="58521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1" name="Image 5" descr="/home/claude/steeltec/icons/user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1212" y="4074932"/>
            <a:ext cx="280904" cy="28090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25712" y="392277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Dijital ayak izi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449056" y="458114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Paylaştığınız her şey kalıcı bir iz bırakır.</a:t>
            </a:r>
            <a:endParaRPr lang="en-US" sz="108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anonimlik neredeyse imkânsızdır; hedef 'gereksiz izi azaltmak'. Sıradaki demoda tarayıcınızın sizi nasıl ele verdiğini göreceğiz.</a:t>
            </a:r>
            <a:endParaRPr lang="en-US" sz="1150" dirty="0"/>
          </a:p>
        </p:txBody>
      </p:sp>
      <p:sp>
        <p:nvSpPr>
          <p:cNvPr id="35" name="Text 27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CANLI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 · UYGULAMALI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Tarayıcınız Sizi Nasıl Ele Veriyor?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777240" y="1572768"/>
            <a:ext cx="384048" cy="38404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0" descr="/home/claude/steeltec/icons/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642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14813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coveryourtracks.eff.org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240280"/>
            <a:ext cx="640080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868680" y="2423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DERSTE BİRLİKTE YAPALIM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2816352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EFF'in aracını açın; 'Test Your Browser' butonuna basın.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Tarayıcınızın 'parmak izinin' ne kadar benzersiz olduğunu görün.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İzleyicileri engelleyip engellemediğini birlikte inceleyin.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Gizlilik ayarı/eklentisiyle sonucun nasıl değiştiğini konuşun.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223760" y="2240280"/>
            <a:ext cx="4297680" cy="3063240"/>
          </a:xfrm>
          <a:prstGeom prst="roundRect">
            <a:avLst>
              <a:gd name="adj" fmla="val 358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745236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GÖRECEĞIZ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452360" y="2816352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Tarayıcınızın benzersizlik skoru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izleyicilerin geçebildiği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Gizliliği artırmak için ipuçları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544068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Shape 14"/>
          <p:cNvSpPr/>
          <p:nvPr/>
        </p:nvSpPr>
        <p:spPr>
          <a:xfrm>
            <a:off x="822960" y="5541264"/>
            <a:ext cx="457200" cy="45720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660136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463040" y="544068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İpucu: </a:t>
            </a: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 paranoya değil farkındalık: küçük ayarlar (izleyici engelleyici, gizlilik ayarları) dijital izinizi azaltır.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CANLI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 · UYGULAMALI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Sitenin Güvenlik Karnesini Görelim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777240" y="1572768"/>
            <a:ext cx="384048" cy="38404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0" descr="/home/claude/steeltec/icons/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642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14813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safebrowsing: transparencyreport.google.com  ·  securityheaders.com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240280"/>
            <a:ext cx="640080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868680" y="2423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DERSTE BİRLİKTE YAPALIM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2816352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Safe Browsing site durumunda bir alan adı sorgulayın: güvenli mi?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securityheaders.com ile bir sitenin güvenlik başlıklarına verilen notu görün.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İleri düzey: ssllabs.com/ssltest ile HTTPS/sertifika karnesine bakın.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kurumsal sitenizi de birlikte kontrol edin.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223760" y="2240280"/>
            <a:ext cx="4297680" cy="3063240"/>
          </a:xfrm>
          <a:prstGeom prst="roundRect">
            <a:avLst>
              <a:gd name="adj" fmla="val 358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745236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GÖRECEĞIZ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452360" y="2816352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Sitenin bilinen zararlı olup olmadığı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Sitenin güvenlik yapılandırma notu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HTTPS/sertifikanın sağlamlığı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544068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Shape 14"/>
          <p:cNvSpPr/>
          <p:nvPr/>
        </p:nvSpPr>
        <p:spPr>
          <a:xfrm>
            <a:off x="822960" y="5541264"/>
            <a:ext cx="457200" cy="45720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660136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463040" y="544068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İpucu: </a:t>
            </a: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'Kilit var' demek yetmez; bu araçlar sitenin gerçekten iyi yapılandırılıp yapılandırılmadığını ölçülebilir kılar.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182880"/>
            <a:ext cx="40233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73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steeltec/icons/sca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6" y="2376526"/>
            <a:ext cx="504749" cy="5047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6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033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KVKK, 5651 ve</a:t>
            </a:r>
            <a:endParaRPr lang="en-US" sz="38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Hukuki Sorumluluklar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6 · KVKK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KVKK (6698) — Kişisel Veriyi Korumak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7665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868680" y="181051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Kişisel veri nedir?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12848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Kimliği belirli/belirlenebilir bir kişiye ait her bilgi: ad-soyad, TC no, telefon, e-posta, adres, fotoğraf, IP, sağlık, özlük…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175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4E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Çalışan olarak sorumluluğunuz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29000"/>
            <a:ext cx="6309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işin için gereken veriye eriş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 dışı kullanma, kopyalama, dışarı çıkarma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Müşteri/çalışan verisini korumakla yükümlüsün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Şüpheli erişim/sızıntıyı hemen bildir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'Özel nitelikli' veride (sağlık vb.) ekstra dikkat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35240" y="1600200"/>
            <a:ext cx="3886200" cy="4206240"/>
          </a:xfrm>
          <a:prstGeom prst="roundRect">
            <a:avLst>
              <a:gd name="adj" fmla="val 2824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 txBox="1"/>
          <p:nvPr/>
        </p:nvSpPr>
        <p:spPr>
          <a:xfrm>
            <a:off x="7863840" y="18105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İLKELER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240280"/>
            <a:ext cx="3474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Hukuka uygunluk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Belirli, açık, meşru amaç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Amaçla sınırlı, ölçülü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ve güncel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Gerektiği kadar saklama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Güvenliğini sağlama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6 · İHLAL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İhlali Olursa: Zamanında Bildirim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766560" cy="2377440"/>
          </a:xfrm>
          <a:prstGeom prst="roundRect">
            <a:avLst>
              <a:gd name="adj" fmla="val 4615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731520" cy="7315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20189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8288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kısa sürede bildirim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517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 veri ihlalinde (sızıntı, kayıp, yetkisiz erişim), Kurul'a ve ilgili kişilere en kısa sürede bildirim yapılması gerekir. Geç bildirim idari para cezasıyla sonuçlanabilir.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635240" y="1600200"/>
            <a:ext cx="38862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 txBox="1"/>
          <p:nvPr/>
        </p:nvSpPr>
        <p:spPr>
          <a:xfrm>
            <a:off x="786384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SİZİN ADIMINIZ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21488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İhlalden şüphelenirsen SAKLAMA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Hemen IT/KVKK sorumlusuna bildir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Kanıtı bozma, sistemi kapatma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 işliyor — hız kritik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41605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1" descr="/home/claude/steeltec/icons/glob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6110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34440" y="4160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Resmî bildirim portalı:  </a:t>
            </a:r>
            <a:r>
              <a:rPr lang="en-US" sz="1300" b="1" dirty="0">
                <a:solidFill>
                  <a:srgbClr val="FF6A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ihlalbildirim.kvkk.gov.tr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484632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örnekler (kamuya açık KVKK duyuruları): büyük ölçekli müşteri verisi sızıntıları ve fidye yazılımı kaynaklı ihlaller düzenli olarak Kurul'a bildirilip yayımlanıyor. İhlaller genellikle tek bir çalışan hatasıyla (oltalama tıklaması, yanlış paylaşım) başlıyor.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6 · 5651 VE KAVRAMLAR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5651 Kanunu, Loglama ve Temel Terimler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96112" y="1965960"/>
            <a:ext cx="585216" cy="585216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fi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68" y="2118116"/>
            <a:ext cx="280904" cy="2809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72768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5651 sayılı kanun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651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ortamındaki yayınları ve erişim kayıtlarını düzenler.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416552" y="16916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672584" y="1965960"/>
            <a:ext cx="585216" cy="585216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steeltec/icons/lis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740" y="2118116"/>
            <a:ext cx="280904" cy="2809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Loglama (kayıt)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72584" y="2651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Kim, ne zaman, neye erişti — iz kayıtlarının tutulması.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93024" y="16916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8449056" y="1965960"/>
            <a:ext cx="585216" cy="585216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/home/claude/steeltec/icons/c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1212" y="2118116"/>
            <a:ext cx="280904" cy="28090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25712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Zaman damgalı hash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449056" y="2651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Kaydın belli bir anda değişmeden var olduğunu kanıtlar.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40080" y="3694176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896112" y="3968496"/>
            <a:ext cx="585216" cy="585216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/home/claude/steeltec/icons/lockope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268" y="4120652"/>
            <a:ext cx="280904" cy="28090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72768" y="396849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Açıklık / zafiyet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896112" y="465429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Sömürülebilir güvenlik zayıflığı; yamayla kapatılır.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416552" y="3694176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19"/>
          <p:cNvSpPr/>
          <p:nvPr/>
        </p:nvSpPr>
        <p:spPr>
          <a:xfrm>
            <a:off x="4672584" y="3968496"/>
            <a:ext cx="585216" cy="585216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6" name="Image 4" descr="/home/claude/steeltec/icons/shiel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4740" y="4120652"/>
            <a:ext cx="280904" cy="28090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49240" y="396849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İz bütünlüğü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4672584" y="465429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Logların sonradan değiştirilmediğinin güvence altına alınması.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8193024" y="3694176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3"/>
          <p:cNvSpPr/>
          <p:nvPr/>
        </p:nvSpPr>
        <p:spPr>
          <a:xfrm>
            <a:off x="8449056" y="3968496"/>
            <a:ext cx="585216" cy="585216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1" name="Image 5" descr="/home/claude/steeltec/icons/scal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1212" y="4120652"/>
            <a:ext cx="280904" cy="28090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25712" y="396849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Uyum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8449056" y="465429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Yasal kayıt/saklama yükümlülüklerine uygun davranmak.</a:t>
            </a:r>
            <a:endParaRPr lang="en-US" sz="108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terimler teknik ekiplerin işidir; sizin için önemli olan: kayıtlar tutuluyor, iş cihazındaki her hareket iz bırakır. Bu yüzden iş kaynaklarını yalnızca meşru amaçla kullanın.</a:t>
            </a:r>
            <a:endParaRPr lang="en-US" sz="1150" dirty="0"/>
          </a:p>
        </p:txBody>
      </p:sp>
      <p:sp>
        <p:nvSpPr>
          <p:cNvPr id="35" name="Text 27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CANLI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6 · UYGULAMALI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Gerçek İhlaller — KVKK Duyurularını İnceleyelim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777240" y="1572768"/>
            <a:ext cx="384048" cy="38404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0" descr="/home/claude/steeltec/icons/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642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14813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kvkk.gov.tr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240280"/>
            <a:ext cx="640080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868680" y="2423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DERSTE BİRLİKTE YAPALIM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2816352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kvkk.gov.tr sitesini açın; 'Veri İhlali Bildirimleri / Kamuoyu Duyuruları' bölümüne gidin.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Yayımlanmış birkaç gerçek ihlal duyurusunu birlikte okuyun.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İhlalin nasıl başladığına dikkat edin (çoğu insan hatası).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ihlalbildirim.kvkk.gov.tr bildirim akışını genel hatlarıyla görün.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223760" y="2240280"/>
            <a:ext cx="4297680" cy="3063240"/>
          </a:xfrm>
          <a:prstGeom prst="roundRect">
            <a:avLst>
              <a:gd name="adj" fmla="val 358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745236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GÖRECEĞIZ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452360" y="2816352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şirketlerde ne tür ihlaller oldu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 kişi etkilendi, hangi veriler sızdı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İhlalin çoğu neden 'küçük bir hatayla' başlıyor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544068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Shape 14"/>
          <p:cNvSpPr/>
          <p:nvPr/>
        </p:nvSpPr>
        <p:spPr>
          <a:xfrm>
            <a:off x="822960" y="5541264"/>
            <a:ext cx="457200" cy="45720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660136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463040" y="544068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İpucu: </a:t>
            </a: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 şirketleri yargılamak değil; aynı hataların bize de olabileceğini görüp ders çıkarmak. Bu duyurular herkese açıktır.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182880"/>
            <a:ext cx="40233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73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steeltec/icons/megapho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6" y="2376526"/>
            <a:ext cx="504749" cy="5047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7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033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Olay Bildirimi ve</a:t>
            </a:r>
            <a:endParaRPr lang="en-US" sz="38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Güvenlik Kültürü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7 · REFLEKS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Olayı Fark Ettin: Ne, Kime, Nasıl?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magnif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20866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938528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bir olaydır?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74320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Şüpheli e-posta / tıkladığın bağlantı</a:t>
            </a:r>
            <a:endParaRPr lang="en-US" sz="1200" dirty="0"/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Kayıp/çalıntı cihaz, kart</a:t>
            </a:r>
            <a:endParaRPr lang="en-US" sz="1200" dirty="0"/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Beklenmedik parola/MFA istekleri</a:t>
            </a:r>
            <a:endParaRPr lang="en-US" sz="1200" dirty="0"/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Cihazın tuhaf davranması, yavaşlama</a:t>
            </a:r>
            <a:endParaRPr lang="en-US" sz="1200" dirty="0"/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 kişiye giden gizli veri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34840" y="164592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709160" y="1920240"/>
            <a:ext cx="640080" cy="640080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steeltec/icons/megapho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5581" y="20866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1938528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KİME bildirilir?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274320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IT / BT Güvenlik ekibi</a:t>
            </a:r>
            <a:endParaRPr lang="en-US" sz="1200" dirty="0"/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KVKK/veri sorumlusu (kişisel veri ise)</a:t>
            </a:r>
            <a:endParaRPr lang="en-US" sz="1200" dirty="0"/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Yöneticin (bilgilendirme)</a:t>
            </a:r>
            <a:endParaRPr lang="en-US" sz="1200" dirty="0"/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Acil durumda telefonla da ara</a:t>
            </a:r>
            <a:endParaRPr lang="en-US" sz="1200" dirty="0"/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Emin değilsen yine de bildir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164592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8503920" y="1920240"/>
            <a:ext cx="640080" cy="640080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/home/claude/steeltec/icons/c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0341" y="208666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281160" y="1938528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NASIL / ne zaman?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503920" y="274320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HEMEN — dakikalar önemli</a:t>
            </a:r>
            <a:endParaRPr lang="en-US" sz="1200" dirty="0"/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Kanıtı bozma, silme, düzeltme</a:t>
            </a:r>
            <a:endParaRPr lang="en-US" sz="1200" dirty="0"/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olduğunu kısaca not et</a:t>
            </a:r>
            <a:endParaRPr lang="en-US" sz="1200" dirty="0"/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Cihazı gerekiyorsa ağdan ayır</a:t>
            </a:r>
            <a:endParaRPr lang="en-US" sz="1200" dirty="0"/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Talimat gelene dek işlem yapma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7 · 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Masaüstü Tatbikat — Sen Olsan Ne Yaparsın?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914400" y="1984248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envelop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311" y="2141159"/>
            <a:ext cx="289682" cy="2896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947672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Durum: </a:t>
            </a: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“Müdürden” acil havale e-postası, gizli tutmanı istiyor.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14400" y="2862072"/>
            <a:ext cx="4800600" cy="566928"/>
          </a:xfrm>
          <a:prstGeom prst="roundRect">
            <a:avLst>
              <a:gd name="adj" fmla="val 9677"/>
            </a:avLst>
          </a:prstGeom>
          <a:solidFill>
            <a:srgbClr val="E4F3E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 txBox="1"/>
          <p:nvPr/>
        </p:nvSpPr>
        <p:spPr>
          <a:xfrm>
            <a:off x="1051560" y="286207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İkinci kanaldan (telefon) doğrula. Süreç dışı ödeme yapma.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55080" y="169164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6629400" y="1984248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2" name="Image 1" descr="/home/claude/steeltec/icons/us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311" y="2141159"/>
            <a:ext cx="289682" cy="28968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06640" y="1947672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Durum: </a:t>
            </a: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Otoparkta 'Bordro 2026' yazan bir USB buldun.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629400" y="2862072"/>
            <a:ext cx="4800600" cy="566928"/>
          </a:xfrm>
          <a:prstGeom prst="roundRect">
            <a:avLst>
              <a:gd name="adj" fmla="val 9677"/>
            </a:avLst>
          </a:prstGeom>
          <a:solidFill>
            <a:srgbClr val="E4F3E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1"/>
          <p:cNvSpPr txBox="1"/>
          <p:nvPr/>
        </p:nvSpPr>
        <p:spPr>
          <a:xfrm>
            <a:off x="6766560" y="286207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Takma. IT'ye teslim et. Merak en büyük tuzaktır.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3822192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3"/>
          <p:cNvSpPr/>
          <p:nvPr/>
        </p:nvSpPr>
        <p:spPr>
          <a:xfrm>
            <a:off x="914400" y="4114800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2" descr="/home/claude/steeltec/icons/pho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311" y="4271711"/>
            <a:ext cx="289682" cy="28968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91640" y="4078224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Durum: </a:t>
            </a: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IT'den arayan biri MFA kodunu söylemeni istiyor.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14400" y="4992624"/>
            <a:ext cx="4800600" cy="566928"/>
          </a:xfrm>
          <a:prstGeom prst="roundRect">
            <a:avLst>
              <a:gd name="adj" fmla="val 9677"/>
            </a:avLst>
          </a:prstGeom>
          <a:solidFill>
            <a:srgbClr val="E4F3E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6"/>
          <p:cNvSpPr txBox="1"/>
          <p:nvPr/>
        </p:nvSpPr>
        <p:spPr>
          <a:xfrm>
            <a:off x="1051560" y="499262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Verme. Gerçek IT kodunu istemez. Kapat, IT'yi sen ara.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355080" y="3822192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18"/>
          <p:cNvSpPr/>
          <p:nvPr/>
        </p:nvSpPr>
        <p:spPr>
          <a:xfrm>
            <a:off x="6629400" y="4114800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4" name="Image 3" descr="/home/claude/steeltec/icons/window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6311" y="4271711"/>
            <a:ext cx="289682" cy="28968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06640" y="4078224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Durum: </a:t>
            </a: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Ekranda 'Virüs bulundu, bu numarayı ara' pop-up'ı.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6629400" y="4992624"/>
            <a:ext cx="4800600" cy="566928"/>
          </a:xfrm>
          <a:prstGeom prst="roundRect">
            <a:avLst>
              <a:gd name="adj" fmla="val 9677"/>
            </a:avLst>
          </a:prstGeom>
          <a:solidFill>
            <a:srgbClr val="E4F3E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1"/>
          <p:cNvSpPr txBox="1"/>
          <p:nvPr/>
        </p:nvSpPr>
        <p:spPr>
          <a:xfrm>
            <a:off x="6766560" y="499262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Arama, kapatma linkine basma. Tarayıcıyı kapat, IT'ye bildir.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7 · HERKES SORUMLU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 Bazlı Güvenlik Sorumlulukları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896112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1" descr="/home/claude/steeltec/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23" y="2058863"/>
            <a:ext cx="289682" cy="28968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Tüm çalışanlar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96112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Farkındalık, güçlü parola+MFA, oltalamayı bildir.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416552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8"/>
          <p:cNvSpPr/>
          <p:nvPr/>
        </p:nvSpPr>
        <p:spPr>
          <a:xfrm>
            <a:off x="4672584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2" descr="/home/claude/steeltec/icons/industr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495" y="2058863"/>
            <a:ext cx="289682" cy="28968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76672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Üretim / saha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672584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Cihaz ve pano güvenliği, USB disiplini, fiziksel erişim.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193024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2"/>
          <p:cNvSpPr/>
          <p:nvPr/>
        </p:nvSpPr>
        <p:spPr>
          <a:xfrm>
            <a:off x="8449056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3" descr="/home/claude/steeltec/icons/dolla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5967" y="2058863"/>
            <a:ext cx="289682" cy="28968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53144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Muhasebe / finans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449056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Ödeme/IBAN doğrulama, BEC'e karşı ikinci kanal.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40080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6"/>
          <p:cNvSpPr/>
          <p:nvPr/>
        </p:nvSpPr>
        <p:spPr>
          <a:xfrm>
            <a:off x="896112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3" name="Image 4" descr="/home/claude/steeltec/icons/idcar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023" y="4235135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00200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İK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896112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Özlük (özel nitelikli) verisini KVKK'ya uygun işle.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416552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0"/>
          <p:cNvSpPr/>
          <p:nvPr/>
        </p:nvSpPr>
        <p:spPr>
          <a:xfrm>
            <a:off x="4672584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8" name="Image 5" descr="/home/claude/steeltec/icons/char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495" y="4235135"/>
            <a:ext cx="289682" cy="28968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376672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Satış / pazarlama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4672584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verisi ve CRM'i koru, dış paylaşımda dikkat.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8193024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2" name="Shape 24"/>
          <p:cNvSpPr/>
          <p:nvPr/>
        </p:nvSpPr>
        <p:spPr>
          <a:xfrm>
            <a:off x="8449056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3" name="Image 6" descr="/home/claude/steeltec/icons/gear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5967" y="4235135"/>
            <a:ext cx="289682" cy="28968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153144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Yöneticiler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8449056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ol, en az yetki uygula, güvenlik kültürünü destekle.</a:t>
            </a:r>
            <a:endParaRPr lang="en-US" sz="1150" dirty="0"/>
          </a:p>
        </p:txBody>
      </p:sp>
      <p:sp>
        <p:nvSpPr>
          <p:cNvPr id="36" name="Text 27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7 · REHBER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Faydalı Siteler — Kimlik, Parola, Oltalama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489204"/>
          </a:xfrm>
          <a:prstGeom prst="roundRect">
            <a:avLst>
              <a:gd name="adj" fmla="val 22430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868680" y="1554480"/>
            <a:ext cx="54864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1554480"/>
            <a:ext cx="48463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İŞE YARAR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084832"/>
            <a:ext cx="10881360" cy="489204"/>
          </a:xfrm>
          <a:prstGeom prst="roundRect">
            <a:avLst>
              <a:gd name="adj" fmla="val 224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868680" y="2084832"/>
            <a:ext cx="54864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haveibeenpwned.com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084832"/>
            <a:ext cx="48463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Hesabın/parolan sızmış mı kontrol 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15184"/>
            <a:ext cx="10881360" cy="489204"/>
          </a:xfrm>
          <a:prstGeom prst="roundRect">
            <a:avLst>
              <a:gd name="adj" fmla="val 224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 txBox="1"/>
          <p:nvPr/>
        </p:nvSpPr>
        <p:spPr>
          <a:xfrm>
            <a:off x="868680" y="2615184"/>
            <a:ext cx="54864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monitor.mozilla.org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615184"/>
            <a:ext cx="48463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Sızıntı için sürekli izleme kur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145536"/>
            <a:ext cx="10881360" cy="489204"/>
          </a:xfrm>
          <a:prstGeom prst="roundRect">
            <a:avLst>
              <a:gd name="adj" fmla="val 224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 txBox="1"/>
          <p:nvPr/>
        </p:nvSpPr>
        <p:spPr>
          <a:xfrm>
            <a:off x="868680" y="3145536"/>
            <a:ext cx="54864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security.org/how-secure-is-my-password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145536"/>
            <a:ext cx="48463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Parola kırılma süresini gör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675888"/>
            <a:ext cx="10881360" cy="489204"/>
          </a:xfrm>
          <a:prstGeom prst="roundRect">
            <a:avLst>
              <a:gd name="adj" fmla="val 224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 txBox="1"/>
          <p:nvPr/>
        </p:nvSpPr>
        <p:spPr>
          <a:xfrm>
            <a:off x="868680" y="3675888"/>
            <a:ext cx="54864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bitwarden.com/password-strength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675888"/>
            <a:ext cx="48463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Parola gücü test 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206240"/>
            <a:ext cx="10881360" cy="489204"/>
          </a:xfrm>
          <a:prstGeom prst="roundRect">
            <a:avLst>
              <a:gd name="adj" fmla="val 224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 txBox="1"/>
          <p:nvPr/>
        </p:nvSpPr>
        <p:spPr>
          <a:xfrm>
            <a:off x="868680" y="4206240"/>
            <a:ext cx="54864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2fa.directory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206240"/>
            <a:ext cx="48463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siteler 2FA destekliyor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736592"/>
            <a:ext cx="10881360" cy="489204"/>
          </a:xfrm>
          <a:prstGeom prst="roundRect">
            <a:avLst>
              <a:gd name="adj" fmla="val 224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 txBox="1"/>
          <p:nvPr/>
        </p:nvSpPr>
        <p:spPr>
          <a:xfrm>
            <a:off x="868680" y="4736592"/>
            <a:ext cx="54864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myaccount.google.com/security-checkup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4736592"/>
            <a:ext cx="48463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güvenlik denetimi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266944"/>
            <a:ext cx="10881360" cy="489204"/>
          </a:xfrm>
          <a:prstGeom prst="roundRect">
            <a:avLst>
              <a:gd name="adj" fmla="val 224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 txBox="1"/>
          <p:nvPr/>
        </p:nvSpPr>
        <p:spPr>
          <a:xfrm>
            <a:off x="868680" y="5266944"/>
            <a:ext cx="54864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virustotal.com  ·  urlscan.io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5266944"/>
            <a:ext cx="48463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Şüpheli dosya/bağlantı tara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797296"/>
            <a:ext cx="10881360" cy="489204"/>
          </a:xfrm>
          <a:prstGeom prst="roundRect">
            <a:avLst>
              <a:gd name="adj" fmla="val 224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 txBox="1"/>
          <p:nvPr/>
        </p:nvSpPr>
        <p:spPr>
          <a:xfrm>
            <a:off x="868680" y="5797296"/>
            <a:ext cx="54864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phishingquiz.withgoogle.com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5797296"/>
            <a:ext cx="48463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Oltalama tanıma testi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7 · REHBER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Faydalı Siteler — Türkiye Resmî ve Sürekli Öğrenme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489204"/>
          </a:xfrm>
          <a:prstGeom prst="roundRect">
            <a:avLst>
              <a:gd name="adj" fmla="val 22430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868680" y="1554480"/>
            <a:ext cx="49377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1554480"/>
            <a:ext cx="53949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İŞE YARAR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084832"/>
            <a:ext cx="10881360" cy="489204"/>
          </a:xfrm>
          <a:prstGeom prst="roundRect">
            <a:avLst>
              <a:gd name="adj" fmla="val 224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868680" y="2084832"/>
            <a:ext cx="49377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usom.gov.tr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084832"/>
            <a:ext cx="53949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Ulusal siber olay merkezi; zararlı bağlantı ihbarı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15184"/>
            <a:ext cx="10881360" cy="489204"/>
          </a:xfrm>
          <a:prstGeom prst="roundRect">
            <a:avLst>
              <a:gd name="adj" fmla="val 224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 txBox="1"/>
          <p:nvPr/>
        </p:nvSpPr>
        <p:spPr>
          <a:xfrm>
            <a:off x="868680" y="2615184"/>
            <a:ext cx="49377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kvkk.gov.tr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615184"/>
            <a:ext cx="53949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KVKK; veri ihlali duyuruları ve rehberler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145536"/>
            <a:ext cx="10881360" cy="489204"/>
          </a:xfrm>
          <a:prstGeom prst="roundRect">
            <a:avLst>
              <a:gd name="adj" fmla="val 224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 txBox="1"/>
          <p:nvPr/>
        </p:nvSpPr>
        <p:spPr>
          <a:xfrm>
            <a:off x="868680" y="3145536"/>
            <a:ext cx="49377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ihlalbildirim.kvkk.gov.tr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3145536"/>
            <a:ext cx="53949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Resmî veri ihlali bildirim portalı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675888"/>
            <a:ext cx="10881360" cy="489204"/>
          </a:xfrm>
          <a:prstGeom prst="roundRect">
            <a:avLst>
              <a:gd name="adj" fmla="val 224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 txBox="1"/>
          <p:nvPr/>
        </p:nvSpPr>
        <p:spPr>
          <a:xfrm>
            <a:off x="868680" y="3675888"/>
            <a:ext cx="49377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guvenliweb.org.tr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3675888"/>
            <a:ext cx="53949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BTK; güvenli internet farkındalık içerikleri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206240"/>
            <a:ext cx="10881360" cy="489204"/>
          </a:xfrm>
          <a:prstGeom prst="roundRect">
            <a:avLst>
              <a:gd name="adj" fmla="val 224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 txBox="1"/>
          <p:nvPr/>
        </p:nvSpPr>
        <p:spPr>
          <a:xfrm>
            <a:off x="868680" y="4206240"/>
            <a:ext cx="49377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sans.org/newsletters/ouch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4206240"/>
            <a:ext cx="53949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OUCH! — aylık ücretsiz farkındalık bülteni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736592"/>
            <a:ext cx="10881360" cy="489204"/>
          </a:xfrm>
          <a:prstGeom prst="roundRect">
            <a:avLst>
              <a:gd name="adj" fmla="val 224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 txBox="1"/>
          <p:nvPr/>
        </p:nvSpPr>
        <p:spPr>
          <a:xfrm>
            <a:off x="868680" y="4736592"/>
            <a:ext cx="49377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staysafeonline.org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4736592"/>
            <a:ext cx="53949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Ulusal Siber Güvenlik İttifakı kaynakları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266944"/>
            <a:ext cx="10881360" cy="489204"/>
          </a:xfrm>
          <a:prstGeom prst="roundRect">
            <a:avLst>
              <a:gd name="adj" fmla="val 224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 txBox="1"/>
          <p:nvPr/>
        </p:nvSpPr>
        <p:spPr>
          <a:xfrm>
            <a:off x="868680" y="5266944"/>
            <a:ext cx="49377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av-test.org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943600" y="5266944"/>
            <a:ext cx="53949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 antivirüs testleri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797296"/>
            <a:ext cx="10881360" cy="489204"/>
          </a:xfrm>
          <a:prstGeom prst="roundRect">
            <a:avLst>
              <a:gd name="adj" fmla="val 224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 txBox="1"/>
          <p:nvPr/>
        </p:nvSpPr>
        <p:spPr>
          <a:xfrm>
            <a:off x="868680" y="5797296"/>
            <a:ext cx="49377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cisa.gov  ·  enisa.europa.eu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943600" y="5797296"/>
            <a:ext cx="53949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Resmî uyarılar ve iyi uygulamalar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7 · REHBER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Faydalı Siteler — Tehdit Haritası, Gizlilik ve Web Denetimi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489204"/>
          </a:xfrm>
          <a:prstGeom prst="roundRect">
            <a:avLst>
              <a:gd name="adj" fmla="val 22430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868680" y="1554480"/>
            <a:ext cx="60350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040880" y="1554480"/>
            <a:ext cx="42976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İŞE YARAR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084832"/>
            <a:ext cx="10881360" cy="489204"/>
          </a:xfrm>
          <a:prstGeom prst="roundRect">
            <a:avLst>
              <a:gd name="adj" fmla="val 224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868680" y="2084832"/>
            <a:ext cx="60350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cybermap.kaspersky.com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2084832"/>
            <a:ext cx="42976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 küresel saldırı haritası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15184"/>
            <a:ext cx="10881360" cy="489204"/>
          </a:xfrm>
          <a:prstGeom prst="roundRect">
            <a:avLst>
              <a:gd name="adj" fmla="val 224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 txBox="1"/>
          <p:nvPr/>
        </p:nvSpPr>
        <p:spPr>
          <a:xfrm>
            <a:off x="868680" y="2615184"/>
            <a:ext cx="60350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threatmap.checkpoint.com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615184"/>
            <a:ext cx="42976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Point canlı tehdit haritası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145536"/>
            <a:ext cx="10881360" cy="489204"/>
          </a:xfrm>
          <a:prstGeom prst="roundRect">
            <a:avLst>
              <a:gd name="adj" fmla="val 224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 txBox="1"/>
          <p:nvPr/>
        </p:nvSpPr>
        <p:spPr>
          <a:xfrm>
            <a:off x="868680" y="3145536"/>
            <a:ext cx="60350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radar.cloudflare.com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3145536"/>
            <a:ext cx="42976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trafiği ve saldırı eğilimleri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675888"/>
            <a:ext cx="10881360" cy="489204"/>
          </a:xfrm>
          <a:prstGeom prst="roundRect">
            <a:avLst>
              <a:gd name="adj" fmla="val 224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 txBox="1"/>
          <p:nvPr/>
        </p:nvSpPr>
        <p:spPr>
          <a:xfrm>
            <a:off x="868680" y="3675888"/>
            <a:ext cx="60350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coveryourtracks.eff.org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3675888"/>
            <a:ext cx="42976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 izleme/parmak izi testi (EFF)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206240"/>
            <a:ext cx="10881360" cy="489204"/>
          </a:xfrm>
          <a:prstGeom prst="roundRect">
            <a:avLst>
              <a:gd name="adj" fmla="val 224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 txBox="1"/>
          <p:nvPr/>
        </p:nvSpPr>
        <p:spPr>
          <a:xfrm>
            <a:off x="868680" y="4206240"/>
            <a:ext cx="60350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transparencyreport.google.com/safe-browsing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4206240"/>
            <a:ext cx="42976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sitenin güvenli olup olmadığını sorgula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736592"/>
            <a:ext cx="10881360" cy="489204"/>
          </a:xfrm>
          <a:prstGeom prst="roundRect">
            <a:avLst>
              <a:gd name="adj" fmla="val 224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 txBox="1"/>
          <p:nvPr/>
        </p:nvSpPr>
        <p:spPr>
          <a:xfrm>
            <a:off x="868680" y="4736592"/>
            <a:ext cx="60350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securityheaders.com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4736592"/>
            <a:ext cx="42976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Sitenin güvenlik başlıkları karnesi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266944"/>
            <a:ext cx="10881360" cy="489204"/>
          </a:xfrm>
          <a:prstGeom prst="roundRect">
            <a:avLst>
              <a:gd name="adj" fmla="val 224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 txBox="1"/>
          <p:nvPr/>
        </p:nvSpPr>
        <p:spPr>
          <a:xfrm>
            <a:off x="868680" y="5266944"/>
            <a:ext cx="60350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ssllabs.com/ssltest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5266944"/>
            <a:ext cx="42976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sertifika kalite testi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797296"/>
            <a:ext cx="10881360" cy="489204"/>
          </a:xfrm>
          <a:prstGeom prst="roundRect">
            <a:avLst>
              <a:gd name="adj" fmla="val 224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 txBox="1"/>
          <p:nvPr/>
        </p:nvSpPr>
        <p:spPr>
          <a:xfrm>
            <a:off x="868680" y="5797296"/>
            <a:ext cx="60350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ssd.eff.org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040880" y="5797296"/>
            <a:ext cx="42976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 gizlilik ve dijital öz-savunma rehberi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CANLI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7 · UYGULAMALI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Öğrenmeye Devam — Aylık 5 Dakika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777240" y="1572768"/>
            <a:ext cx="384048" cy="38404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0" descr="/home/claude/steeltec/icons/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642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14813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sans.org/newsletters/ouch  ·  staysafeonline.org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240280"/>
            <a:ext cx="640080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868680" y="2423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DERSTE BİRLİKTE YAPALIM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2816352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OUCH! bültenini birlikte açalım; en güncel sayıya göz atalım.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Ücretsiz aboneliğin nasıl yapıldığını gösterelim.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staysafeonline.org'da pratik kişisel güvenlik önerilerine bakalım.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Ekipçe: ayda bir 'güvenlik ipucu' paylaşımı için fikir üretelim.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223760" y="2240280"/>
            <a:ext cx="4297680" cy="3063240"/>
          </a:xfrm>
          <a:prstGeom prst="roundRect">
            <a:avLst>
              <a:gd name="adj" fmla="val 358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745236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452360" y="2816352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Tehditler değişir; bilgi tazelenmeli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Ayda 5 dakika bile refleksi diri tutar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Evdeki güvenliğe de faydası var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544068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Shape 14"/>
          <p:cNvSpPr/>
          <p:nvPr/>
        </p:nvSpPr>
        <p:spPr>
          <a:xfrm>
            <a:off x="822960" y="5541264"/>
            <a:ext cx="457200" cy="45720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660136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463040" y="544068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İpucu: </a:t>
            </a: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tek seferlik bir eğitim değil, bir alışkanlıktır. Küçük ama sürekli adımlar, en büyük saldırıları bile boşa çıkarır.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Altın Kural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22960" y="1764792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 txBox="1"/>
          <p:nvPr/>
        </p:nvSpPr>
        <p:spPr>
          <a:xfrm>
            <a:off x="822960" y="1764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6002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Düşün, sonra tıkla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16552" y="150876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599432" y="1764792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 txBox="1"/>
          <p:nvPr/>
        </p:nvSpPr>
        <p:spPr>
          <a:xfrm>
            <a:off x="4599432" y="1764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285232" y="16002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hesaba farklı, uzun parola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93024" y="150876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8375904" y="1764792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 txBox="1"/>
          <p:nvPr/>
        </p:nvSpPr>
        <p:spPr>
          <a:xfrm>
            <a:off x="8375904" y="1764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9061704" y="16002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yerde MFA aç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274320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822960" y="2999232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 txBox="1"/>
          <p:nvPr/>
        </p:nvSpPr>
        <p:spPr>
          <a:xfrm>
            <a:off x="822960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28346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Bağlantıyı tıklamadan oku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16552" y="274320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4599432" y="2999232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 txBox="1"/>
          <p:nvPr/>
        </p:nvSpPr>
        <p:spPr>
          <a:xfrm>
            <a:off x="4599432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285232" y="28346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Para/IBAN'ı ikinci kanaldan doğrula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93024" y="274320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8375904" y="2999232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 txBox="1"/>
          <p:nvPr/>
        </p:nvSpPr>
        <p:spPr>
          <a:xfrm>
            <a:off x="8375904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061704" y="28346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Ekleri doğrulamadan açma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39776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822960" y="4233672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 txBox="1"/>
          <p:nvPr/>
        </p:nvSpPr>
        <p:spPr>
          <a:xfrm>
            <a:off x="822960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508760" y="40690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Güncellemeleri hemen kur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416552" y="39776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4599432" y="4233672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 txBox="1"/>
          <p:nvPr/>
        </p:nvSpPr>
        <p:spPr>
          <a:xfrm>
            <a:off x="4599432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5285232" y="40690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Ekranı kilitle (Win+L)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193024" y="39776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8375904" y="4233672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 txBox="1"/>
          <p:nvPr/>
        </p:nvSpPr>
        <p:spPr>
          <a:xfrm>
            <a:off x="8375904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9061704" y="40690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veriyi sınıfına göre koru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40080" y="52120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822960" y="5468112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 txBox="1"/>
          <p:nvPr/>
        </p:nvSpPr>
        <p:spPr>
          <a:xfrm>
            <a:off x="822960" y="5468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1508760" y="53035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onaylı araç/bulut kullan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4416552" y="52120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5" name="Shape 43"/>
          <p:cNvSpPr/>
          <p:nvPr/>
        </p:nvSpPr>
        <p:spPr>
          <a:xfrm>
            <a:off x="4599432" y="5468112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 txBox="1"/>
          <p:nvPr/>
        </p:nvSpPr>
        <p:spPr>
          <a:xfrm>
            <a:off x="4599432" y="5468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47" name="Text 45"/>
          <p:cNvSpPr txBox="1"/>
          <p:nvPr/>
        </p:nvSpPr>
        <p:spPr>
          <a:xfrm>
            <a:off x="5285232" y="53035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Şüpheliyi HEMEN bildir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8193024" y="52120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9" name="Shape 47"/>
          <p:cNvSpPr/>
          <p:nvPr/>
        </p:nvSpPr>
        <p:spPr>
          <a:xfrm>
            <a:off x="8375904" y="5468112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 txBox="1"/>
          <p:nvPr/>
        </p:nvSpPr>
        <p:spPr>
          <a:xfrm>
            <a:off x="8375904" y="5468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51" name="Text 49"/>
          <p:cNvSpPr txBox="1"/>
          <p:nvPr/>
        </p:nvSpPr>
        <p:spPr>
          <a:xfrm>
            <a:off x="9061704" y="53035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Şüphedeysen: DUR ve sor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7 · KÜLTÜR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Güvenlik Taahhüdüm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handshak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Bugünden itibaren güvenliğin bir parçasıyım. Söz veriyorum ki: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201168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896112" y="2194560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9" name="Image 1" descr="/home/claude/steeltec/icons/ke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758" y="2337206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213969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Parolalarımı güçlendireceğim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5989320" y="2139696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Farklı, uzun parolalar + parola yöneticisi + MFA.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044952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9"/>
          <p:cNvSpPr/>
          <p:nvPr/>
        </p:nvSpPr>
        <p:spPr>
          <a:xfrm>
            <a:off x="896112" y="3227832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4" name="Image 2" descr="/home/claude/steeltec/icons/ey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758" y="3370478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91640" y="317296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Tıklamadan önce düşüneceğim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5989320" y="317296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Gönderen, bağlantı ve tonu kontrol edeceğim.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4078224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3"/>
          <p:cNvSpPr/>
          <p:nvPr/>
        </p:nvSpPr>
        <p:spPr>
          <a:xfrm>
            <a:off x="896112" y="4261104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9" name="Image 3" descr="/home/claude/steeltec/icons/megaphon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758" y="4403750"/>
            <a:ext cx="263347" cy="26334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691640" y="420624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Şüpheliyi bildireceğim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5989320" y="420624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yapsam bile hemen, çekinmeden IT'ye ileteceğim.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40080" y="5111496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17"/>
          <p:cNvSpPr/>
          <p:nvPr/>
        </p:nvSpPr>
        <p:spPr>
          <a:xfrm>
            <a:off x="896112" y="5294376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4" name="Image 4" descr="/home/claude/steeltec/icons/shiel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758" y="5437022"/>
            <a:ext cx="263347" cy="263347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91640" y="523951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Veriyi koruyacağım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5989320" y="523951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ve kişisel veriyi (KVKK) özenle işleyeceğim.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7 · HIZLI TEST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Kapanış: Doğru mu, Yanlış mı?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722376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868680" y="1609344"/>
            <a:ext cx="7315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“HTTPS ve kilit varsa site kesinlikle güvenlidir.”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75320" y="1728216"/>
            <a:ext cx="1051560" cy="374904"/>
          </a:xfrm>
          <a:prstGeom prst="roundRect">
            <a:avLst>
              <a:gd name="adj" fmla="val 14634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 txBox="1"/>
          <p:nvPr/>
        </p:nvSpPr>
        <p:spPr>
          <a:xfrm>
            <a:off x="8275320" y="1728216"/>
            <a:ext cx="1051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YANLIŞ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464040" y="1609344"/>
            <a:ext cx="1874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Kilit sadece 'şifreli' demek; oltalama siteleri de HTTPS kullanabilir. Alan adına bak.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10881360" cy="722376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 txBox="1"/>
          <p:nvPr/>
        </p:nvSpPr>
        <p:spPr>
          <a:xfrm>
            <a:off x="868680" y="2386584"/>
            <a:ext cx="7315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“Yanlışlıkla tıkladım, kimseye söylemesem daha iyi.”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75320" y="2505456"/>
            <a:ext cx="1051560" cy="374904"/>
          </a:xfrm>
          <a:prstGeom prst="roundRect">
            <a:avLst>
              <a:gd name="adj" fmla="val 14634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 txBox="1"/>
          <p:nvPr/>
        </p:nvSpPr>
        <p:spPr>
          <a:xfrm>
            <a:off x="8275320" y="2505456"/>
            <a:ext cx="1051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YANLIŞ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464040" y="2386584"/>
            <a:ext cx="1874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Sessiz kalmak en büyük risk. Erken bildirim hasarı önler; kimse suçlamaz.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10881360" cy="722376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 txBox="1"/>
          <p:nvPr/>
        </p:nvSpPr>
        <p:spPr>
          <a:xfrm>
            <a:off x="868680" y="3163824"/>
            <a:ext cx="7315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“Parolam çok karmaşık, MFA'ya gerek yok.”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75320" y="3282696"/>
            <a:ext cx="1051560" cy="374904"/>
          </a:xfrm>
          <a:prstGeom prst="roundRect">
            <a:avLst>
              <a:gd name="adj" fmla="val 14634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 txBox="1"/>
          <p:nvPr/>
        </p:nvSpPr>
        <p:spPr>
          <a:xfrm>
            <a:off x="8275320" y="3282696"/>
            <a:ext cx="1051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YANLIŞ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464040" y="3163824"/>
            <a:ext cx="1874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Parola çalınabilir/sızabilir. MFA ikinci kalkandır; mutlaka aç.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40080" y="3886200"/>
            <a:ext cx="10881360" cy="722376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 txBox="1"/>
          <p:nvPr/>
        </p:nvSpPr>
        <p:spPr>
          <a:xfrm>
            <a:off x="868680" y="3941064"/>
            <a:ext cx="7315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“Müdürden gelen acil havale e-postasını telefonla doğruladım.”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75320" y="4059936"/>
            <a:ext cx="1051560" cy="374904"/>
          </a:xfrm>
          <a:prstGeom prst="roundRect">
            <a:avLst>
              <a:gd name="adj" fmla="val 14634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 txBox="1"/>
          <p:nvPr/>
        </p:nvSpPr>
        <p:spPr>
          <a:xfrm>
            <a:off x="8275320" y="4059936"/>
            <a:ext cx="1051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464040" y="3941064"/>
            <a:ext cx="1874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İkinci kanaldan doğrulama BEC'e karşı en etkili savunmadır.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40080" y="4663440"/>
            <a:ext cx="10881360" cy="722376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 txBox="1"/>
          <p:nvPr/>
        </p:nvSpPr>
        <p:spPr>
          <a:xfrm>
            <a:off x="868680" y="4718304"/>
            <a:ext cx="7315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“Bulduğum USB'yi bilgisayarıma takıp sahibini bulurum.”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75320" y="4837176"/>
            <a:ext cx="1051560" cy="374904"/>
          </a:xfrm>
          <a:prstGeom prst="roundRect">
            <a:avLst>
              <a:gd name="adj" fmla="val 14634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 txBox="1"/>
          <p:nvPr/>
        </p:nvSpPr>
        <p:spPr>
          <a:xfrm>
            <a:off x="8275320" y="4837176"/>
            <a:ext cx="1051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YANLIŞ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464040" y="4718304"/>
            <a:ext cx="1874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tuzak. Takma, IT'ye teslim et.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40080" y="5440680"/>
            <a:ext cx="10881360" cy="722376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 txBox="1"/>
          <p:nvPr/>
        </p:nvSpPr>
        <p:spPr>
          <a:xfrm>
            <a:off x="868680" y="5495544"/>
            <a:ext cx="7315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“Aynı parolayı birden çok sitede kullanmam risklidir.”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75320" y="5614416"/>
            <a:ext cx="1051560" cy="374904"/>
          </a:xfrm>
          <a:prstGeom prst="roundRect">
            <a:avLst>
              <a:gd name="adj" fmla="val 14634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 txBox="1"/>
          <p:nvPr/>
        </p:nvSpPr>
        <p:spPr>
          <a:xfrm>
            <a:off x="8275320" y="5614416"/>
            <a:ext cx="1051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464040" y="5495544"/>
            <a:ext cx="1874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site sızarsa, o parolayla diğer hesaplar da ele geçer (kimlik doldurma).</a:t>
            </a:r>
            <a:endParaRPr lang="en-US" sz="88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teeltec/icons/shield_color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9052560" y="329184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8288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Güvenlik bir kişiyle değil,</a:t>
            </a:r>
            <a:endParaRPr lang="en-US" sz="38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hepimizle başlar.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7490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öğrendiklerinizi yarın masanıza taşıyın. Şüphelendiğinizde durun, kontrol edin, bildirin.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4709160"/>
            <a:ext cx="7955280" cy="914400"/>
          </a:xfrm>
          <a:prstGeom prst="roundRect">
            <a:avLst>
              <a:gd name="adj" fmla="val 10000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1051560" y="4910328"/>
            <a:ext cx="512064" cy="51206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1" descr="/home/claude/steeltec/icons/megapho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697" y="5043465"/>
            <a:ext cx="245791" cy="24579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83080" y="47091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Şüpheli bir şey mi var?  </a:t>
            </a:r>
            <a:r>
              <a:rPr lang="en-US" sz="130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Hemen IT / BT Güvenlik ekibine bildirin. Geç kalmış bildirim yoktur.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Bilgi Güvenliği Farkındalığı Eğitimi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7419</Words>
  <Application>Microsoft Office PowerPoint</Application>
  <PresentationFormat>Geniş ekran</PresentationFormat>
  <Paragraphs>1310</Paragraphs>
  <Slides>78</Slides>
  <Notes>78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78</vt:i4>
      </vt:variant>
    </vt:vector>
  </HeadingPairs>
  <TitlesOfParts>
    <vt:vector size="83" baseType="lpstr">
      <vt:lpstr>Arial</vt:lpstr>
      <vt:lpstr>Calibri</vt:lpstr>
      <vt:lpstr>Cambria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Sarp VAHABI</cp:lastModifiedBy>
  <cp:revision>4</cp:revision>
  <dcterms:created xsi:type="dcterms:W3CDTF">2026-09-28T17:36:51Z</dcterms:created>
  <dcterms:modified xsi:type="dcterms:W3CDTF">2026-09-29T06:21:35Z</dcterms:modified>
</cp:coreProperties>
</file>