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0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27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64785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6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7.png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6.png"/><Relationship Id="rId4" Type="http://schemas.openxmlformats.org/officeDocument/2006/relationships/image" Target="../media/image26.png"/><Relationship Id="rId9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3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7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38.png"/><Relationship Id="rId4" Type="http://schemas.openxmlformats.org/officeDocument/2006/relationships/image" Target="../media/image28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20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43.png"/><Relationship Id="rId4" Type="http://schemas.openxmlformats.org/officeDocument/2006/relationships/image" Target="../media/image18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43.png"/><Relationship Id="rId4" Type="http://schemas.openxmlformats.org/officeDocument/2006/relationships/image" Target="../media/image6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23.png"/><Relationship Id="rId4" Type="http://schemas.openxmlformats.org/officeDocument/2006/relationships/image" Target="../media/image9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2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7.png"/><Relationship Id="rId4" Type="http://schemas.openxmlformats.org/officeDocument/2006/relationships/image" Target="../media/image46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32.png"/><Relationship Id="rId4" Type="http://schemas.openxmlformats.org/officeDocument/2006/relationships/image" Target="../media/image2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9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7.png"/><Relationship Id="rId4" Type="http://schemas.openxmlformats.org/officeDocument/2006/relationships/image" Target="../media/image23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34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image" Target="../media/image30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2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47.png"/><Relationship Id="rId4" Type="http://schemas.openxmlformats.org/officeDocument/2006/relationships/image" Target="../media/image26.png"/><Relationship Id="rId9" Type="http://schemas.openxmlformats.org/officeDocument/2006/relationships/image" Target="../media/image13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21.png"/><Relationship Id="rId4" Type="http://schemas.openxmlformats.org/officeDocument/2006/relationships/image" Target="../media/image24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teeltec/icons/robot_color.png"/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8961120" y="-457200"/>
            <a:ext cx="4206240" cy="42062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KURUMSAL YAPAY ZEKA EĞİTİMİ</a:t>
            </a:r>
            <a:endParaRPr lang="en-US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777240" y="1554480"/>
            <a:ext cx="10698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Microsoft 365 Copilot ve</a:t>
            </a:r>
            <a:endParaRPr lang="en-US" sz="4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Copilot Studio ile Agent Oluşturma</a:t>
            </a:r>
            <a:endParaRPr lang="en-US" sz="4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340156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i="1" dirty="0">
                <a:solidFill>
                  <a:srgbClr val="CFD9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Sıfırdan çalışan bir agent'a — uygulamalı, </a:t>
            </a:r>
            <a:r>
              <a:rPr lang="en-US" sz="2300" i="1" dirty="0" err="1">
                <a:solidFill>
                  <a:srgbClr val="CFD9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örnekli</a:t>
            </a:r>
            <a:endParaRPr lang="en-US" sz="2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404164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tr-TR" sz="140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Uygulamalı </a:t>
            </a:r>
            <a:r>
              <a:rPr lang="en-US" sz="1400" dirty="0" err="1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atölye</a:t>
            </a:r>
            <a:r>
              <a:rPr lang="en-US" sz="140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Copilot mimarisi · uygulama içi Copilot · Copilot Studio · knowledge, actions ve tetikleyiciler · yayınlama, güvenlik ve maliyet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22960" y="5029200"/>
            <a:ext cx="1426464" cy="457200"/>
          </a:xfrm>
          <a:prstGeom prst="roundRect">
            <a:avLst>
              <a:gd name="adj" fmla="val 50000"/>
            </a:avLst>
          </a:prstGeom>
          <a:solidFill>
            <a:srgbClr val="273041"/>
          </a:solidFill>
          <a:ln w="12700">
            <a:solidFill>
              <a:srgbClr val="37425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5"/>
          <p:cNvSpPr txBox="1"/>
          <p:nvPr/>
        </p:nvSpPr>
        <p:spPr>
          <a:xfrm>
            <a:off x="822960" y="5029200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9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M365 Copilot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432304" y="5029200"/>
            <a:ext cx="1600200" cy="457200"/>
          </a:xfrm>
          <a:prstGeom prst="roundRect">
            <a:avLst>
              <a:gd name="adj" fmla="val 50000"/>
            </a:avLst>
          </a:prstGeom>
          <a:solidFill>
            <a:srgbClr val="273041"/>
          </a:solidFill>
          <a:ln w="12700">
            <a:solidFill>
              <a:srgbClr val="37425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7"/>
          <p:cNvSpPr txBox="1"/>
          <p:nvPr/>
        </p:nvSpPr>
        <p:spPr>
          <a:xfrm>
            <a:off x="2432304" y="50292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9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Studio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215384" y="5029200"/>
            <a:ext cx="1860804" cy="457200"/>
          </a:xfrm>
          <a:prstGeom prst="roundRect">
            <a:avLst>
              <a:gd name="adj" fmla="val 50000"/>
            </a:avLst>
          </a:prstGeom>
          <a:solidFill>
            <a:srgbClr val="273041"/>
          </a:solidFill>
          <a:ln w="12700">
            <a:solidFill>
              <a:srgbClr val="37425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9"/>
          <p:cNvSpPr txBox="1"/>
          <p:nvPr/>
        </p:nvSpPr>
        <p:spPr>
          <a:xfrm>
            <a:off x="4215384" y="5029200"/>
            <a:ext cx="18608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9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İlk Agent (canlı)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259068" y="5029200"/>
            <a:ext cx="2034540" cy="457200"/>
          </a:xfrm>
          <a:prstGeom prst="roundRect">
            <a:avLst>
              <a:gd name="adj" fmla="val 50000"/>
            </a:avLst>
          </a:prstGeom>
          <a:solidFill>
            <a:srgbClr val="273041"/>
          </a:solidFill>
          <a:ln w="12700">
            <a:solidFill>
              <a:srgbClr val="37425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1"/>
          <p:cNvSpPr txBox="1"/>
          <p:nvPr/>
        </p:nvSpPr>
        <p:spPr>
          <a:xfrm>
            <a:off x="6259068" y="5029200"/>
            <a:ext cx="20345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9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&amp; Actions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476488" y="5029200"/>
            <a:ext cx="1773936" cy="457200"/>
          </a:xfrm>
          <a:prstGeom prst="roundRect">
            <a:avLst>
              <a:gd name="adj" fmla="val 50000"/>
            </a:avLst>
          </a:prstGeom>
          <a:solidFill>
            <a:srgbClr val="273041"/>
          </a:solidFill>
          <a:ln w="12700">
            <a:solidFill>
              <a:srgbClr val="37425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3"/>
          <p:cNvSpPr txBox="1"/>
          <p:nvPr/>
        </p:nvSpPr>
        <p:spPr>
          <a:xfrm>
            <a:off x="8476488" y="502920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9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Otonom Agent'lar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10433304" y="5029200"/>
            <a:ext cx="1947672" cy="457200"/>
          </a:xfrm>
          <a:prstGeom prst="roundRect">
            <a:avLst>
              <a:gd name="adj" fmla="val 50000"/>
            </a:avLst>
          </a:prstGeom>
          <a:solidFill>
            <a:srgbClr val="273041"/>
          </a:solidFill>
          <a:ln w="12700">
            <a:solidFill>
              <a:srgbClr val="37425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5"/>
          <p:cNvSpPr txBox="1"/>
          <p:nvPr/>
        </p:nvSpPr>
        <p:spPr>
          <a:xfrm>
            <a:off x="10433304" y="5029200"/>
            <a:ext cx="1947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9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Güvenlik &amp; Maliyet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r-TR" sz="1200" i="1" dirty="0">
                <a:solidFill>
                  <a:srgbClr val="AE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Sarp Vahabi, MCT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KAZANIMLAR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Eğitim Sonunda Yapabilecekleriniz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744200" y="438912"/>
            <a:ext cx="868680" cy="86868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5" name="Image 0" descr="/home/claude/steeltec/icons/targe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0057" y="664769"/>
            <a:ext cx="416966" cy="41696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600200"/>
            <a:ext cx="10881360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Shape 4"/>
          <p:cNvSpPr/>
          <p:nvPr/>
        </p:nvSpPr>
        <p:spPr>
          <a:xfrm>
            <a:off x="868680" y="1773936"/>
            <a:ext cx="548640" cy="54864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8" name="Image 1" descr="/home/claude/steeltec/icons/microsof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1916582"/>
            <a:ext cx="263347" cy="26334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45920" y="1728216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Copilot'u anlamak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5486400" y="1728216"/>
            <a:ext cx="5897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M365 Copilot'un nasıl çalıştığını, verinizi nasıl koruduğunu kavrayın.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40080" y="2606040"/>
            <a:ext cx="10881360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2" name="Shape 8"/>
          <p:cNvSpPr/>
          <p:nvPr/>
        </p:nvSpPr>
        <p:spPr>
          <a:xfrm>
            <a:off x="868680" y="2779776"/>
            <a:ext cx="548640" cy="54864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3" name="Image 2" descr="/home/claude/steeltec/icons/cha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1326" y="2922422"/>
            <a:ext cx="263347" cy="263347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645920" y="2734056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Uygulama içinde kullanmak</a:t>
            </a:r>
            <a:endParaRPr lang="en-US" sz="1700" dirty="0"/>
          </a:p>
        </p:txBody>
      </p:sp>
      <p:sp>
        <p:nvSpPr>
          <p:cNvPr id="15" name="Text 10"/>
          <p:cNvSpPr txBox="1"/>
          <p:nvPr/>
        </p:nvSpPr>
        <p:spPr>
          <a:xfrm>
            <a:off x="5486400" y="2734056"/>
            <a:ext cx="5897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Word, Excel, PowerPoint, Outlook ve Teams'te etkili prompt yazın.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40080" y="3611880"/>
            <a:ext cx="10881360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7" name="Shape 12"/>
          <p:cNvSpPr/>
          <p:nvPr/>
        </p:nvSpPr>
        <p:spPr>
          <a:xfrm>
            <a:off x="868680" y="3785616"/>
            <a:ext cx="548640" cy="54864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8" name="Image 3" descr="/home/claude/steeltec/icons/robo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1326" y="3928262"/>
            <a:ext cx="263347" cy="263347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645920" y="3739896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kurmak</a:t>
            </a:r>
            <a:endParaRPr lang="en-US" sz="1700" dirty="0"/>
          </a:p>
        </p:txBody>
      </p:sp>
      <p:sp>
        <p:nvSpPr>
          <p:cNvPr id="20" name="Text 14"/>
          <p:cNvSpPr txBox="1"/>
          <p:nvPr/>
        </p:nvSpPr>
        <p:spPr>
          <a:xfrm>
            <a:off x="5486400" y="3739896"/>
            <a:ext cx="5897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Studio'da sıfırdan çalışan bir agent tasarlayın ve yayınlayın.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640080" y="4617720"/>
            <a:ext cx="10881360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2" name="Shape 16"/>
          <p:cNvSpPr/>
          <p:nvPr/>
        </p:nvSpPr>
        <p:spPr>
          <a:xfrm>
            <a:off x="868680" y="4791456"/>
            <a:ext cx="548640" cy="54864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3" name="Image 4" descr="/home/claude/steeltec/icons/databas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326" y="4934102"/>
            <a:ext cx="263347" cy="263347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645920" y="4745736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&amp; Actions</a:t>
            </a:r>
            <a:endParaRPr lang="en-US" sz="1700" dirty="0"/>
          </a:p>
        </p:txBody>
      </p:sp>
      <p:sp>
        <p:nvSpPr>
          <p:cNvPr id="25" name="Text 18"/>
          <p:cNvSpPr txBox="1"/>
          <p:nvPr/>
        </p:nvSpPr>
        <p:spPr>
          <a:xfrm>
            <a:off x="5486400" y="4745736"/>
            <a:ext cx="5897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Agent'ı kurum verinize bağlayın, aksiyon ve akışlarla güçlendirin.</a:t>
            </a:r>
            <a:endParaRPr lang="en-US" sz="1300" dirty="0"/>
          </a:p>
        </p:txBody>
      </p:sp>
      <p:sp>
        <p:nvSpPr>
          <p:cNvPr id="26" name="Shape 19"/>
          <p:cNvSpPr/>
          <p:nvPr/>
        </p:nvSpPr>
        <p:spPr>
          <a:xfrm>
            <a:off x="640080" y="5623560"/>
            <a:ext cx="10881360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7" name="Shape 20"/>
          <p:cNvSpPr/>
          <p:nvPr/>
        </p:nvSpPr>
        <p:spPr>
          <a:xfrm>
            <a:off x="868680" y="5797296"/>
            <a:ext cx="548640" cy="54864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8" name="Image 5" descr="/home/claude/steeltec/icons/shield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1326" y="5939942"/>
            <a:ext cx="263347" cy="263347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1645920" y="5751576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Güvenli yönetmek</a:t>
            </a:r>
            <a:endParaRPr lang="en-US" sz="1700" dirty="0"/>
          </a:p>
        </p:txBody>
      </p:sp>
      <p:sp>
        <p:nvSpPr>
          <p:cNvPr id="30" name="Text 22"/>
          <p:cNvSpPr txBox="1"/>
          <p:nvPr/>
        </p:nvSpPr>
        <p:spPr>
          <a:xfrm>
            <a:off x="5486400" y="5751576"/>
            <a:ext cx="5897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Yayınlama, güvenlik, DLP, lisans ve maliyeti doğru yönetin.</a:t>
            </a:r>
            <a:endParaRPr lang="en-US" sz="1300" dirty="0"/>
          </a:p>
        </p:txBody>
      </p:sp>
      <p:sp>
        <p:nvSpPr>
          <p:cNvPr id="31" name="Text 23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Microsoft 365 Copilot &amp; Copilot Studio</a:t>
            </a:r>
            <a:endParaRPr lang="en-US" sz="900" dirty="0"/>
          </a:p>
        </p:txBody>
      </p:sp>
      <p:sp>
        <p:nvSpPr>
          <p:cNvPr id="32" name="Text 24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955280" y="182880"/>
            <a:ext cx="4023360" cy="6492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0" b="1" dirty="0">
                <a:solidFill>
                  <a:srgbClr val="2730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0" dirty="0"/>
          </a:p>
        </p:txBody>
      </p:sp>
      <p:sp>
        <p:nvSpPr>
          <p:cNvPr id="3" name="Shape 1"/>
          <p:cNvSpPr/>
          <p:nvPr/>
        </p:nvSpPr>
        <p:spPr>
          <a:xfrm>
            <a:off x="822960" y="2103120"/>
            <a:ext cx="1051560" cy="105156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4" name="Image 0" descr="/home/claude/steeltec/icons/microsof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366" y="2376526"/>
            <a:ext cx="504749" cy="50474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68680" y="3383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1 · MODÜL 1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3703320"/>
            <a:ext cx="7498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Microsoft 365</a:t>
            </a:r>
            <a:endParaRPr lang="en-US" sz="40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Copilot'u Anlamak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Copilot Studio Agent Eğitimi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1 · TEMELLER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Copilot Ailesi — Hangisi Ne?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520440" cy="365760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1943100" y="2057400"/>
            <a:ext cx="914400" cy="914400"/>
          </a:xfrm>
          <a:prstGeom prst="ellipse">
            <a:avLst/>
          </a:prstGeom>
          <a:solidFill>
            <a:srgbClr val="37425A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6" name="Image 0" descr="/home/claude/steeltec/icons/comment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0844" y="2295144"/>
            <a:ext cx="438912" cy="4389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310896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Copilot Chat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61188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ve kurumsal veriyle sohbet; herkese açık, güvenli sohbet asistanı.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960120" y="4800600"/>
            <a:ext cx="2880360" cy="457200"/>
          </a:xfrm>
          <a:prstGeom prst="roundRect">
            <a:avLst>
              <a:gd name="adj" fmla="val 50000"/>
            </a:avLst>
          </a:prstGeom>
          <a:solidFill>
            <a:srgbClr val="FFE7D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Text 7"/>
          <p:cNvSpPr txBox="1"/>
          <p:nvPr/>
        </p:nvSpPr>
        <p:spPr>
          <a:xfrm>
            <a:off x="960120" y="48006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24E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Ücretsiz / M365 dahil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434840" y="1737360"/>
            <a:ext cx="3520440" cy="3657600"/>
          </a:xfrm>
          <a:prstGeom prst="roundRect">
            <a:avLst>
              <a:gd name="adj" fmla="val 3117"/>
            </a:avLst>
          </a:prstGeom>
          <a:solidFill>
            <a:srgbClr val="1E2430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2" name="Shape 9"/>
          <p:cNvSpPr/>
          <p:nvPr/>
        </p:nvSpPr>
        <p:spPr>
          <a:xfrm>
            <a:off x="5737860" y="2057400"/>
            <a:ext cx="914400" cy="91440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3" name="Image 1" descr="/home/claude/steeltec/icons/microsof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5604" y="2295144"/>
            <a:ext cx="438912" cy="43891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572000" y="310896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Microsoft 365 Copilot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4709160" y="361188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F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Word, Excel, Teams içinde; kurum verinize (Graph) bağlı tam deneyim.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4754880" y="4800600"/>
            <a:ext cx="2880360" cy="457200"/>
          </a:xfrm>
          <a:prstGeom prst="roundRect">
            <a:avLst>
              <a:gd name="adj" fmla="val 50000"/>
            </a:avLst>
          </a:prstGeom>
          <a:solidFill>
            <a:srgbClr val="37425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7" name="Text 13"/>
          <p:cNvSpPr txBox="1"/>
          <p:nvPr/>
        </p:nvSpPr>
        <p:spPr>
          <a:xfrm>
            <a:off x="4754880" y="48006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 başı lisans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8229600" y="1737360"/>
            <a:ext cx="3520440" cy="365760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9" name="Shape 15"/>
          <p:cNvSpPr/>
          <p:nvPr/>
        </p:nvSpPr>
        <p:spPr>
          <a:xfrm>
            <a:off x="9532620" y="2057400"/>
            <a:ext cx="914400" cy="914400"/>
          </a:xfrm>
          <a:prstGeom prst="ellipse">
            <a:avLst/>
          </a:prstGeom>
          <a:solidFill>
            <a:srgbClr val="37425A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0" name="Image 2" descr="/home/claude/steeltec/icons/robo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70364" y="2295144"/>
            <a:ext cx="438912" cy="438912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8366760" y="310896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Copilot Studio</a:t>
            </a:r>
            <a:endParaRPr lang="en-US" sz="1700" dirty="0"/>
          </a:p>
        </p:txBody>
      </p:sp>
      <p:sp>
        <p:nvSpPr>
          <p:cNvPr id="22" name="Text 17"/>
          <p:cNvSpPr txBox="1"/>
          <p:nvPr/>
        </p:nvSpPr>
        <p:spPr>
          <a:xfrm>
            <a:off x="8503920" y="361188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Kendi agent'larınızı kurar, Copilot'u genişletirsiniz.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8549640" y="4800600"/>
            <a:ext cx="2880360" cy="457200"/>
          </a:xfrm>
          <a:prstGeom prst="roundRect">
            <a:avLst>
              <a:gd name="adj" fmla="val 50000"/>
            </a:avLst>
          </a:prstGeom>
          <a:solidFill>
            <a:srgbClr val="FFE7D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4" name="Text 19"/>
          <p:cNvSpPr txBox="1"/>
          <p:nvPr/>
        </p:nvSpPr>
        <p:spPr>
          <a:xfrm>
            <a:off x="8549640" y="48006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24E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Kredi tüketimi / dahil</a:t>
            </a:r>
            <a:endParaRPr lang="en-US" sz="1050" dirty="0"/>
          </a:p>
        </p:txBody>
      </p:sp>
      <p:sp>
        <p:nvSpPr>
          <p:cNvPr id="25" name="Text 20"/>
          <p:cNvSpPr txBox="1"/>
          <p:nvPr/>
        </p:nvSpPr>
        <p:spPr>
          <a:xfrm>
            <a:off x="640080" y="5623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D24E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Bugün: Bölüm 1'de M365 Copilot'u kullanır, Bölüm 2'den itibaren Copilot Studio ile kendi agent'ımızı kurarız.</a:t>
            </a:r>
            <a:endParaRPr lang="en-US" sz="1250" dirty="0"/>
          </a:p>
        </p:txBody>
      </p:sp>
      <p:sp>
        <p:nvSpPr>
          <p:cNvPr id="26" name="Text 21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Microsoft 365 Copilot &amp; Copilot Studio</a:t>
            </a:r>
            <a:endParaRPr lang="en-US" sz="900" dirty="0"/>
          </a:p>
        </p:txBody>
      </p:sp>
      <p:sp>
        <p:nvSpPr>
          <p:cNvPr id="27" name="Text 22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1 · MIMARI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M365 Copilot Nasıl Çalışır?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tek bir model değildir; bir orkestratör isteğinizi alır, kurum verinizle zenginleştirir (grounding) ve modele öyle gönderir.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2103120" cy="23317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1325880" y="2221992"/>
            <a:ext cx="731520" cy="73152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7" name="Image 0" descr="/home/claude/steeltec/icons/use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6075" y="2412187"/>
            <a:ext cx="351130" cy="35113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13232" y="301752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Prompt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3832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 bir uygulamada istek yazar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2706624" y="265176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2852928" y="1965960"/>
            <a:ext cx="2103120" cy="23317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2" name="Shape 9"/>
          <p:cNvSpPr/>
          <p:nvPr/>
        </p:nvSpPr>
        <p:spPr>
          <a:xfrm>
            <a:off x="3538728" y="2221992"/>
            <a:ext cx="731520" cy="73152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3" name="Image 1" descr="/home/claude/steeltec/icons/sitemap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8923" y="2412187"/>
            <a:ext cx="351130" cy="35113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926080" y="301752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Orkestratör</a:t>
            </a:r>
            <a:endParaRPr lang="en-US" sz="1450" dirty="0"/>
          </a:p>
        </p:txBody>
      </p:sp>
      <p:sp>
        <p:nvSpPr>
          <p:cNvPr id="15" name="Text 11"/>
          <p:cNvSpPr txBox="1"/>
          <p:nvPr/>
        </p:nvSpPr>
        <p:spPr>
          <a:xfrm>
            <a:off x="2990088" y="33832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İsteği işler, neyin gerektiğine karar verir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4919472" y="265176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3"/>
          <p:cNvSpPr/>
          <p:nvPr/>
        </p:nvSpPr>
        <p:spPr>
          <a:xfrm>
            <a:off x="5065776" y="1965960"/>
            <a:ext cx="2103120" cy="23317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8" name="Shape 14"/>
          <p:cNvSpPr/>
          <p:nvPr/>
        </p:nvSpPr>
        <p:spPr>
          <a:xfrm>
            <a:off x="5751576" y="2221992"/>
            <a:ext cx="731520" cy="73152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9" name="Image 2" descr="/home/claude/steeltec/icons/databas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1771" y="2412187"/>
            <a:ext cx="351130" cy="35113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5138928" y="301752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Graph + Work IQ</a:t>
            </a:r>
            <a:endParaRPr lang="en-US" sz="1450" dirty="0"/>
          </a:p>
        </p:txBody>
      </p:sp>
      <p:sp>
        <p:nvSpPr>
          <p:cNvPr id="21" name="Text 16"/>
          <p:cNvSpPr txBox="1"/>
          <p:nvPr/>
        </p:nvSpPr>
        <p:spPr>
          <a:xfrm>
            <a:off x="5202936" y="33832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İzinli kurum verisi getirilir (grounding)</a:t>
            </a:r>
            <a:endParaRPr lang="en-US" sz="1050" dirty="0"/>
          </a:p>
        </p:txBody>
      </p:sp>
      <p:sp>
        <p:nvSpPr>
          <p:cNvPr id="22" name="Text 17"/>
          <p:cNvSpPr txBox="1"/>
          <p:nvPr/>
        </p:nvSpPr>
        <p:spPr>
          <a:xfrm>
            <a:off x="7132320" y="265176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18"/>
          <p:cNvSpPr/>
          <p:nvPr/>
        </p:nvSpPr>
        <p:spPr>
          <a:xfrm>
            <a:off x="7278624" y="1965960"/>
            <a:ext cx="2103120" cy="23317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4" name="Shape 19"/>
          <p:cNvSpPr/>
          <p:nvPr/>
        </p:nvSpPr>
        <p:spPr>
          <a:xfrm>
            <a:off x="7964424" y="2221992"/>
            <a:ext cx="731520" cy="73152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5" name="Image 3" descr="/home/claude/steeltec/icons/brain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4619" y="2412187"/>
            <a:ext cx="351130" cy="35113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7351776" y="301752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LLM</a:t>
            </a:r>
            <a:endParaRPr lang="en-US" sz="1450" dirty="0"/>
          </a:p>
        </p:txBody>
      </p:sp>
      <p:sp>
        <p:nvSpPr>
          <p:cNvPr id="27" name="Text 21"/>
          <p:cNvSpPr txBox="1"/>
          <p:nvPr/>
        </p:nvSpPr>
        <p:spPr>
          <a:xfrm>
            <a:off x="7415784" y="33832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Model, gelen bağlamla yanıtı üretir</a:t>
            </a:r>
            <a:endParaRPr lang="en-US" sz="1050" dirty="0"/>
          </a:p>
        </p:txBody>
      </p:sp>
      <p:sp>
        <p:nvSpPr>
          <p:cNvPr id="28" name="Text 22"/>
          <p:cNvSpPr txBox="1"/>
          <p:nvPr/>
        </p:nvSpPr>
        <p:spPr>
          <a:xfrm>
            <a:off x="9345168" y="265176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9" name="Shape 23"/>
          <p:cNvSpPr/>
          <p:nvPr/>
        </p:nvSpPr>
        <p:spPr>
          <a:xfrm>
            <a:off x="9491472" y="1965960"/>
            <a:ext cx="2103120" cy="23317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0" name="Shape 24"/>
          <p:cNvSpPr/>
          <p:nvPr/>
        </p:nvSpPr>
        <p:spPr>
          <a:xfrm>
            <a:off x="10177272" y="2221992"/>
            <a:ext cx="731520" cy="73152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31" name="Image 4" descr="/home/claude/steeltec/icons/check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67467" y="2412187"/>
            <a:ext cx="351130" cy="35113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9564624" y="301752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Yanıt</a:t>
            </a:r>
            <a:endParaRPr lang="en-US" sz="1450" dirty="0"/>
          </a:p>
        </p:txBody>
      </p:sp>
      <p:sp>
        <p:nvSpPr>
          <p:cNvPr id="33" name="Text 26"/>
          <p:cNvSpPr txBox="1"/>
          <p:nvPr/>
        </p:nvSpPr>
        <p:spPr>
          <a:xfrm>
            <a:off x="9628632" y="33832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Denetlenmiş, izne uygun yanıt döner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640080" y="4709160"/>
            <a:ext cx="10881360" cy="1097280"/>
          </a:xfrm>
          <a:prstGeom prst="roundRect">
            <a:avLst>
              <a:gd name="adj" fmla="val 8333"/>
            </a:avLst>
          </a:prstGeom>
          <a:solidFill>
            <a:srgbClr val="1E243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5" name="Shape 28"/>
          <p:cNvSpPr/>
          <p:nvPr/>
        </p:nvSpPr>
        <p:spPr>
          <a:xfrm>
            <a:off x="960120" y="4983480"/>
            <a:ext cx="566928" cy="566928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36" name="Image 5" descr="/home/claude/steeltec/icons/shield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7521" y="5130881"/>
            <a:ext cx="272125" cy="272125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1737360" y="475488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Kritik: </a:t>
            </a:r>
            <a:r>
              <a:rPr lang="en-US" sz="13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verinizin tamamını görmez — orkestratörün gönderdiği, yalnızca sizin erişebildiğiniz küçük parçaları görür. Veri Microsoft 365 güvenlik sınırının dışına çıkmaz.</a:t>
            </a:r>
            <a:endParaRPr lang="en-US" sz="1350" dirty="0"/>
          </a:p>
        </p:txBody>
      </p:sp>
      <p:sp>
        <p:nvSpPr>
          <p:cNvPr id="38" name="Text 30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Microsoft 365 Copilot &amp; Copilot Studio</a:t>
            </a:r>
            <a:endParaRPr lang="en-US" sz="900" dirty="0"/>
          </a:p>
        </p:txBody>
      </p:sp>
      <p:sp>
        <p:nvSpPr>
          <p:cNvPr id="39" name="Text 31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1 · GÜVENLIK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 Güvenliği ve İzin Sınırı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744200" y="438912"/>
            <a:ext cx="868680" cy="86868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5" name="Image 0" descr="/home/claude/steeltec/icons/lo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0057" y="664769"/>
            <a:ext cx="416966" cy="41696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627632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Shape 4"/>
          <p:cNvSpPr/>
          <p:nvPr/>
        </p:nvSpPr>
        <p:spPr>
          <a:xfrm>
            <a:off x="914400" y="1920240"/>
            <a:ext cx="658368" cy="658368"/>
          </a:xfrm>
          <a:prstGeom prst="ellipse">
            <a:avLst/>
          </a:prstGeom>
          <a:solidFill>
            <a:srgbClr val="37425A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8" name="Image 1" descr="/home/claude/steeltec/icons/shiel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5576" y="2091416"/>
            <a:ext cx="316017" cy="31601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783080" y="1883664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İzin bazlı erişim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1783080" y="2340864"/>
            <a:ext cx="3977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yalnızca sizin zaten erişebildiğiniz dosya, e-posta ve verilere ulaşır.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355080" y="1627632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2" name="Shape 8"/>
          <p:cNvSpPr/>
          <p:nvPr/>
        </p:nvSpPr>
        <p:spPr>
          <a:xfrm>
            <a:off x="6629400" y="1920240"/>
            <a:ext cx="658368" cy="658368"/>
          </a:xfrm>
          <a:prstGeom prst="ellipse">
            <a:avLst/>
          </a:prstGeom>
          <a:solidFill>
            <a:srgbClr val="37425A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3" name="Image 2" descr="/home/claude/steeltec/icons/building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0576" y="2091416"/>
            <a:ext cx="316017" cy="316017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498080" y="1883664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Kurum sınırı</a:t>
            </a:r>
            <a:endParaRPr lang="en-US" sz="1700" dirty="0"/>
          </a:p>
        </p:txBody>
      </p:sp>
      <p:sp>
        <p:nvSpPr>
          <p:cNvPr id="15" name="Text 10"/>
          <p:cNvSpPr txBox="1"/>
          <p:nvPr/>
        </p:nvSpPr>
        <p:spPr>
          <a:xfrm>
            <a:off x="7498080" y="2340864"/>
            <a:ext cx="3977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Veriniz M365 hizmet sınırında kalır; genel modeli eğitmek için kullanılmaz.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" y="3822192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7" name="Shape 12"/>
          <p:cNvSpPr/>
          <p:nvPr/>
        </p:nvSpPr>
        <p:spPr>
          <a:xfrm>
            <a:off x="914400" y="4114800"/>
            <a:ext cx="658368" cy="658368"/>
          </a:xfrm>
          <a:prstGeom prst="ellipse">
            <a:avLst/>
          </a:prstGeom>
          <a:solidFill>
            <a:srgbClr val="37425A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8" name="Image 3" descr="/home/claude/steeltec/icons/key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5576" y="4285976"/>
            <a:ext cx="316017" cy="316017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783080" y="4078224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Kimlik &amp; MFA</a:t>
            </a:r>
            <a:endParaRPr lang="en-US" sz="1700" dirty="0"/>
          </a:p>
        </p:txBody>
      </p:sp>
      <p:sp>
        <p:nvSpPr>
          <p:cNvPr id="20" name="Text 14"/>
          <p:cNvSpPr txBox="1"/>
          <p:nvPr/>
        </p:nvSpPr>
        <p:spPr>
          <a:xfrm>
            <a:off x="1783080" y="4535424"/>
            <a:ext cx="3977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Mevcut oturum açma, koşullu erişim ve MFA aynen geçerlidir.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6355080" y="3822192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2" name="Shape 16"/>
          <p:cNvSpPr/>
          <p:nvPr/>
        </p:nvSpPr>
        <p:spPr>
          <a:xfrm>
            <a:off x="6629400" y="4114800"/>
            <a:ext cx="658368" cy="658368"/>
          </a:xfrm>
          <a:prstGeom prst="ellipse">
            <a:avLst/>
          </a:prstGeom>
          <a:solidFill>
            <a:srgbClr val="37425A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3" name="Image 4" descr="/home/claude/steeltec/icons/magnify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00576" y="4285976"/>
            <a:ext cx="316017" cy="316017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7498080" y="4078224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Denetlenebilir</a:t>
            </a:r>
            <a:endParaRPr lang="en-US" sz="1700" dirty="0"/>
          </a:p>
        </p:txBody>
      </p:sp>
      <p:sp>
        <p:nvSpPr>
          <p:cNvPr id="25" name="Text 18"/>
          <p:cNvSpPr txBox="1"/>
          <p:nvPr/>
        </p:nvSpPr>
        <p:spPr>
          <a:xfrm>
            <a:off x="7498080" y="4535424"/>
            <a:ext cx="3977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Kullanım denetim günlüklerine düşer; DLP ve saklama politikaları uygulanır.</a:t>
            </a:r>
            <a:endParaRPr lang="en-US" sz="1250" dirty="0"/>
          </a:p>
        </p:txBody>
      </p:sp>
      <p:sp>
        <p:nvSpPr>
          <p:cNvPr id="26" name="Text 19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Microsoft 365 Copilot &amp; Copilot Studio</a:t>
            </a:r>
            <a:endParaRPr lang="en-US" sz="900" dirty="0"/>
          </a:p>
        </p:txBody>
      </p:sp>
      <p:sp>
        <p:nvSpPr>
          <p:cNvPr id="27" name="Text 20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1 · LISANS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Lisanslama — Kısaca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744200" y="438912"/>
            <a:ext cx="868680" cy="86868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5" name="Image 0" descr="/home/claude/steeltec/icons/key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0057" y="664769"/>
            <a:ext cx="416966" cy="41696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737360"/>
            <a:ext cx="1088136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Shape 4"/>
          <p:cNvSpPr/>
          <p:nvPr/>
        </p:nvSpPr>
        <p:spPr>
          <a:xfrm>
            <a:off x="822960" y="1920240"/>
            <a:ext cx="2880360" cy="777240"/>
          </a:xfrm>
          <a:prstGeom prst="roundRect">
            <a:avLst>
              <a:gd name="adj" fmla="val 9412"/>
            </a:avLst>
          </a:prstGeom>
          <a:solidFill>
            <a:srgbClr val="1E243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" name="Text 5"/>
          <p:cNvSpPr txBox="1"/>
          <p:nvPr/>
        </p:nvSpPr>
        <p:spPr>
          <a:xfrm>
            <a:off x="960120" y="192024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Microsoft 365 Copilot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3886200" y="1737360"/>
            <a:ext cx="7406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 başı aylık lisans (kurumsal add-on).
</a:t>
            </a:r>
            <a:r>
              <a:rPr lang="en-US" sz="12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Word/Excel/Teams içi tam Copilot + kurum verisi (Graph).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0080" y="3044952"/>
            <a:ext cx="1088136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1" name="Shape 8"/>
          <p:cNvSpPr/>
          <p:nvPr/>
        </p:nvSpPr>
        <p:spPr>
          <a:xfrm>
            <a:off x="822960" y="3227832"/>
            <a:ext cx="2880360" cy="777240"/>
          </a:xfrm>
          <a:prstGeom prst="roundRect">
            <a:avLst>
              <a:gd name="adj" fmla="val 9412"/>
            </a:avLst>
          </a:prstGeom>
          <a:solidFill>
            <a:srgbClr val="1E243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2" name="Text 9"/>
          <p:cNvSpPr txBox="1"/>
          <p:nvPr/>
        </p:nvSpPr>
        <p:spPr>
          <a:xfrm>
            <a:off x="960120" y="3227832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Copilot Chat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3886200" y="3044952"/>
            <a:ext cx="7406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Çoğu M365 planına dahil, güvenli sohbet.
</a:t>
            </a:r>
            <a:r>
              <a:rPr lang="en-US" sz="12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temelli + temel agent kullanımı.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40080" y="4352544"/>
            <a:ext cx="1088136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5" name="Shape 12"/>
          <p:cNvSpPr/>
          <p:nvPr/>
        </p:nvSpPr>
        <p:spPr>
          <a:xfrm>
            <a:off x="822960" y="4535424"/>
            <a:ext cx="2880360" cy="777240"/>
          </a:xfrm>
          <a:prstGeom prst="roundRect">
            <a:avLst>
              <a:gd name="adj" fmla="val 9412"/>
            </a:avLst>
          </a:prstGeom>
          <a:solidFill>
            <a:srgbClr val="1E243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6" name="Text 13"/>
          <p:cNvSpPr txBox="1"/>
          <p:nvPr/>
        </p:nvSpPr>
        <p:spPr>
          <a:xfrm>
            <a:off x="960120" y="4535424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Copilot Studio</a:t>
            </a:r>
            <a:endParaRPr lang="en-US" sz="1450" dirty="0"/>
          </a:p>
        </p:txBody>
      </p:sp>
      <p:sp>
        <p:nvSpPr>
          <p:cNvPr id="17" name="Text 14"/>
          <p:cNvSpPr txBox="1"/>
          <p:nvPr/>
        </p:nvSpPr>
        <p:spPr>
          <a:xfrm>
            <a:off x="3886200" y="4352544"/>
            <a:ext cx="7406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Kredi (eski adı 'mesaj') tüketimine dayalı.
</a:t>
            </a:r>
            <a:r>
              <a:rPr lang="en-US" sz="12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üretimi ücretsiz; çalıştırma kredi harcar.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58064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D24E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Not: Fiyat ve paketler zamanla değişir — güncel rakamlar için Microsoft lisans sayfasını esas alın. Maliyet detayını Bölüm 4'te ele alacağız.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Microsoft 365 Copilot &amp; Copilot Studio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955280" y="182880"/>
            <a:ext cx="4023360" cy="6492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0" b="1" dirty="0">
                <a:solidFill>
                  <a:srgbClr val="2730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0" dirty="0"/>
          </a:p>
        </p:txBody>
      </p:sp>
      <p:sp>
        <p:nvSpPr>
          <p:cNvPr id="3" name="Shape 1"/>
          <p:cNvSpPr/>
          <p:nvPr/>
        </p:nvSpPr>
        <p:spPr>
          <a:xfrm>
            <a:off x="822960" y="2103120"/>
            <a:ext cx="1051560" cy="105156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4" name="Image 0" descr="/home/claude/steeltec/icons/cha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366" y="2376526"/>
            <a:ext cx="504749" cy="50474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68680" y="3383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1 · MODÜL 2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3703320"/>
            <a:ext cx="7498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Uygulama İçinde</a:t>
            </a:r>
            <a:endParaRPr lang="en-US" sz="40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Copilot Kullanmak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Copilot Studio Agent Eğitimi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2 · UYGULAMALAR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Office Genelinde Copilot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896112" y="1901952"/>
            <a:ext cx="603504" cy="60350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6" name="Image 0" descr="/home/claude/steeltec/icons/wor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023" y="2058863"/>
            <a:ext cx="289682" cy="28968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1920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Word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896112" y="2615184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Taslak yaz, özetle, yeniden yazdır, ton değiştir.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16552" y="1627632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Shape 7"/>
          <p:cNvSpPr/>
          <p:nvPr/>
        </p:nvSpPr>
        <p:spPr>
          <a:xfrm>
            <a:off x="4672584" y="1901952"/>
            <a:ext cx="603504" cy="60350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1" name="Image 1" descr="/home/claude/steeltec/icons/excel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9495" y="2058863"/>
            <a:ext cx="289682" cy="28968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76672" y="1920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</a:t>
            </a:r>
            <a:endParaRPr lang="en-US" sz="1650" dirty="0"/>
          </a:p>
        </p:txBody>
      </p:sp>
      <p:sp>
        <p:nvSpPr>
          <p:cNvPr id="13" name="Text 9"/>
          <p:cNvSpPr txBox="1"/>
          <p:nvPr/>
        </p:nvSpPr>
        <p:spPr>
          <a:xfrm>
            <a:off x="4672584" y="2615184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Formül, analiz, trend, tablo ve grafik.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93024" y="1627632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5" name="Shape 11"/>
          <p:cNvSpPr/>
          <p:nvPr/>
        </p:nvSpPr>
        <p:spPr>
          <a:xfrm>
            <a:off x="8449056" y="1901952"/>
            <a:ext cx="603504" cy="60350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6" name="Image 2" descr="/home/claude/steeltec/icons/pp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5967" y="2058863"/>
            <a:ext cx="289682" cy="28968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153144" y="1920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PowerPoint</a:t>
            </a:r>
            <a:endParaRPr lang="en-US" sz="1650" dirty="0"/>
          </a:p>
        </p:txBody>
      </p:sp>
      <p:sp>
        <p:nvSpPr>
          <p:cNvPr id="18" name="Text 13"/>
          <p:cNvSpPr txBox="1"/>
          <p:nvPr/>
        </p:nvSpPr>
        <p:spPr>
          <a:xfrm>
            <a:off x="8449056" y="2615184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Word'den sunum üret, slayt tasarla.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40080" y="3803904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0" name="Shape 15"/>
          <p:cNvSpPr/>
          <p:nvPr/>
        </p:nvSpPr>
        <p:spPr>
          <a:xfrm>
            <a:off x="896112" y="4078224"/>
            <a:ext cx="603504" cy="60350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1" name="Image 3" descr="/home/claude/steeltec/icons/outlook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3023" y="4235135"/>
            <a:ext cx="289682" cy="28968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600200" y="409651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Outlook</a:t>
            </a:r>
            <a:endParaRPr lang="en-US" sz="1650" dirty="0"/>
          </a:p>
        </p:txBody>
      </p:sp>
      <p:sp>
        <p:nvSpPr>
          <p:cNvPr id="23" name="Text 17"/>
          <p:cNvSpPr txBox="1"/>
          <p:nvPr/>
        </p:nvSpPr>
        <p:spPr>
          <a:xfrm>
            <a:off x="896112" y="4791456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E-posta özeti, yanıt taslağı, ipliği topla.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416552" y="3803904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5" name="Shape 19"/>
          <p:cNvSpPr/>
          <p:nvPr/>
        </p:nvSpPr>
        <p:spPr>
          <a:xfrm>
            <a:off x="4672584" y="4078224"/>
            <a:ext cx="603504" cy="60350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6" name="Image 4" descr="/home/claude/steeltec/icons/teams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9495" y="4235135"/>
            <a:ext cx="289682" cy="28968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376672" y="409651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Teams</a:t>
            </a:r>
            <a:endParaRPr lang="en-US" sz="1650" dirty="0"/>
          </a:p>
        </p:txBody>
      </p:sp>
      <p:sp>
        <p:nvSpPr>
          <p:cNvPr id="28" name="Text 21"/>
          <p:cNvSpPr txBox="1"/>
          <p:nvPr/>
        </p:nvSpPr>
        <p:spPr>
          <a:xfrm>
            <a:off x="4672584" y="4791456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Toplantı özeti, kararlar ve aksiyonlar.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193024" y="3803904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0" name="Shape 23"/>
          <p:cNvSpPr/>
          <p:nvPr/>
        </p:nvSpPr>
        <p:spPr>
          <a:xfrm>
            <a:off x="8449056" y="4078224"/>
            <a:ext cx="603504" cy="60350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31" name="Image 5" descr="/home/claude/steeltec/icons/comments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05967" y="4235135"/>
            <a:ext cx="289682" cy="289682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153144" y="409651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Copilot Chat</a:t>
            </a:r>
            <a:endParaRPr lang="en-US" sz="1650" dirty="0"/>
          </a:p>
        </p:txBody>
      </p:sp>
      <p:sp>
        <p:nvSpPr>
          <p:cNvPr id="33" name="Text 25"/>
          <p:cNvSpPr txBox="1"/>
          <p:nvPr/>
        </p:nvSpPr>
        <p:spPr>
          <a:xfrm>
            <a:off x="8449056" y="4791456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Kurum verisiyle sohbet, Researcher &amp; Analyst.</a:t>
            </a:r>
            <a:endParaRPr lang="en-US" sz="1200" dirty="0"/>
          </a:p>
        </p:txBody>
      </p:sp>
      <p:sp>
        <p:nvSpPr>
          <p:cNvPr id="34" name="Text 26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Microsoft 365 Copilot &amp; Copilot Studio</a:t>
            </a:r>
            <a:endParaRPr lang="en-US" sz="900" dirty="0"/>
          </a:p>
        </p:txBody>
      </p:sp>
      <p:sp>
        <p:nvSpPr>
          <p:cNvPr id="35" name="Text 27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2 · WORD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Word'de Copilot — Örnek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744200" y="438912"/>
            <a:ext cx="868680" cy="86868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5" name="Image 0" descr="/home/claude/steeltec/icons/wor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0057" y="664769"/>
            <a:ext cx="416966" cy="41696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645920"/>
            <a:ext cx="6766560" cy="3063240"/>
          </a:xfrm>
          <a:prstGeom prst="roundRect">
            <a:avLst>
              <a:gd name="adj" fmla="val 1791"/>
            </a:avLst>
          </a:prstGeom>
          <a:solidFill>
            <a:srgbClr val="1B233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Shape 4"/>
          <p:cNvSpPr/>
          <p:nvPr/>
        </p:nvSpPr>
        <p:spPr>
          <a:xfrm>
            <a:off x="640080" y="1645920"/>
            <a:ext cx="6766560" cy="310896"/>
          </a:xfrm>
          <a:prstGeom prst="roundRect">
            <a:avLst>
              <a:gd name="adj" fmla="val 17647"/>
            </a:avLst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" name="Shape 5"/>
          <p:cNvSpPr/>
          <p:nvPr/>
        </p:nvSpPr>
        <p:spPr>
          <a:xfrm>
            <a:off x="640080" y="1801368"/>
            <a:ext cx="6766560" cy="155448"/>
          </a:xfrm>
          <a:prstGeom prst="rect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Text 6"/>
          <p:cNvSpPr txBox="1"/>
          <p:nvPr/>
        </p:nvSpPr>
        <p:spPr>
          <a:xfrm>
            <a:off x="768096" y="1664208"/>
            <a:ext cx="6510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(Word &gt; Copilot)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804672" y="2048256"/>
            <a:ext cx="6437376" cy="2551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Kaynak atölyesi için 1 sayfalık bir iş güvenliği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talimatı taslağı yaz.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Başlık, amaç, kapsam, 6 adım, sorumlular bölümleri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Sade, emir kipinde, uygulanabilir dil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Sonuna bir onay/imza tablosu ekle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(Alternatif: 'Bu belgeyi yönetici özeti olarak 5 maddede özetle.')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635240" y="1645920"/>
            <a:ext cx="3886200" cy="3063240"/>
          </a:xfrm>
          <a:prstGeom prst="roundRect">
            <a:avLst>
              <a:gd name="adj" fmla="val 3582"/>
            </a:avLst>
          </a:prstGeom>
          <a:solidFill>
            <a:srgbClr val="1E2430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2" name="Text 9"/>
          <p:cNvSpPr txBox="1"/>
          <p:nvPr/>
        </p:nvSpPr>
        <p:spPr>
          <a:xfrm>
            <a:off x="7863840" y="18288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KULLANIM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863840" y="2212848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Sıfırdan taslak oluşturma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olan belgeyi özetleme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Tonu/uzunluğu değiştirme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dosyaya dayalı yazdırma (/ ile referans)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40080" y="493776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FFE7D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5" name="Shape 12"/>
          <p:cNvSpPr/>
          <p:nvPr/>
        </p:nvSpPr>
        <p:spPr>
          <a:xfrm>
            <a:off x="914400" y="5138928"/>
            <a:ext cx="512064" cy="51206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6" name="Image 1" descr="/home/claude/steeltec/icons/bulb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537" y="5272065"/>
            <a:ext cx="245791" cy="245791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645920" y="4956048"/>
            <a:ext cx="96926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24E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İpucu: </a:t>
            </a:r>
            <a:r>
              <a:rPr lang="en-US" sz="13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Word'de '/' yazıp bir dosyaya referans vererek Copilot'un o belgeye dayanmasını sağlayabilirsiniz.</a:t>
            </a:r>
            <a:endParaRPr lang="en-US" sz="1350" dirty="0"/>
          </a:p>
        </p:txBody>
      </p:sp>
      <p:sp>
        <p:nvSpPr>
          <p:cNvPr id="18" name="Text 14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Microsoft 365 Copilot &amp; Copilot Studio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2 · EXCEL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Excel'de Copilot — Örnek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744200" y="438912"/>
            <a:ext cx="868680" cy="86868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5" name="Image 0" descr="/home/claude/steeltec/icons/excel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0057" y="664769"/>
            <a:ext cx="416966" cy="41696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645920"/>
            <a:ext cx="6766560" cy="3063240"/>
          </a:xfrm>
          <a:prstGeom prst="roundRect">
            <a:avLst>
              <a:gd name="adj" fmla="val 1791"/>
            </a:avLst>
          </a:prstGeom>
          <a:solidFill>
            <a:srgbClr val="1B233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Shape 4"/>
          <p:cNvSpPr/>
          <p:nvPr/>
        </p:nvSpPr>
        <p:spPr>
          <a:xfrm>
            <a:off x="640080" y="1645920"/>
            <a:ext cx="6766560" cy="310896"/>
          </a:xfrm>
          <a:prstGeom prst="roundRect">
            <a:avLst>
              <a:gd name="adj" fmla="val 17647"/>
            </a:avLst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" name="Shape 5"/>
          <p:cNvSpPr/>
          <p:nvPr/>
        </p:nvSpPr>
        <p:spPr>
          <a:xfrm>
            <a:off x="640080" y="1801368"/>
            <a:ext cx="6766560" cy="155448"/>
          </a:xfrm>
          <a:prstGeom prst="rect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Text 6"/>
          <p:cNvSpPr txBox="1"/>
          <p:nvPr/>
        </p:nvSpPr>
        <p:spPr>
          <a:xfrm>
            <a:off x="768096" y="1664208"/>
            <a:ext cx="6510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(Excel &gt; Copilot)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804672" y="2048256"/>
            <a:ext cx="6437376" cy="2551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 satış tablosunu analiz et: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Bölgeye göre toplam ciroyu hesapla, en zayıf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bölgeyi vurgula.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Aylık büyüme oranı için bir sütun formülü öner.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En çok satan 3 ürünü bir grafikle göster.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Dikkat çeken bir anomali/trend varsa açıkla.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635240" y="1645920"/>
            <a:ext cx="3886200" cy="3063240"/>
          </a:xfrm>
          <a:prstGeom prst="roundRect">
            <a:avLst>
              <a:gd name="adj" fmla="val 3582"/>
            </a:avLst>
          </a:prstGeom>
          <a:solidFill>
            <a:srgbClr val="1E2430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2" name="Text 9"/>
          <p:cNvSpPr txBox="1"/>
          <p:nvPr/>
        </p:nvSpPr>
        <p:spPr>
          <a:xfrm>
            <a:off x="7863840" y="18288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KULLANIM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863840" y="2212848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Formül yazma ve açıklama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Veriyi analiz + görselleştirme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Tabloyu biçimlendirme / temizleme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'What-if' senaryoları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40080" y="493776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FFE7D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5" name="Shape 12"/>
          <p:cNvSpPr/>
          <p:nvPr/>
        </p:nvSpPr>
        <p:spPr>
          <a:xfrm>
            <a:off x="914400" y="5138928"/>
            <a:ext cx="512064" cy="51206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6" name="Image 1" descr="/home/claude/steeltec/icons/bulb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537" y="5272065"/>
            <a:ext cx="245791" cy="245791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645920" y="4956048"/>
            <a:ext cx="96926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24E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İpucu: </a:t>
            </a:r>
            <a:r>
              <a:rPr lang="en-US" sz="13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iyi sonuç için veriyi bir Tablo (Ctrl+T) haline getirin; Copilot yapılandırılmış veriyle çok daha isabetli çalışır.</a:t>
            </a:r>
            <a:endParaRPr lang="en-US" sz="1350" dirty="0"/>
          </a:p>
        </p:txBody>
      </p:sp>
      <p:sp>
        <p:nvSpPr>
          <p:cNvPr id="18" name="Text 14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Microsoft 365 Copilot &amp; Copilot Studio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2 · POWERPOINT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PowerPoint'te Copilot — Örnek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744200" y="438912"/>
            <a:ext cx="868680" cy="86868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5" name="Image 0" descr="/home/claude/steeltec/icons/pp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0057" y="664769"/>
            <a:ext cx="416966" cy="41696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645920"/>
            <a:ext cx="6766560" cy="3063240"/>
          </a:xfrm>
          <a:prstGeom prst="roundRect">
            <a:avLst>
              <a:gd name="adj" fmla="val 1791"/>
            </a:avLst>
          </a:prstGeom>
          <a:solidFill>
            <a:srgbClr val="1B233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Shape 4"/>
          <p:cNvSpPr/>
          <p:nvPr/>
        </p:nvSpPr>
        <p:spPr>
          <a:xfrm>
            <a:off x="640080" y="1645920"/>
            <a:ext cx="6766560" cy="310896"/>
          </a:xfrm>
          <a:prstGeom prst="roundRect">
            <a:avLst>
              <a:gd name="adj" fmla="val 17647"/>
            </a:avLst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" name="Shape 5"/>
          <p:cNvSpPr/>
          <p:nvPr/>
        </p:nvSpPr>
        <p:spPr>
          <a:xfrm>
            <a:off x="640080" y="1801368"/>
            <a:ext cx="6766560" cy="155448"/>
          </a:xfrm>
          <a:prstGeom prst="rect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Text 6"/>
          <p:cNvSpPr txBox="1"/>
          <p:nvPr/>
        </p:nvSpPr>
        <p:spPr>
          <a:xfrm>
            <a:off x="768096" y="1664208"/>
            <a:ext cx="6510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(PowerPoint &gt; Copilot)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804672" y="2048256"/>
            <a:ext cx="6437376" cy="2551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'Üretim ekipleri için Copilot farkındalığı' konulu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slaytlık kurumsal bir sunum oluştur.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Başlık + ajanda + 5 içerik + kapanış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Her slaytta 3-4 madde ve konuşmacı notu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Sade, kurumsal tema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Sonra: 'Bu Word raporundan bir sunum oluştur' de.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635240" y="1645920"/>
            <a:ext cx="3886200" cy="3063240"/>
          </a:xfrm>
          <a:prstGeom prst="roundRect">
            <a:avLst>
              <a:gd name="adj" fmla="val 3582"/>
            </a:avLst>
          </a:prstGeom>
          <a:solidFill>
            <a:srgbClr val="1E2430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2" name="Text 9"/>
          <p:cNvSpPr txBox="1"/>
          <p:nvPr/>
        </p:nvSpPr>
        <p:spPr>
          <a:xfrm>
            <a:off x="7863840" y="18288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KULLANIM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863840" y="2212848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Konudan sunum üretme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belgesinden sunum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Slayt ekleme / yeniden düzenleme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Görsel ve tasarım önerisi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40080" y="493776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FFE7D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5" name="Shape 12"/>
          <p:cNvSpPr/>
          <p:nvPr/>
        </p:nvSpPr>
        <p:spPr>
          <a:xfrm>
            <a:off x="914400" y="5138928"/>
            <a:ext cx="512064" cy="51206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6" name="Image 1" descr="/home/claude/steeltec/icons/bulb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537" y="5272065"/>
            <a:ext cx="245791" cy="245791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645920" y="4956048"/>
            <a:ext cx="96926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24E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İpucu: </a:t>
            </a:r>
            <a:r>
              <a:rPr lang="en-US" sz="13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olan bir Word dosyasından sunum ürettirmek, boş sayfadan başlamaktan çok daha tutarlı sonuç verir.</a:t>
            </a:r>
            <a:endParaRPr lang="en-US" sz="1350" dirty="0"/>
          </a:p>
        </p:txBody>
      </p:sp>
      <p:sp>
        <p:nvSpPr>
          <p:cNvPr id="18" name="Text 14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Microsoft 365 Copilot &amp; Copilot Studio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2 · OUTLOOK &amp; TEAMS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E-posta ve Toplantıda Copilot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5349240" cy="402336"/>
          </a:xfrm>
          <a:prstGeom prst="roundRect">
            <a:avLst>
              <a:gd name="adj" fmla="val 50000"/>
            </a:avLst>
          </a:prstGeom>
          <a:solidFill>
            <a:srgbClr val="FFE7D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402336" cy="402336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6" name="Image 0" descr="/home/claude/steeltec/icons/outloo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1527048"/>
            <a:ext cx="182880" cy="1828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8720" y="1417320"/>
            <a:ext cx="4663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24E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 &gt; Copilot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1938528"/>
            <a:ext cx="5349240" cy="2788920"/>
          </a:xfrm>
          <a:prstGeom prst="roundRect">
            <a:avLst>
              <a:gd name="adj" fmla="val 1967"/>
            </a:avLst>
          </a:prstGeom>
          <a:solidFill>
            <a:srgbClr val="1B233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Shape 6"/>
          <p:cNvSpPr/>
          <p:nvPr/>
        </p:nvSpPr>
        <p:spPr>
          <a:xfrm>
            <a:off x="640080" y="1938528"/>
            <a:ext cx="5349240" cy="310896"/>
          </a:xfrm>
          <a:prstGeom prst="roundRect">
            <a:avLst>
              <a:gd name="adj" fmla="val 17647"/>
            </a:avLst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Shape 7"/>
          <p:cNvSpPr/>
          <p:nvPr/>
        </p:nvSpPr>
        <p:spPr>
          <a:xfrm>
            <a:off x="640080" y="2093976"/>
            <a:ext cx="5349240" cy="155448"/>
          </a:xfrm>
          <a:prstGeom prst="rect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8"/>
          <p:cNvSpPr txBox="1"/>
          <p:nvPr/>
        </p:nvSpPr>
        <p:spPr>
          <a:xfrm>
            <a:off x="768096" y="1956816"/>
            <a:ext cx="5093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E-POSTA PROMPT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804672" y="2340864"/>
            <a:ext cx="5020056" cy="2276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 uzun e-posta ipliğini özetle: kim ne talep etti,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hangi kararlar alındı, bekleyen aksiyonlar neler?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Ardından: müşteriye gecikme için özür + yeni teslim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tarihi içeren, resmi ve kısa bir yanıt taslağı yaz.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172200" y="1417320"/>
            <a:ext cx="5349240" cy="402336"/>
          </a:xfrm>
          <a:prstGeom prst="roundRect">
            <a:avLst>
              <a:gd name="adj" fmla="val 50000"/>
            </a:avLst>
          </a:prstGeom>
          <a:solidFill>
            <a:srgbClr val="FFE7D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Shape 11"/>
          <p:cNvSpPr/>
          <p:nvPr/>
        </p:nvSpPr>
        <p:spPr>
          <a:xfrm>
            <a:off x="6190488" y="1417320"/>
            <a:ext cx="402336" cy="402336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5" name="Image 1" descr="/home/claude/steeltec/icons/team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0216" y="1527048"/>
            <a:ext cx="182880" cy="18288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6720840" y="1417320"/>
            <a:ext cx="4663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24E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&gt; Copilot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172200" y="1938528"/>
            <a:ext cx="5349240" cy="2788920"/>
          </a:xfrm>
          <a:prstGeom prst="roundRect">
            <a:avLst>
              <a:gd name="adj" fmla="val 1967"/>
            </a:avLst>
          </a:prstGeom>
          <a:solidFill>
            <a:srgbClr val="1B233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8" name="Shape 14"/>
          <p:cNvSpPr/>
          <p:nvPr/>
        </p:nvSpPr>
        <p:spPr>
          <a:xfrm>
            <a:off x="6172200" y="1938528"/>
            <a:ext cx="5349240" cy="310896"/>
          </a:xfrm>
          <a:prstGeom prst="roundRect">
            <a:avLst>
              <a:gd name="adj" fmla="val 17647"/>
            </a:avLst>
          </a:prstGeom>
          <a:solidFill>
            <a:srgbClr val="37425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9" name="Shape 15"/>
          <p:cNvSpPr/>
          <p:nvPr/>
        </p:nvSpPr>
        <p:spPr>
          <a:xfrm>
            <a:off x="6172200" y="2093976"/>
            <a:ext cx="5349240" cy="155448"/>
          </a:xfrm>
          <a:prstGeom prst="rect">
            <a:avLst/>
          </a:prstGeom>
          <a:solidFill>
            <a:srgbClr val="37425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0" name="Text 16"/>
          <p:cNvSpPr txBox="1"/>
          <p:nvPr/>
        </p:nvSpPr>
        <p:spPr>
          <a:xfrm>
            <a:off x="6300216" y="1956816"/>
            <a:ext cx="5093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TOPLANTI PROMPT</a:t>
            </a:r>
            <a:endParaRPr lang="en-US" sz="1050" dirty="0"/>
          </a:p>
        </p:txBody>
      </p:sp>
      <p:sp>
        <p:nvSpPr>
          <p:cNvPr id="21" name="Text 17"/>
          <p:cNvSpPr txBox="1"/>
          <p:nvPr/>
        </p:nvSpPr>
        <p:spPr>
          <a:xfrm>
            <a:off x="6336792" y="2340864"/>
            <a:ext cx="5020056" cy="2276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 toplantıyı özetle: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Alınan kararları madde madde listele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Aksiyonları 'Sorumlu — İş — Termin' tablosu yap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Bana atanan görevleri ayrıca vurgula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Tartışılan açık/çözülmemiş konuları belirt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640080" y="4937760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1E243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3" name="Shape 19"/>
          <p:cNvSpPr/>
          <p:nvPr/>
        </p:nvSpPr>
        <p:spPr>
          <a:xfrm>
            <a:off x="914400" y="5102352"/>
            <a:ext cx="512064" cy="51206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4" name="Image 2" descr="/home/claude/steeltec/icons/bulb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7537" y="5235489"/>
            <a:ext cx="245791" cy="245791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1645920" y="493776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Zaman kazancı: </a:t>
            </a:r>
            <a:r>
              <a:rPr lang="en-US" sz="13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Katılamadığınız toplantıyı dakikalar içinde özetleyip size düşen aksiyonları çıkarmak, en sevilen Copilot kullanımlarındandır.</a:t>
            </a:r>
            <a:endParaRPr lang="en-US" sz="1350" dirty="0"/>
          </a:p>
        </p:txBody>
      </p:sp>
      <p:sp>
        <p:nvSpPr>
          <p:cNvPr id="26" name="Text 21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Microsoft 365 Copilot &amp; Copilot Studio</a:t>
            </a:r>
            <a:endParaRPr lang="en-US" sz="900" dirty="0"/>
          </a:p>
        </p:txBody>
      </p:sp>
      <p:sp>
        <p:nvSpPr>
          <p:cNvPr id="27" name="Text 22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2 · HAZIR AJANLAR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Researcher ve Analyst — Gelişmiş Ajanlar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M365 Copilot lisansıyla gelen, çok adımlı akıl yürüten iki hazır ajan. Bunlar Copilot Studio ile yapacağınız agent'lara da güzel bir önizleme.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349240" cy="306324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932688" y="2240280"/>
            <a:ext cx="731520" cy="731520"/>
          </a:xfrm>
          <a:prstGeom prst="ellipse">
            <a:avLst/>
          </a:prstGeom>
          <a:solidFill>
            <a:srgbClr val="2E6FD6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7" name="Image 0" descr="/home/claude/steeltec/icons/magnify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883" y="2430475"/>
            <a:ext cx="351130" cy="35113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828800" y="222199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Researcher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1828800" y="267919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Derin, çok kaynaklı araştırma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1005840" y="3246120"/>
            <a:ext cx="4617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 verisi + web'i birlikte tarar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Rakip analizi, pazar özeti, brifing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Kaynaklı, uzun raporlar üretir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Diğer ajanları da çağırabilir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355080" y="1965960"/>
            <a:ext cx="5349240" cy="306324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2" name="Shape 9"/>
          <p:cNvSpPr/>
          <p:nvPr/>
        </p:nvSpPr>
        <p:spPr>
          <a:xfrm>
            <a:off x="6647688" y="2240280"/>
            <a:ext cx="731520" cy="731520"/>
          </a:xfrm>
          <a:prstGeom prst="ellipse">
            <a:avLst/>
          </a:prstGeom>
          <a:solidFill>
            <a:srgbClr val="1E8E5A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3" name="Image 1" descr="/home/claude/steeltec/icons/char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7883" y="2430475"/>
            <a:ext cx="351130" cy="35113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543800" y="222199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Analyst</a:t>
            </a:r>
            <a:endParaRPr lang="en-US" sz="1900" dirty="0"/>
          </a:p>
        </p:txBody>
      </p:sp>
      <p:sp>
        <p:nvSpPr>
          <p:cNvPr id="15" name="Text 11"/>
          <p:cNvSpPr txBox="1"/>
          <p:nvPr/>
        </p:nvSpPr>
        <p:spPr>
          <a:xfrm>
            <a:off x="7543800" y="267919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bilimcisi gibi analiz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6720840" y="3246120"/>
            <a:ext cx="4617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Adım adım (chain-of-thought) çözer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zamanlı Python çalıştırır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 veriden içgörü ve grafik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 görünür ve denetlenebilir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40080" y="5257800"/>
            <a:ext cx="10881360" cy="548640"/>
          </a:xfrm>
          <a:prstGeom prst="roundRect">
            <a:avLst>
              <a:gd name="adj" fmla="val 16667"/>
            </a:avLst>
          </a:prstGeom>
          <a:solidFill>
            <a:srgbClr val="FFE7D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8" name="Text 14"/>
          <p:cNvSpPr txBox="1"/>
          <p:nvPr/>
        </p:nvSpPr>
        <p:spPr>
          <a:xfrm>
            <a:off x="914400" y="525780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24E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 Researcher promptu:  </a:t>
            </a:r>
            <a:r>
              <a:rPr lang="en-US" sz="1200" i="1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"Türkiye paslanmaz çelik pazarı için IW SteelTec'e 5 stratejik öneri içeren kaynaklı bir brifing hazırla."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Microsoft 365 Copilot &amp; Copilot Studio</a:t>
            </a:r>
            <a:endParaRPr lang="en-US" sz="900" dirty="0"/>
          </a:p>
        </p:txBody>
      </p:sp>
      <p:sp>
        <p:nvSpPr>
          <p:cNvPr id="20" name="Text 16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2 · PROMPT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İyi Bir Copilot Promptunun 4 Parçası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744200" y="438912"/>
            <a:ext cx="868680" cy="86868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5" name="Image 0" descr="/home/claude/steeltec/icons/bulb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0057" y="664769"/>
            <a:ext cx="416966" cy="41696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691640"/>
            <a:ext cx="53492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Shape 4"/>
          <p:cNvSpPr/>
          <p:nvPr/>
        </p:nvSpPr>
        <p:spPr>
          <a:xfrm>
            <a:off x="896112" y="2057400"/>
            <a:ext cx="640080" cy="64008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8" name="Image 1" descr="/home/claude/steeltec/icons/use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2533" y="2223821"/>
            <a:ext cx="307238" cy="30723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91640" y="1911096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 / Rol</a:t>
            </a:r>
            <a:endParaRPr lang="en-US" sz="1650" dirty="0"/>
          </a:p>
        </p:txBody>
      </p:sp>
      <p:sp>
        <p:nvSpPr>
          <p:cNvPr id="10" name="Text 6"/>
          <p:cNvSpPr txBox="1"/>
          <p:nvPr/>
        </p:nvSpPr>
        <p:spPr>
          <a:xfrm>
            <a:off x="1691640" y="235000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Kimin gözünden? 'Satın alma uzmanı olarak…'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355080" y="1691640"/>
            <a:ext cx="53492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2" name="Shape 8"/>
          <p:cNvSpPr/>
          <p:nvPr/>
        </p:nvSpPr>
        <p:spPr>
          <a:xfrm>
            <a:off x="6611112" y="2057400"/>
            <a:ext cx="640080" cy="64008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3" name="Image 2" descr="/home/claude/steeltec/icons/targe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7533" y="2223821"/>
            <a:ext cx="307238" cy="30723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406640" y="1911096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Görev</a:t>
            </a:r>
            <a:endParaRPr lang="en-US" sz="1650" dirty="0"/>
          </a:p>
        </p:txBody>
      </p:sp>
      <p:sp>
        <p:nvSpPr>
          <p:cNvPr id="15" name="Text 10"/>
          <p:cNvSpPr txBox="1"/>
          <p:nvPr/>
        </p:nvSpPr>
        <p:spPr>
          <a:xfrm>
            <a:off x="7406640" y="235000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yapsın? Net fiil: özetle, karşılaştır, taslak yaz.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" y="3291840"/>
            <a:ext cx="53492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7" name="Shape 12"/>
          <p:cNvSpPr/>
          <p:nvPr/>
        </p:nvSpPr>
        <p:spPr>
          <a:xfrm>
            <a:off x="896112" y="3657600"/>
            <a:ext cx="640080" cy="64008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8" name="Image 3" descr="/home/claude/steeltec/icons/book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2533" y="3824021"/>
            <a:ext cx="307238" cy="30723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691640" y="3511296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Bağlam</a:t>
            </a:r>
            <a:endParaRPr lang="en-US" sz="1650" dirty="0"/>
          </a:p>
        </p:txBody>
      </p:sp>
      <p:sp>
        <p:nvSpPr>
          <p:cNvPr id="20" name="Text 14"/>
          <p:cNvSpPr txBox="1"/>
          <p:nvPr/>
        </p:nvSpPr>
        <p:spPr>
          <a:xfrm>
            <a:off x="1691640" y="395020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Hangi dosya/veri, hangi kitle, hangi amaç?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6355080" y="3291840"/>
            <a:ext cx="53492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2" name="Shape 16"/>
          <p:cNvSpPr/>
          <p:nvPr/>
        </p:nvSpPr>
        <p:spPr>
          <a:xfrm>
            <a:off x="6611112" y="3657600"/>
            <a:ext cx="640080" cy="64008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3" name="Image 4" descr="/home/claude/steeltec/icons/list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77533" y="3824021"/>
            <a:ext cx="307238" cy="307238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7406640" y="3511296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Beklenti / Format</a:t>
            </a:r>
            <a:endParaRPr lang="en-US" sz="1650" dirty="0"/>
          </a:p>
        </p:txBody>
      </p:sp>
      <p:sp>
        <p:nvSpPr>
          <p:cNvPr id="25" name="Text 18"/>
          <p:cNvSpPr txBox="1"/>
          <p:nvPr/>
        </p:nvSpPr>
        <p:spPr>
          <a:xfrm>
            <a:off x="7406640" y="395020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Çıktı biçimi, uzunluk, ton: 'tablo, 150 kelime, resmi'.</a:t>
            </a:r>
            <a:endParaRPr lang="en-US" sz="1250" dirty="0"/>
          </a:p>
        </p:txBody>
      </p:sp>
      <p:sp>
        <p:nvSpPr>
          <p:cNvPr id="26" name="Shape 19"/>
          <p:cNvSpPr/>
          <p:nvPr/>
        </p:nvSpPr>
        <p:spPr>
          <a:xfrm>
            <a:off x="640080" y="489204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1B233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7" name="Text 20"/>
          <p:cNvSpPr txBox="1"/>
          <p:nvPr/>
        </p:nvSpPr>
        <p:spPr>
          <a:xfrm>
            <a:off x="914400" y="4956048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Örnek:  </a:t>
            </a:r>
            <a:r>
              <a:rPr lang="en-US" sz="120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"Üretim planlama uzmanı olarak, ekteki üretim tablosunu incele; fire oranı en yüksek hattı bul ve yönetim için 3 maddelik, rakamlı bir aksiyon önerisi yaz — resmi ton, en fazla 120 kelime."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Microsoft 365 Copilot &amp; Copilot Studio</a:t>
            </a:r>
            <a:endParaRPr lang="en-US" sz="900" dirty="0"/>
          </a:p>
        </p:txBody>
      </p:sp>
      <p:sp>
        <p:nvSpPr>
          <p:cNvPr id="29" name="Text 22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2 · PROMPT KÜTÜPHANESI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Departmanlara Göre Hazır Prompt'lar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744200" y="438912"/>
            <a:ext cx="868680" cy="86868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5" name="Image 0" descr="/home/claude/steeltec/icons/lis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0057" y="664769"/>
            <a:ext cx="416966" cy="41696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572768"/>
            <a:ext cx="534924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Shape 4"/>
          <p:cNvSpPr/>
          <p:nvPr/>
        </p:nvSpPr>
        <p:spPr>
          <a:xfrm>
            <a:off x="640080" y="1572768"/>
            <a:ext cx="5349240" cy="457200"/>
          </a:xfrm>
          <a:prstGeom prst="roundRect">
            <a:avLst>
              <a:gd name="adj" fmla="val 24000"/>
            </a:avLst>
          </a:prstGeom>
          <a:solidFill>
            <a:srgbClr val="1E243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" name="Shape 5"/>
          <p:cNvSpPr/>
          <p:nvPr/>
        </p:nvSpPr>
        <p:spPr>
          <a:xfrm>
            <a:off x="640080" y="1801368"/>
            <a:ext cx="5349240" cy="228600"/>
          </a:xfrm>
          <a:prstGeom prst="rect">
            <a:avLst/>
          </a:prstGeom>
          <a:solidFill>
            <a:srgbClr val="1E243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Text 6"/>
          <p:cNvSpPr txBox="1"/>
          <p:nvPr/>
        </p:nvSpPr>
        <p:spPr>
          <a:xfrm>
            <a:off x="868680" y="1572768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SATIŞ &amp; PAZARLAMA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96112" y="2167128"/>
            <a:ext cx="48371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▸"/>
            </a:pPr>
            <a:r>
              <a:rPr lang="en-US" sz="1150" dirty="0">
                <a:solidFill>
                  <a:srgbClr val="22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 müşteriye takip e-postası taslağı yaz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▸"/>
            </a:pPr>
            <a:r>
              <a:rPr lang="en-US" sz="1150" dirty="0">
                <a:solidFill>
                  <a:srgbClr val="22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Son teklifimizi 3 maddede özetle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▸"/>
            </a:pPr>
            <a:r>
              <a:rPr lang="en-US" sz="1150" dirty="0">
                <a:solidFill>
                  <a:srgbClr val="22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Rakip X ile ürünümüzü karşılaştıran tablo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▸"/>
            </a:pPr>
            <a:r>
              <a:rPr lang="en-US" sz="1150" dirty="0">
                <a:solidFill>
                  <a:srgbClr val="22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 fuar için 5 satış konuşması açılışı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355080" y="1572768"/>
            <a:ext cx="534924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2" name="Shape 9"/>
          <p:cNvSpPr/>
          <p:nvPr/>
        </p:nvSpPr>
        <p:spPr>
          <a:xfrm>
            <a:off x="6355080" y="1572768"/>
            <a:ext cx="5349240" cy="457200"/>
          </a:xfrm>
          <a:prstGeom prst="roundRect">
            <a:avLst>
              <a:gd name="adj" fmla="val 24000"/>
            </a:avLst>
          </a:prstGeom>
          <a:solidFill>
            <a:srgbClr val="1E243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3" name="Shape 10"/>
          <p:cNvSpPr/>
          <p:nvPr/>
        </p:nvSpPr>
        <p:spPr>
          <a:xfrm>
            <a:off x="6355080" y="1801368"/>
            <a:ext cx="5349240" cy="228600"/>
          </a:xfrm>
          <a:prstGeom prst="rect">
            <a:avLst/>
          </a:prstGeom>
          <a:solidFill>
            <a:srgbClr val="1E243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Text 11"/>
          <p:cNvSpPr txBox="1"/>
          <p:nvPr/>
        </p:nvSpPr>
        <p:spPr>
          <a:xfrm>
            <a:off x="6583680" y="1572768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ÜRETİM &amp; PLANLAMA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6611112" y="2167128"/>
            <a:ext cx="48371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▸"/>
            </a:pPr>
            <a:r>
              <a:rPr lang="en-US" sz="1150" dirty="0">
                <a:solidFill>
                  <a:srgbClr val="22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 vardiya raporundaki duruşları özetle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▸"/>
            </a:pPr>
            <a:r>
              <a:rPr lang="en-US" sz="1150" dirty="0">
                <a:solidFill>
                  <a:srgbClr val="22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 oranı trendini analiz et, neden öner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▸"/>
            </a:pPr>
            <a:r>
              <a:rPr lang="en-US" sz="1150" dirty="0">
                <a:solidFill>
                  <a:srgbClr val="22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Bakım planı için kontrol listesi oluştur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▸"/>
            </a:pPr>
            <a:r>
              <a:rPr lang="en-US" sz="1150" dirty="0">
                <a:solidFill>
                  <a:srgbClr val="22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 prosedürü sadeleştirilmiş dille yeniden yaz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40080" y="3968496"/>
            <a:ext cx="534924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7" name="Shape 14"/>
          <p:cNvSpPr/>
          <p:nvPr/>
        </p:nvSpPr>
        <p:spPr>
          <a:xfrm>
            <a:off x="640080" y="3968496"/>
            <a:ext cx="5349240" cy="457200"/>
          </a:xfrm>
          <a:prstGeom prst="roundRect">
            <a:avLst>
              <a:gd name="adj" fmla="val 24000"/>
            </a:avLst>
          </a:prstGeom>
          <a:solidFill>
            <a:srgbClr val="1E243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8" name="Shape 15"/>
          <p:cNvSpPr/>
          <p:nvPr/>
        </p:nvSpPr>
        <p:spPr>
          <a:xfrm>
            <a:off x="640080" y="4197096"/>
            <a:ext cx="5349240" cy="228600"/>
          </a:xfrm>
          <a:prstGeom prst="rect">
            <a:avLst/>
          </a:prstGeom>
          <a:solidFill>
            <a:srgbClr val="1E243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9" name="Text 16"/>
          <p:cNvSpPr txBox="1"/>
          <p:nvPr/>
        </p:nvSpPr>
        <p:spPr>
          <a:xfrm>
            <a:off x="868680" y="3968496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 &amp; İDARİ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896112" y="4562856"/>
            <a:ext cx="48371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▸"/>
            </a:pPr>
            <a:r>
              <a:rPr lang="en-US" sz="1150" dirty="0">
                <a:solidFill>
                  <a:srgbClr val="22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 pozisyon için iş ilanı metni yaz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▸"/>
            </a:pPr>
            <a:r>
              <a:rPr lang="en-US" sz="1150" dirty="0">
                <a:solidFill>
                  <a:srgbClr val="22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Oryantasyon programı taslağı hazırla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▸"/>
            </a:pPr>
            <a:r>
              <a:rPr lang="en-US" sz="1150" dirty="0">
                <a:solidFill>
                  <a:srgbClr val="22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İzin politikasını çalışan diliyle özetle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▸"/>
            </a:pPr>
            <a:r>
              <a:rPr lang="en-US" sz="1150" dirty="0">
                <a:solidFill>
                  <a:srgbClr val="22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Mülakat için 8 yetkinlik sorusu üret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6355080" y="3968496"/>
            <a:ext cx="534924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2" name="Shape 19"/>
          <p:cNvSpPr/>
          <p:nvPr/>
        </p:nvSpPr>
        <p:spPr>
          <a:xfrm>
            <a:off x="6355080" y="3968496"/>
            <a:ext cx="5349240" cy="457200"/>
          </a:xfrm>
          <a:prstGeom prst="roundRect">
            <a:avLst>
              <a:gd name="adj" fmla="val 24000"/>
            </a:avLst>
          </a:prstGeom>
          <a:solidFill>
            <a:srgbClr val="1E243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3" name="Shape 20"/>
          <p:cNvSpPr/>
          <p:nvPr/>
        </p:nvSpPr>
        <p:spPr>
          <a:xfrm>
            <a:off x="6355080" y="4197096"/>
            <a:ext cx="5349240" cy="228600"/>
          </a:xfrm>
          <a:prstGeom prst="rect">
            <a:avLst/>
          </a:prstGeom>
          <a:solidFill>
            <a:srgbClr val="1E243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4" name="Text 21"/>
          <p:cNvSpPr txBox="1"/>
          <p:nvPr/>
        </p:nvSpPr>
        <p:spPr>
          <a:xfrm>
            <a:off x="6583680" y="3968496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SATIN ALMA &amp; KALİTE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6611112" y="4562856"/>
            <a:ext cx="48371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▸"/>
            </a:pPr>
            <a:r>
              <a:rPr lang="en-US" sz="1150" dirty="0">
                <a:solidFill>
                  <a:srgbClr val="22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tedarikçi teklifini karşılaştır, öner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▸"/>
            </a:pPr>
            <a:r>
              <a:rPr lang="en-US" sz="1150" dirty="0">
                <a:solidFill>
                  <a:srgbClr val="22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 sözleşmenin riskli maddelerini çıkar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▸"/>
            </a:pPr>
            <a:r>
              <a:rPr lang="en-US" sz="1150" dirty="0">
                <a:solidFill>
                  <a:srgbClr val="22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Denetim bulgularını aksiyon tablosu yap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▸"/>
            </a:pPr>
            <a:r>
              <a:rPr lang="en-US" sz="1150" dirty="0">
                <a:solidFill>
                  <a:srgbClr val="22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RFQ (teklif isteme) metni hazırla</a:t>
            </a:r>
            <a:endParaRPr lang="en-US" sz="1150" dirty="0"/>
          </a:p>
        </p:txBody>
      </p:sp>
      <p:sp>
        <p:nvSpPr>
          <p:cNvPr id="26" name="Text 23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Microsoft 365 Copilot &amp; Copilot Studio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955280" y="182880"/>
            <a:ext cx="4023360" cy="6492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0" b="1" dirty="0">
                <a:solidFill>
                  <a:srgbClr val="2730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0" dirty="0"/>
          </a:p>
        </p:txBody>
      </p:sp>
      <p:sp>
        <p:nvSpPr>
          <p:cNvPr id="3" name="Shape 1"/>
          <p:cNvSpPr/>
          <p:nvPr/>
        </p:nvSpPr>
        <p:spPr>
          <a:xfrm>
            <a:off x="822960" y="2103120"/>
            <a:ext cx="1051560" cy="105156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4" name="Image 0" descr="/home/claude/steeltec/icons/robo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366" y="2376526"/>
            <a:ext cx="504749" cy="50474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68680" y="3383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2 · MODÜL 3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3703320"/>
            <a:ext cx="7498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Copilot Studio ve</a:t>
            </a:r>
            <a:endParaRPr lang="en-US" sz="40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Temelleri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Copilot Studio Agent Eğitimi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3 · TEMELLER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Nedir? Copilot Studio Nedir?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48640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 txBox="1"/>
          <p:nvPr/>
        </p:nvSpPr>
        <p:spPr>
          <a:xfrm>
            <a:off x="868680" y="17830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21408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Belirli bir amaç için yapılandırılmış, soruları yanıtlayan ve görevleri yürüten bir yapay zeka asistanıdır.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063240"/>
            <a:ext cx="5029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Kendi talimatı (nasıl davranacağı)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Kendi bilgisi (neye dayanacağı)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Kendi aksiyonları (ne yapabileceği)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Kendi kanalı (nerede yaşayacağı)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600200"/>
            <a:ext cx="5212080" cy="4114800"/>
          </a:xfrm>
          <a:prstGeom prst="roundRect">
            <a:avLst>
              <a:gd name="adj" fmla="val 2667"/>
            </a:avLst>
          </a:prstGeom>
          <a:solidFill>
            <a:srgbClr val="1E2430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 txBox="1"/>
          <p:nvPr/>
        </p:nvSpPr>
        <p:spPr>
          <a:xfrm>
            <a:off x="6537960" y="17830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STUDIO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2121408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Agent'ları kod yazmadan tasarlamak, test etmek ve yayınlamak için kullanılan düşük kodlu platform.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3063240"/>
            <a:ext cx="4754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CF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Doğal dille tarif et, Studio kursun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CF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Kurum verinize (Graph, SharePoint) bağla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CF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1.400+ konnektör ve akışla aksiyon ekle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CF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Teams, M365 Copilot ve web'e yayınla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Microsoft 365 Copilot &amp; Copilot Studio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3 · NEREDEN BAŞLANIR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Kurmanın İki Kapısı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49240" cy="379476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932688" y="1965960"/>
            <a:ext cx="731520" cy="731520"/>
          </a:xfrm>
          <a:prstGeom prst="ellipse">
            <a:avLst/>
          </a:prstGeom>
          <a:solidFill>
            <a:srgbClr val="37425A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6" name="Image 0" descr="/home/claude/steeltec/icons/microsof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883" y="2156155"/>
            <a:ext cx="351130" cy="35113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28800" y="1929384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Builder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1828800" y="2350008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A76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M365 Copilot içinde, hafif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1005840" y="2926080"/>
            <a:ext cx="4617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uygulaması &gt; 'Yeni agent'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Hazır şablonlar, hızlı kurulum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Talimat + knowledge + starter prompt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M365 Copilot'u genişletir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Basit Q&amp;A / departman asistanı için ideal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355080" y="1691640"/>
            <a:ext cx="5349240" cy="3794760"/>
          </a:xfrm>
          <a:prstGeom prst="roundRect">
            <a:avLst>
              <a:gd name="adj" fmla="val 2892"/>
            </a:avLst>
          </a:prstGeom>
          <a:solidFill>
            <a:srgbClr val="1E2430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1" name="Shape 8"/>
          <p:cNvSpPr/>
          <p:nvPr/>
        </p:nvSpPr>
        <p:spPr>
          <a:xfrm>
            <a:off x="6647688" y="1965960"/>
            <a:ext cx="731520" cy="73152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2" name="Image 1" descr="/home/claude/steeltec/icons/robo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7883" y="2156155"/>
            <a:ext cx="351130" cy="35113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543800" y="1929384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Copilot Studio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7543800" y="2350008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6A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copilotstudio.microsoft.com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6720840" y="2926080"/>
            <a:ext cx="4617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CF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tasarım tuvali (Build sekmesi)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CF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Topics, actions, flows, tetikleyiciler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CF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Orkestrasyon, çok-ajan, otonom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CF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kanallara yayın + ALM/ortamlar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CF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Karmaşık, kurumsal agent'lar için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640080" y="56692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D24E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Bugün Copilot Studio'yu kullanacağız — çünkü knowledge, actions ve yayınlamayı uçtan uca görmek istiyoruz.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Microsoft 365 Copilot &amp; Copilot Studio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3 · ANATOMI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Bir Agent'ın Yapı Taşları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896112" y="1901952"/>
            <a:ext cx="603504" cy="60350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6" name="Image 0" descr="/home/claude/steeltec/icons/clipboar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023" y="2058863"/>
            <a:ext cx="289682" cy="28968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1920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Instructions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96112" y="2615184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Agent'ın sistem promptu: kim, ne yapar/yapmaz, nasıl konuşur.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416552" y="1627632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Shape 7"/>
          <p:cNvSpPr/>
          <p:nvPr/>
        </p:nvSpPr>
        <p:spPr>
          <a:xfrm>
            <a:off x="4672584" y="1901952"/>
            <a:ext cx="603504" cy="60350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1" name="Image 1" descr="/home/claude/steeltec/icons/databas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9495" y="2058863"/>
            <a:ext cx="289682" cy="28968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76672" y="1920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672584" y="2615184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Dayanacağı bilgi: SharePoint, dosya, web, Dataverse.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93024" y="1627632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5" name="Shape 11"/>
          <p:cNvSpPr/>
          <p:nvPr/>
        </p:nvSpPr>
        <p:spPr>
          <a:xfrm>
            <a:off x="8449056" y="1901952"/>
            <a:ext cx="603504" cy="60350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6" name="Image 2" descr="/home/claude/steeltec/icons/wrench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5967" y="2058863"/>
            <a:ext cx="289682" cy="28968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153144" y="1920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Actions / Tools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8449056" y="2615184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Yapabildikleri: akışlar, konnektörler, API, prompt'lar.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" y="3803904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0" name="Shape 15"/>
          <p:cNvSpPr/>
          <p:nvPr/>
        </p:nvSpPr>
        <p:spPr>
          <a:xfrm>
            <a:off x="896112" y="4078224"/>
            <a:ext cx="603504" cy="60350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1" name="Image 3" descr="/home/claude/steeltec/icons/cha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3023" y="4235135"/>
            <a:ext cx="289682" cy="28968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600200" y="409651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Topics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896112" y="4791456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Belirli konularda kurallı diyalog akışları (klasik).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416552" y="3803904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5" name="Shape 19"/>
          <p:cNvSpPr/>
          <p:nvPr/>
        </p:nvSpPr>
        <p:spPr>
          <a:xfrm>
            <a:off x="4672584" y="4078224"/>
            <a:ext cx="603504" cy="60350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6" name="Image 4" descr="/home/claude/steeltec/icons/bolt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9495" y="4235135"/>
            <a:ext cx="289682" cy="28968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376672" y="409651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Triggers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4672584" y="4791456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Agent'ı uyandıran olaylar: e-posta, kayıt, zaman.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193024" y="3803904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0" name="Shape 23"/>
          <p:cNvSpPr/>
          <p:nvPr/>
        </p:nvSpPr>
        <p:spPr>
          <a:xfrm>
            <a:off x="8449056" y="4078224"/>
            <a:ext cx="603504" cy="60350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31" name="Image 5" descr="/home/claude/steeltec/icons/sitemap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05967" y="4235135"/>
            <a:ext cx="289682" cy="289682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153144" y="409651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Orchestration</a:t>
            </a:r>
            <a:endParaRPr lang="en-US" sz="1600" dirty="0"/>
          </a:p>
        </p:txBody>
      </p:sp>
      <p:sp>
        <p:nvSpPr>
          <p:cNvPr id="33" name="Text 25"/>
          <p:cNvSpPr txBox="1"/>
          <p:nvPr/>
        </p:nvSpPr>
        <p:spPr>
          <a:xfrm>
            <a:off x="8449056" y="4791456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İsteğe göre hangi bilgi/aracın kullanılacağına karar veren 'beyin'.</a:t>
            </a:r>
            <a:endParaRPr lang="en-US" sz="1150" dirty="0"/>
          </a:p>
        </p:txBody>
      </p:sp>
      <p:sp>
        <p:nvSpPr>
          <p:cNvPr id="34" name="Text 26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Microsoft 365 Copilot &amp; Copilot Studio</a:t>
            </a:r>
            <a:endParaRPr lang="en-US" sz="900" dirty="0"/>
          </a:p>
        </p:txBody>
      </p:sp>
      <p:sp>
        <p:nvSpPr>
          <p:cNvPr id="35" name="Text 27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3 · TÜRLER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Türleri — Basitten Otonoma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1943100" y="2148840"/>
            <a:ext cx="914400" cy="914400"/>
          </a:xfrm>
          <a:prstGeom prst="ellipse">
            <a:avLst/>
          </a:prstGeom>
          <a:solidFill>
            <a:srgbClr val="37425A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6" name="Image 0" descr="/home/claude/steeltec/icons/cha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0844" y="2386584"/>
            <a:ext cx="438912" cy="4389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32004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Genişleten Agent</a:t>
            </a:r>
            <a:endParaRPr lang="en-US" sz="175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70332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M365 Copilot'a yeni bilgi/beceri ekler. Kullanıcı çağırır.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434840" y="178308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1E2430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Shape 7"/>
          <p:cNvSpPr/>
          <p:nvPr/>
        </p:nvSpPr>
        <p:spPr>
          <a:xfrm>
            <a:off x="5737860" y="2148840"/>
            <a:ext cx="914400" cy="91440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1" name="Image 1" descr="/home/claude/steeltec/icons/robo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5604" y="2386584"/>
            <a:ext cx="438912" cy="43891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72000" y="32004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Bağımsız Agent</a:t>
            </a:r>
            <a:endParaRPr lang="en-US" sz="1750" dirty="0"/>
          </a:p>
        </p:txBody>
      </p:sp>
      <p:sp>
        <p:nvSpPr>
          <p:cNvPr id="13" name="Text 9"/>
          <p:cNvSpPr txBox="1"/>
          <p:nvPr/>
        </p:nvSpPr>
        <p:spPr>
          <a:xfrm>
            <a:off x="4709160" y="370332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F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Kendi kanalında (Teams/web) yaşayan, soru yanıtlayan asistan.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229600" y="178308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5" name="Shape 11"/>
          <p:cNvSpPr/>
          <p:nvPr/>
        </p:nvSpPr>
        <p:spPr>
          <a:xfrm>
            <a:off x="9532620" y="2148840"/>
            <a:ext cx="914400" cy="914400"/>
          </a:xfrm>
          <a:prstGeom prst="ellipse">
            <a:avLst/>
          </a:prstGeom>
          <a:solidFill>
            <a:srgbClr val="37425A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6" name="Image 2" descr="/home/claude/steeltec/icons/bol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70364" y="2386584"/>
            <a:ext cx="438912" cy="43891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66760" y="32004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Otonom Agent</a:t>
            </a:r>
            <a:endParaRPr lang="en-US" sz="1750" dirty="0"/>
          </a:p>
        </p:txBody>
      </p:sp>
      <p:sp>
        <p:nvSpPr>
          <p:cNvPr id="18" name="Text 13"/>
          <p:cNvSpPr txBox="1"/>
          <p:nvPr/>
        </p:nvSpPr>
        <p:spPr>
          <a:xfrm>
            <a:off x="8503920" y="370332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olayla tetiklenir; insan sormadan çok adımlı iş yapar.</a:t>
            </a:r>
            <a:endParaRPr lang="en-US" sz="1250" dirty="0"/>
          </a:p>
        </p:txBody>
      </p:sp>
      <p:sp>
        <p:nvSpPr>
          <p:cNvPr id="19" name="Text 14"/>
          <p:cNvSpPr txBox="1"/>
          <p:nvPr/>
        </p:nvSpPr>
        <p:spPr>
          <a:xfrm>
            <a:off x="640080" y="52578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D24E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Bugün önce bir 'bağımsız agent' kuracağız (Bölüm 2), sonra onu 'otonom'a taşımayı göreceğiz (Bölüm 4).</a:t>
            </a:r>
            <a:endParaRPr lang="en-US" sz="1250" dirty="0"/>
          </a:p>
        </p:txBody>
      </p:sp>
      <p:sp>
        <p:nvSpPr>
          <p:cNvPr id="20" name="Text 15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Microsoft 365 Copilot &amp; Copilot Studio</a:t>
            </a:r>
            <a:endParaRPr lang="en-US" sz="900" dirty="0"/>
          </a:p>
        </p:txBody>
      </p:sp>
      <p:sp>
        <p:nvSpPr>
          <p:cNvPr id="21" name="Text 16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3 · YÖNTEM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Kurma Akışı — 6 Adım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691640" cy="228600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1138428" y="2176272"/>
            <a:ext cx="694944" cy="69494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6" name="Image 0" descr="/home/claude/steeltec/icons/robo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9113" y="2356957"/>
            <a:ext cx="333573" cy="33357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531620" y="2029968"/>
            <a:ext cx="384048" cy="384048"/>
          </a:xfrm>
          <a:prstGeom prst="ellipse">
            <a:avLst/>
          </a:prstGeom>
          <a:solidFill>
            <a:srgbClr val="1E243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" name="Text 5"/>
          <p:cNvSpPr txBox="1"/>
          <p:nvPr/>
        </p:nvSpPr>
        <p:spPr>
          <a:xfrm>
            <a:off x="1531620" y="2029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30175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Oluştur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713232" y="3364992"/>
            <a:ext cx="1545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Doğal dille tarif et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2304288" y="251460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2423160" y="1920240"/>
            <a:ext cx="1691640" cy="228600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3" name="Shape 10"/>
          <p:cNvSpPr/>
          <p:nvPr/>
        </p:nvSpPr>
        <p:spPr>
          <a:xfrm>
            <a:off x="2921508" y="2176272"/>
            <a:ext cx="694944" cy="69494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4" name="Image 1" descr="/home/claude/steeltec/icons/clipboar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2193" y="2356957"/>
            <a:ext cx="333573" cy="333573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3314700" y="2029968"/>
            <a:ext cx="384048" cy="384048"/>
          </a:xfrm>
          <a:prstGeom prst="ellipse">
            <a:avLst/>
          </a:prstGeom>
          <a:solidFill>
            <a:srgbClr val="1E243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6" name="Text 12"/>
          <p:cNvSpPr txBox="1"/>
          <p:nvPr/>
        </p:nvSpPr>
        <p:spPr>
          <a:xfrm>
            <a:off x="3314700" y="2029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2468880" y="30175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Instructions</a:t>
            </a:r>
            <a:endParaRPr lang="en-US" sz="1350" dirty="0"/>
          </a:p>
        </p:txBody>
      </p:sp>
      <p:sp>
        <p:nvSpPr>
          <p:cNvPr id="18" name="Text 14"/>
          <p:cNvSpPr txBox="1"/>
          <p:nvPr/>
        </p:nvSpPr>
        <p:spPr>
          <a:xfrm>
            <a:off x="2496312" y="3364992"/>
            <a:ext cx="1545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Davranışı yaz</a:t>
            </a:r>
            <a:endParaRPr lang="en-US" sz="1050" dirty="0"/>
          </a:p>
        </p:txBody>
      </p:sp>
      <p:sp>
        <p:nvSpPr>
          <p:cNvPr id="19" name="Text 15"/>
          <p:cNvSpPr txBox="1"/>
          <p:nvPr/>
        </p:nvSpPr>
        <p:spPr>
          <a:xfrm>
            <a:off x="4087368" y="251460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6"/>
          <p:cNvSpPr/>
          <p:nvPr/>
        </p:nvSpPr>
        <p:spPr>
          <a:xfrm>
            <a:off x="4206240" y="1920240"/>
            <a:ext cx="1691640" cy="228600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1" name="Shape 17"/>
          <p:cNvSpPr/>
          <p:nvPr/>
        </p:nvSpPr>
        <p:spPr>
          <a:xfrm>
            <a:off x="4704588" y="2176272"/>
            <a:ext cx="694944" cy="69494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2" name="Image 2" descr="/home/claude/steeltec/icons/databas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5273" y="2356957"/>
            <a:ext cx="333573" cy="333573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5097780" y="2029968"/>
            <a:ext cx="384048" cy="384048"/>
          </a:xfrm>
          <a:prstGeom prst="ellipse">
            <a:avLst/>
          </a:prstGeom>
          <a:solidFill>
            <a:srgbClr val="1E243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4" name="Text 19"/>
          <p:cNvSpPr txBox="1"/>
          <p:nvPr/>
        </p:nvSpPr>
        <p:spPr>
          <a:xfrm>
            <a:off x="5097780" y="2029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0"/>
          <p:cNvSpPr txBox="1"/>
          <p:nvPr/>
        </p:nvSpPr>
        <p:spPr>
          <a:xfrm>
            <a:off x="4251960" y="30175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</a:t>
            </a:r>
            <a:endParaRPr lang="en-US" sz="1350" dirty="0"/>
          </a:p>
        </p:txBody>
      </p:sp>
      <p:sp>
        <p:nvSpPr>
          <p:cNvPr id="26" name="Text 21"/>
          <p:cNvSpPr txBox="1"/>
          <p:nvPr/>
        </p:nvSpPr>
        <p:spPr>
          <a:xfrm>
            <a:off x="4279392" y="3364992"/>
            <a:ext cx="1545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Bilgi kaynağı bağla</a:t>
            </a:r>
            <a:endParaRPr lang="en-US" sz="1050" dirty="0"/>
          </a:p>
        </p:txBody>
      </p:sp>
      <p:sp>
        <p:nvSpPr>
          <p:cNvPr id="27" name="Text 22"/>
          <p:cNvSpPr txBox="1"/>
          <p:nvPr/>
        </p:nvSpPr>
        <p:spPr>
          <a:xfrm>
            <a:off x="5870448" y="251460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3"/>
          <p:cNvSpPr/>
          <p:nvPr/>
        </p:nvSpPr>
        <p:spPr>
          <a:xfrm>
            <a:off x="5989320" y="1920240"/>
            <a:ext cx="1691640" cy="228600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9" name="Shape 24"/>
          <p:cNvSpPr/>
          <p:nvPr/>
        </p:nvSpPr>
        <p:spPr>
          <a:xfrm>
            <a:off x="6487668" y="2176272"/>
            <a:ext cx="694944" cy="69494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30" name="Image 3" descr="/home/claude/steeltec/icons/wrench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8353" y="2356957"/>
            <a:ext cx="333573" cy="333573"/>
          </a:xfrm>
          <a:prstGeom prst="rect">
            <a:avLst/>
          </a:prstGeom>
        </p:spPr>
      </p:pic>
      <p:sp>
        <p:nvSpPr>
          <p:cNvPr id="31" name="Shape 25"/>
          <p:cNvSpPr/>
          <p:nvPr/>
        </p:nvSpPr>
        <p:spPr>
          <a:xfrm>
            <a:off x="6880860" y="2029968"/>
            <a:ext cx="384048" cy="384048"/>
          </a:xfrm>
          <a:prstGeom prst="ellipse">
            <a:avLst/>
          </a:prstGeom>
          <a:solidFill>
            <a:srgbClr val="1E243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2" name="Text 26"/>
          <p:cNvSpPr txBox="1"/>
          <p:nvPr/>
        </p:nvSpPr>
        <p:spPr>
          <a:xfrm>
            <a:off x="6880860" y="2029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33" name="Text 27"/>
          <p:cNvSpPr txBox="1"/>
          <p:nvPr/>
        </p:nvSpPr>
        <p:spPr>
          <a:xfrm>
            <a:off x="6035040" y="30175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Actions</a:t>
            </a:r>
            <a:endParaRPr lang="en-US" sz="1350" dirty="0"/>
          </a:p>
        </p:txBody>
      </p:sp>
      <p:sp>
        <p:nvSpPr>
          <p:cNvPr id="34" name="Text 28"/>
          <p:cNvSpPr txBox="1"/>
          <p:nvPr/>
        </p:nvSpPr>
        <p:spPr>
          <a:xfrm>
            <a:off x="6062472" y="3364992"/>
            <a:ext cx="1545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Aksiyon/akış ekle</a:t>
            </a:r>
            <a:endParaRPr lang="en-US" sz="1050" dirty="0"/>
          </a:p>
        </p:txBody>
      </p:sp>
      <p:sp>
        <p:nvSpPr>
          <p:cNvPr id="35" name="Text 29"/>
          <p:cNvSpPr txBox="1"/>
          <p:nvPr/>
        </p:nvSpPr>
        <p:spPr>
          <a:xfrm>
            <a:off x="7653528" y="251460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6" name="Shape 30"/>
          <p:cNvSpPr/>
          <p:nvPr/>
        </p:nvSpPr>
        <p:spPr>
          <a:xfrm>
            <a:off x="7772400" y="1920240"/>
            <a:ext cx="1691640" cy="228600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7" name="Shape 31"/>
          <p:cNvSpPr/>
          <p:nvPr/>
        </p:nvSpPr>
        <p:spPr>
          <a:xfrm>
            <a:off x="8270748" y="2176272"/>
            <a:ext cx="694944" cy="69494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38" name="Image 4" descr="/home/claude/steeltec/icons/play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51433" y="2356957"/>
            <a:ext cx="333573" cy="333573"/>
          </a:xfrm>
          <a:prstGeom prst="rect">
            <a:avLst/>
          </a:prstGeom>
        </p:spPr>
      </p:pic>
      <p:sp>
        <p:nvSpPr>
          <p:cNvPr id="39" name="Shape 32"/>
          <p:cNvSpPr/>
          <p:nvPr/>
        </p:nvSpPr>
        <p:spPr>
          <a:xfrm>
            <a:off x="8663940" y="2029968"/>
            <a:ext cx="384048" cy="384048"/>
          </a:xfrm>
          <a:prstGeom prst="ellipse">
            <a:avLst/>
          </a:prstGeom>
          <a:solidFill>
            <a:srgbClr val="1E243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0" name="Text 33"/>
          <p:cNvSpPr txBox="1"/>
          <p:nvPr/>
        </p:nvSpPr>
        <p:spPr>
          <a:xfrm>
            <a:off x="8663940" y="2029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41" name="Text 34"/>
          <p:cNvSpPr txBox="1"/>
          <p:nvPr/>
        </p:nvSpPr>
        <p:spPr>
          <a:xfrm>
            <a:off x="7818120" y="30175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</a:t>
            </a:r>
            <a:endParaRPr lang="en-US" sz="1350" dirty="0"/>
          </a:p>
        </p:txBody>
      </p:sp>
      <p:sp>
        <p:nvSpPr>
          <p:cNvPr id="42" name="Text 35"/>
          <p:cNvSpPr txBox="1"/>
          <p:nvPr/>
        </p:nvSpPr>
        <p:spPr>
          <a:xfrm>
            <a:off x="7845552" y="3364992"/>
            <a:ext cx="1545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Önizlemede dene</a:t>
            </a:r>
            <a:endParaRPr lang="en-US" sz="1050" dirty="0"/>
          </a:p>
        </p:txBody>
      </p:sp>
      <p:sp>
        <p:nvSpPr>
          <p:cNvPr id="43" name="Text 36"/>
          <p:cNvSpPr txBox="1"/>
          <p:nvPr/>
        </p:nvSpPr>
        <p:spPr>
          <a:xfrm>
            <a:off x="9436608" y="251460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44" name="Shape 37"/>
          <p:cNvSpPr/>
          <p:nvPr/>
        </p:nvSpPr>
        <p:spPr>
          <a:xfrm>
            <a:off x="9555480" y="1920240"/>
            <a:ext cx="1691640" cy="228600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45" name="Shape 38"/>
          <p:cNvSpPr/>
          <p:nvPr/>
        </p:nvSpPr>
        <p:spPr>
          <a:xfrm>
            <a:off x="10053828" y="2176272"/>
            <a:ext cx="694944" cy="69494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46" name="Image 5" descr="/home/claude/steeltec/icons/rocket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34513" y="2356957"/>
            <a:ext cx="333573" cy="333573"/>
          </a:xfrm>
          <a:prstGeom prst="rect">
            <a:avLst/>
          </a:prstGeom>
        </p:spPr>
      </p:pic>
      <p:sp>
        <p:nvSpPr>
          <p:cNvPr id="47" name="Shape 39"/>
          <p:cNvSpPr/>
          <p:nvPr/>
        </p:nvSpPr>
        <p:spPr>
          <a:xfrm>
            <a:off x="10447020" y="2029968"/>
            <a:ext cx="384048" cy="384048"/>
          </a:xfrm>
          <a:prstGeom prst="ellipse">
            <a:avLst/>
          </a:prstGeom>
          <a:solidFill>
            <a:srgbClr val="1E243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8" name="Text 40"/>
          <p:cNvSpPr txBox="1"/>
          <p:nvPr/>
        </p:nvSpPr>
        <p:spPr>
          <a:xfrm>
            <a:off x="10447020" y="2029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49" name="Text 41"/>
          <p:cNvSpPr txBox="1"/>
          <p:nvPr/>
        </p:nvSpPr>
        <p:spPr>
          <a:xfrm>
            <a:off x="9601200" y="30175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Yayınla</a:t>
            </a:r>
            <a:endParaRPr lang="en-US" sz="1350" dirty="0"/>
          </a:p>
        </p:txBody>
      </p:sp>
      <p:sp>
        <p:nvSpPr>
          <p:cNvPr id="50" name="Text 42"/>
          <p:cNvSpPr txBox="1"/>
          <p:nvPr/>
        </p:nvSpPr>
        <p:spPr>
          <a:xfrm>
            <a:off x="9628632" y="3364992"/>
            <a:ext cx="1545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Kanala çıkar</a:t>
            </a:r>
            <a:endParaRPr lang="en-US" sz="1050" dirty="0"/>
          </a:p>
        </p:txBody>
      </p:sp>
      <p:sp>
        <p:nvSpPr>
          <p:cNvPr id="51" name="Shape 43"/>
          <p:cNvSpPr/>
          <p:nvPr/>
        </p:nvSpPr>
        <p:spPr>
          <a:xfrm>
            <a:off x="640080" y="4617720"/>
            <a:ext cx="10881360" cy="1188720"/>
          </a:xfrm>
          <a:prstGeom prst="roundRect">
            <a:avLst>
              <a:gd name="adj" fmla="val 7692"/>
            </a:avLst>
          </a:prstGeom>
          <a:solidFill>
            <a:srgbClr val="FFE7D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2" name="Shape 44"/>
          <p:cNvSpPr/>
          <p:nvPr/>
        </p:nvSpPr>
        <p:spPr>
          <a:xfrm>
            <a:off x="960120" y="4919472"/>
            <a:ext cx="585216" cy="585216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53" name="Image 6" descr="/home/claude/steeltec/icons/bulb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2276" y="5071628"/>
            <a:ext cx="280904" cy="280904"/>
          </a:xfrm>
          <a:prstGeom prst="rect">
            <a:avLst/>
          </a:prstGeom>
        </p:spPr>
      </p:pic>
      <p:sp>
        <p:nvSpPr>
          <p:cNvPr id="54" name="Text 45"/>
          <p:cNvSpPr txBox="1"/>
          <p:nvPr/>
        </p:nvSpPr>
        <p:spPr>
          <a:xfrm>
            <a:off x="1783080" y="466344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24E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Sırada: </a:t>
            </a:r>
            <a:r>
              <a:rPr lang="en-US" sz="140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Şimdi bu 6 adımı birlikte, gerçek bir senaryoda uygulayacağız. Bölüm 2'nin sonunda çalışan, test edilmiş ve yayınlanmış bir agent'ınız olacak.</a:t>
            </a:r>
            <a:endParaRPr lang="en-US" sz="1400" dirty="0"/>
          </a:p>
        </p:txBody>
      </p:sp>
      <p:sp>
        <p:nvSpPr>
          <p:cNvPr id="55" name="Text 46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Microsoft 365 Copilot &amp; Copilot Studio</a:t>
            </a:r>
            <a:endParaRPr lang="en-US" sz="900" dirty="0"/>
          </a:p>
        </p:txBody>
      </p:sp>
      <p:sp>
        <p:nvSpPr>
          <p:cNvPr id="56" name="Text 47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955280" y="182880"/>
            <a:ext cx="4023360" cy="6492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0" b="1" dirty="0">
                <a:solidFill>
                  <a:srgbClr val="2730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0" dirty="0"/>
          </a:p>
        </p:txBody>
      </p:sp>
      <p:sp>
        <p:nvSpPr>
          <p:cNvPr id="3" name="Shape 1"/>
          <p:cNvSpPr/>
          <p:nvPr/>
        </p:nvSpPr>
        <p:spPr>
          <a:xfrm>
            <a:off x="822960" y="2103120"/>
            <a:ext cx="1051560" cy="105156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4" name="Image 0" descr="/home/claude/steeltec/icons/wrench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366" y="2376526"/>
            <a:ext cx="504749" cy="50474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68680" y="3383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2 · MODÜL 4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3703320"/>
            <a:ext cx="7498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Uygulamalı:</a:t>
            </a:r>
            <a:endParaRPr lang="en-US" sz="40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İlk Agent'ımızı Kuruyoruz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Copilot Studio Agent Eğitimi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UYGULAMALI · SENARYO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 Kuracağız? — IW SteelTec İç Destek Asistanı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486400" cy="4114800"/>
          </a:xfrm>
          <a:prstGeom prst="roundRect">
            <a:avLst>
              <a:gd name="adj" fmla="val 2667"/>
            </a:avLst>
          </a:prstGeom>
          <a:solidFill>
            <a:srgbClr val="1E2430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868680" y="1828800"/>
            <a:ext cx="731520" cy="73152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6" name="Image 0" descr="/home/claude/steeltec/icons/robo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875" y="2018995"/>
            <a:ext cx="351130" cy="35113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37360" y="18288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İç Destek Asistanı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65176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F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Çalışanların İK, politika ve İSG sorularını, kurum belgelerine dayanarak yanıtlayan bir agent.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520440"/>
            <a:ext cx="5029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 sorular:
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“Yıllık iznimi nasıl talep ederim?”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“Fazla mesai nasıl hesaplanıyor?”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“Atölyede zorunlu KKD'ler neler?”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“Bayram tatili kaç gün?”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309360" y="1600200"/>
            <a:ext cx="521208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1" name="Text 8"/>
          <p:cNvSpPr txBox="1"/>
          <p:nvPr/>
        </p:nvSpPr>
        <p:spPr>
          <a:xfrm>
            <a:off x="6537960" y="17830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BAŞLAMADAN — ÖN KOŞULLAR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6537960" y="2194560"/>
            <a:ext cx="4754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✓"/>
            </a:pPr>
            <a:r>
              <a:rPr lang="en-US" sz="13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Studio erişimi (copilotstudio.microsoft.com)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✓"/>
            </a:pPr>
            <a:r>
              <a:rPr lang="en-US" sz="13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Maker lisansı (ücretsiz) + bir ortam (environment)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✓"/>
            </a:pPr>
            <a:r>
              <a:rPr lang="en-US" sz="13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Bilgi kaynağı: İK politika belgeleri hazır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✓"/>
            </a:pPr>
            <a:r>
              <a:rPr lang="en-US" sz="13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Yayınlanacak kanal: Microsoft Teams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✓"/>
            </a:pPr>
            <a:r>
              <a:rPr lang="en-US" sz="13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için birkaç örnek çalışan sorusu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537960" y="4892040"/>
            <a:ext cx="4754880" cy="685800"/>
          </a:xfrm>
          <a:prstGeom prst="roundRect">
            <a:avLst>
              <a:gd name="adj" fmla="val 10667"/>
            </a:avLst>
          </a:prstGeom>
          <a:solidFill>
            <a:srgbClr val="FFE7D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Text 11"/>
          <p:cNvSpPr txBox="1"/>
          <p:nvPr/>
        </p:nvSpPr>
        <p:spPr>
          <a:xfrm>
            <a:off x="6720840" y="4892040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24E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Ekteki dummy politika belgelerini knowledge olarak kullanacağız.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Microsoft 365 Copilot &amp; Copilot Studio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868680" cy="86868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 txBox="1"/>
          <p:nvPr/>
        </p:nvSpPr>
        <p:spPr>
          <a:xfrm>
            <a:off x="640080" y="4572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1691640" y="457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UYGULAMALI · ADIM 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691640" y="7315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Agent'ı Oluştur — Doğal Dille Tarif Et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744200" y="457200"/>
            <a:ext cx="868680" cy="868680"/>
          </a:xfrm>
          <a:prstGeom prst="ellipse">
            <a:avLst/>
          </a:prstGeom>
          <a:solidFill>
            <a:srgbClr val="1E2430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7" name="Image 0" descr="/home/claude/steeltec/icons/robo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0057" y="683057"/>
            <a:ext cx="416966" cy="41696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1554480"/>
            <a:ext cx="10881360" cy="457200"/>
          </a:xfrm>
          <a:prstGeom prst="roundRect">
            <a:avLst>
              <a:gd name="adj" fmla="val 50000"/>
            </a:avLst>
          </a:prstGeom>
          <a:solidFill>
            <a:srgbClr val="1E2430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9" name="Image 1" descr="/home/claude/steeltec/icons/rout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1664208"/>
            <a:ext cx="237744" cy="23774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88720" y="155448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Nerede:  </a:t>
            </a:r>
            <a:r>
              <a:rPr lang="en-US" sz="12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copilotstudio.microsoft.com → Create / Agents → New agent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40080" y="2212848"/>
            <a:ext cx="6766560" cy="3246120"/>
          </a:xfrm>
          <a:prstGeom prst="roundRect">
            <a:avLst>
              <a:gd name="adj" fmla="val 1690"/>
            </a:avLst>
          </a:prstGeom>
          <a:solidFill>
            <a:srgbClr val="1B233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2" name="Shape 8"/>
          <p:cNvSpPr/>
          <p:nvPr/>
        </p:nvSpPr>
        <p:spPr>
          <a:xfrm>
            <a:off x="640080" y="2212848"/>
            <a:ext cx="6766560" cy="310896"/>
          </a:xfrm>
          <a:prstGeom prst="roundRect">
            <a:avLst>
              <a:gd name="adj" fmla="val 17647"/>
            </a:avLst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3" name="Shape 9"/>
          <p:cNvSpPr/>
          <p:nvPr/>
        </p:nvSpPr>
        <p:spPr>
          <a:xfrm>
            <a:off x="640080" y="2368296"/>
            <a:ext cx="6766560" cy="155448"/>
          </a:xfrm>
          <a:prstGeom prst="rect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Text 10"/>
          <p:cNvSpPr txBox="1"/>
          <p:nvPr/>
        </p:nvSpPr>
        <p:spPr>
          <a:xfrm>
            <a:off x="768096" y="2231136"/>
            <a:ext cx="6510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TARİF (Describe alanına yazın)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804672" y="2615184"/>
            <a:ext cx="6437376" cy="2734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IW SteelTec çalışanlarına yardımcı olan bir iç destek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asistanı oluştur. İK politikaları, izin ve fazla mesai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kuralları, iş sağlığı ve güvenliği (İSG) ve genel şirket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SSS konularında soruları yanıtlasın.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Resmi ama samimi bir dille, Türkçe yanıt versin. Emin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olmadığında İK departmanına yönlendirsin.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7635240" y="2212848"/>
            <a:ext cx="388620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7" name="Text 13"/>
          <p:cNvSpPr txBox="1"/>
          <p:nvPr/>
        </p:nvSpPr>
        <p:spPr>
          <a:xfrm>
            <a:off x="7863840" y="23957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YAPIYORUZ / NEDEN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7863840" y="2761488"/>
            <a:ext cx="34747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Studio, tarifinizden ad, açıklama, talimat ve başlangıç promptları taslağını üretir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Doğal dille başlayıp sonra elle ince ayar yaparız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İsmi verelim: “IW SteelTec İç Destek Asistanı”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Panelden birincil dili Türkçe seçin</a:t>
            </a:r>
            <a:endParaRPr lang="en-US" sz="1250" dirty="0"/>
          </a:p>
        </p:txBody>
      </p:sp>
      <p:sp>
        <p:nvSpPr>
          <p:cNvPr id="19" name="Text 15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Microsoft 365 Copilot &amp; Copilot Studio</a:t>
            </a:r>
            <a:endParaRPr lang="en-US" sz="900" dirty="0"/>
          </a:p>
        </p:txBody>
      </p:sp>
      <p:sp>
        <p:nvSpPr>
          <p:cNvPr id="20" name="Text 16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868680" cy="86868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 txBox="1"/>
          <p:nvPr/>
        </p:nvSpPr>
        <p:spPr>
          <a:xfrm>
            <a:off x="640080" y="4572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1691640" y="457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UYGULAMALI · ADIM 2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691640" y="7315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Instructions Yaz — Agent'ın Sistem Promptu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744200" y="457200"/>
            <a:ext cx="868680" cy="868680"/>
          </a:xfrm>
          <a:prstGeom prst="ellipse">
            <a:avLst/>
          </a:prstGeom>
          <a:solidFill>
            <a:srgbClr val="1E2430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7" name="Image 0" descr="/home/claude/steeltec/icons/clipboar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0057" y="683057"/>
            <a:ext cx="416966" cy="41696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1554480"/>
            <a:ext cx="10881360" cy="457200"/>
          </a:xfrm>
          <a:prstGeom prst="roundRect">
            <a:avLst>
              <a:gd name="adj" fmla="val 50000"/>
            </a:avLst>
          </a:prstGeom>
          <a:solidFill>
            <a:srgbClr val="1E2430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9" name="Image 1" descr="/home/claude/steeltec/icons/rout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1664208"/>
            <a:ext cx="237744" cy="23774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88720" y="155448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Nerede:  </a:t>
            </a:r>
            <a:r>
              <a:rPr lang="en-US" sz="12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tasarımcısı → Build sekmesi → Instructions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40080" y="2212848"/>
            <a:ext cx="6766560" cy="3246120"/>
          </a:xfrm>
          <a:prstGeom prst="roundRect">
            <a:avLst>
              <a:gd name="adj" fmla="val 1690"/>
            </a:avLst>
          </a:prstGeom>
          <a:solidFill>
            <a:srgbClr val="1B233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2" name="Shape 8"/>
          <p:cNvSpPr/>
          <p:nvPr/>
        </p:nvSpPr>
        <p:spPr>
          <a:xfrm>
            <a:off x="640080" y="2212848"/>
            <a:ext cx="6766560" cy="310896"/>
          </a:xfrm>
          <a:prstGeom prst="roundRect">
            <a:avLst>
              <a:gd name="adj" fmla="val 17647"/>
            </a:avLst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3" name="Shape 9"/>
          <p:cNvSpPr/>
          <p:nvPr/>
        </p:nvSpPr>
        <p:spPr>
          <a:xfrm>
            <a:off x="640080" y="2368296"/>
            <a:ext cx="6766560" cy="155448"/>
          </a:xfrm>
          <a:prstGeom prst="rect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Text 10"/>
          <p:cNvSpPr txBox="1"/>
          <p:nvPr/>
        </p:nvSpPr>
        <p:spPr>
          <a:xfrm>
            <a:off x="768096" y="2231136"/>
            <a:ext cx="6510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 (kopyalanabilir örnek)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804672" y="2615184"/>
            <a:ext cx="6437376" cy="2734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 IW SteelTec'in İç Destek Asistanısın.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GÖREV: Çalışanların İK, izin, fazla mesai, İSG ve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şirket politikası sorularını yanıtla.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KURALLAR: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Yanıtları YALNIZCA eklenen bilgi kaynaklarına dayandır.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Emin değilsen uydurma; “İK'ya danışın” de ve yönlendir.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Kısa, net, madde madde yanıtla; resmi-samimi ton kullan.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Kişisel/özel veriye dair taleplerde İK'ya yönlendir.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BİÇİM: Süreç sorularında adım adım; tanım sorularında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2-3 cümle. Gerekirse ilgili politika başlığını belirt.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7635240" y="2212848"/>
            <a:ext cx="388620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7" name="Text 13"/>
          <p:cNvSpPr txBox="1"/>
          <p:nvPr/>
        </p:nvSpPr>
        <p:spPr>
          <a:xfrm>
            <a:off x="7863840" y="23957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YAPIYORUZ / NEDEN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7863840" y="2761488"/>
            <a:ext cx="34747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 = kaliteyi en çok etkileyen alan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 olduğu, ne yapacağı, neyi YAPMAYACAĞI net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“Sadece kaynaklara dayan” halüsinasyonu keser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 ve biçim burada sabitlenir</a:t>
            </a:r>
            <a:endParaRPr lang="en-US" sz="1250" dirty="0"/>
          </a:p>
        </p:txBody>
      </p:sp>
      <p:sp>
        <p:nvSpPr>
          <p:cNvPr id="19" name="Text 15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Microsoft 365 Copilot &amp; Copilot Studio</a:t>
            </a:r>
            <a:endParaRPr lang="en-US" sz="900" dirty="0"/>
          </a:p>
        </p:txBody>
      </p:sp>
      <p:sp>
        <p:nvSpPr>
          <p:cNvPr id="20" name="Text 16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868680" cy="86868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 txBox="1"/>
          <p:nvPr/>
        </p:nvSpPr>
        <p:spPr>
          <a:xfrm>
            <a:off x="640080" y="4572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1691640" y="457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UYGULAMALI · ADIM 3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691640" y="7315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Ekle — Kurum Bilgisine Bağla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744200" y="457200"/>
            <a:ext cx="868680" cy="868680"/>
          </a:xfrm>
          <a:prstGeom prst="ellipse">
            <a:avLst/>
          </a:prstGeom>
          <a:solidFill>
            <a:srgbClr val="1E2430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7" name="Image 0" descr="/home/claude/steeltec/icons/databas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0057" y="683057"/>
            <a:ext cx="416966" cy="41696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1554480"/>
            <a:ext cx="10881360" cy="457200"/>
          </a:xfrm>
          <a:prstGeom prst="roundRect">
            <a:avLst>
              <a:gd name="adj" fmla="val 50000"/>
            </a:avLst>
          </a:prstGeom>
          <a:solidFill>
            <a:srgbClr val="1E2430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9" name="Image 1" descr="/home/claude/steeltec/icons/rout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1664208"/>
            <a:ext cx="237744" cy="23774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88720" y="155448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Nerede:  </a:t>
            </a:r>
            <a:r>
              <a:rPr lang="en-US" sz="12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sekmesi → Knowledge → Add knowledge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40080" y="2212848"/>
            <a:ext cx="6766560" cy="3246120"/>
          </a:xfrm>
          <a:prstGeom prst="roundRect">
            <a:avLst>
              <a:gd name="adj" fmla="val 1690"/>
            </a:avLst>
          </a:prstGeom>
          <a:solidFill>
            <a:srgbClr val="1B233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2" name="Shape 8"/>
          <p:cNvSpPr/>
          <p:nvPr/>
        </p:nvSpPr>
        <p:spPr>
          <a:xfrm>
            <a:off x="640080" y="2212848"/>
            <a:ext cx="6766560" cy="310896"/>
          </a:xfrm>
          <a:prstGeom prst="roundRect">
            <a:avLst>
              <a:gd name="adj" fmla="val 17647"/>
            </a:avLst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3" name="Shape 9"/>
          <p:cNvSpPr/>
          <p:nvPr/>
        </p:nvSpPr>
        <p:spPr>
          <a:xfrm>
            <a:off x="640080" y="2368296"/>
            <a:ext cx="6766560" cy="155448"/>
          </a:xfrm>
          <a:prstGeom prst="rect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Text 10"/>
          <p:cNvSpPr txBox="1"/>
          <p:nvPr/>
        </p:nvSpPr>
        <p:spPr>
          <a:xfrm>
            <a:off x="768096" y="2231136"/>
            <a:ext cx="6510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EKLENECEK KAYNAKLAR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804672" y="2615184"/>
            <a:ext cx="6437376" cy="2734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1) Dosya yükle: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• IW_SteelTec_IK_Politikalari.pdf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• IW_SteelTec_Calisan_SSS.docx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2) (Opsiyonel) SharePoint sitesi: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• https://.../sites/IK-Dokumanlar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3) Web araması: KAPALI (iç agent — veri sızması olmasın)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İpucu: 3 isabetli kaynak, 30 belirsiz kaynaktan iyidir.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7635240" y="2212848"/>
            <a:ext cx="388620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7" name="Text 13"/>
          <p:cNvSpPr txBox="1"/>
          <p:nvPr/>
        </p:nvSpPr>
        <p:spPr>
          <a:xfrm>
            <a:off x="7863840" y="23957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YAPIYORUZ / NEDEN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7863840" y="2761488"/>
            <a:ext cx="34747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Kaynağı dar ve isabetli tutun → daha doğru yanıt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Dosya, SharePoint, herkese açık URL veya Dataverse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“Use information from the Web” iç agent'ta kapalı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“Allow ungrounded responses” = Off (sadece kaynaktan)</a:t>
            </a:r>
            <a:endParaRPr lang="en-US" sz="1250" dirty="0"/>
          </a:p>
        </p:txBody>
      </p:sp>
      <p:sp>
        <p:nvSpPr>
          <p:cNvPr id="19" name="Text 15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Microsoft 365 Copilot &amp; Copilot Studio</a:t>
            </a:r>
            <a:endParaRPr lang="en-US" sz="900" dirty="0"/>
          </a:p>
        </p:txBody>
      </p:sp>
      <p:sp>
        <p:nvSpPr>
          <p:cNvPr id="20" name="Text 16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868680" cy="86868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 txBox="1"/>
          <p:nvPr/>
        </p:nvSpPr>
        <p:spPr>
          <a:xfrm>
            <a:off x="640080" y="4572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1691640" y="457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UYGULAMALI · ADIM 4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691640" y="7315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Ayarlar ve Başlangıç Promptları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744200" y="457200"/>
            <a:ext cx="868680" cy="868680"/>
          </a:xfrm>
          <a:prstGeom prst="ellipse">
            <a:avLst/>
          </a:prstGeom>
          <a:solidFill>
            <a:srgbClr val="1E2430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7" name="Image 0" descr="/home/claude/steeltec/icons/togg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0057" y="683057"/>
            <a:ext cx="416966" cy="41696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1554480"/>
            <a:ext cx="10881360" cy="457200"/>
          </a:xfrm>
          <a:prstGeom prst="roundRect">
            <a:avLst>
              <a:gd name="adj" fmla="val 50000"/>
            </a:avLst>
          </a:prstGeom>
          <a:solidFill>
            <a:srgbClr val="1E2430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9" name="Image 1" descr="/home/claude/steeltec/icons/rout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1664208"/>
            <a:ext cx="237744" cy="23774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88720" y="155448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Nerede:  </a:t>
            </a:r>
            <a:r>
              <a:rPr lang="en-US" sz="12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+ Build sekmesi → Suggested prompts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40080" y="2212848"/>
            <a:ext cx="6766560" cy="3246120"/>
          </a:xfrm>
          <a:prstGeom prst="roundRect">
            <a:avLst>
              <a:gd name="adj" fmla="val 1690"/>
            </a:avLst>
          </a:prstGeom>
          <a:solidFill>
            <a:srgbClr val="1B233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2" name="Shape 8"/>
          <p:cNvSpPr/>
          <p:nvPr/>
        </p:nvSpPr>
        <p:spPr>
          <a:xfrm>
            <a:off x="640080" y="2212848"/>
            <a:ext cx="6766560" cy="310896"/>
          </a:xfrm>
          <a:prstGeom prst="roundRect">
            <a:avLst>
              <a:gd name="adj" fmla="val 17647"/>
            </a:avLst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3" name="Shape 9"/>
          <p:cNvSpPr/>
          <p:nvPr/>
        </p:nvSpPr>
        <p:spPr>
          <a:xfrm>
            <a:off x="640080" y="2368296"/>
            <a:ext cx="6766560" cy="155448"/>
          </a:xfrm>
          <a:prstGeom prst="rect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Text 10"/>
          <p:cNvSpPr txBox="1"/>
          <p:nvPr/>
        </p:nvSpPr>
        <p:spPr>
          <a:xfrm>
            <a:off x="768096" y="2231136"/>
            <a:ext cx="6510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YAPILANDIRMA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804672" y="2615184"/>
            <a:ext cx="6437376" cy="2734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AYARLAR: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Orchestration: ON (bilgi/araçları dinamik seçsin)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Allow ungrounded responses: OFF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Use general knowledge / Web: OFF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Authentication: kurum içi (Teams için Entra)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BAŞLANGIÇ PROMPTLARI (kullanıcıya öneri):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“Yıllık izin nasıl talep edilir?”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“Fazla mesai kuralları neler?”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“Atölyede zorunlu KKD'ler?”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7635240" y="2212848"/>
            <a:ext cx="388620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7" name="Text 13"/>
          <p:cNvSpPr txBox="1"/>
          <p:nvPr/>
        </p:nvSpPr>
        <p:spPr>
          <a:xfrm>
            <a:off x="7863840" y="23957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YAPIYORUZ / NEDEN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7863840" y="2761488"/>
            <a:ext cx="34747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açık = generatif, akıllı yönlendirme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Ungrounded/Web kapalı = veri güvenliği + doğruluk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Başlangıç promptları kullanıcıya yol gösterir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Karşılama mesajını da buradan özelleştirin</a:t>
            </a:r>
            <a:endParaRPr lang="en-US" sz="1250" dirty="0"/>
          </a:p>
        </p:txBody>
      </p:sp>
      <p:sp>
        <p:nvSpPr>
          <p:cNvPr id="19" name="Text 15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Microsoft 365 Copilot &amp; Copilot Studio</a:t>
            </a:r>
            <a:endParaRPr lang="en-US" sz="900" dirty="0"/>
          </a:p>
        </p:txBody>
      </p:sp>
      <p:sp>
        <p:nvSpPr>
          <p:cNvPr id="20" name="Text 16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868680" cy="86868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 txBox="1"/>
          <p:nvPr/>
        </p:nvSpPr>
        <p:spPr>
          <a:xfrm>
            <a:off x="640080" y="4572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1691640" y="457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UYGULAMALI · ADIM 5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691640" y="7315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Et — Gerçek Sorularla Dene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744200" y="457200"/>
            <a:ext cx="868680" cy="868680"/>
          </a:xfrm>
          <a:prstGeom prst="ellipse">
            <a:avLst/>
          </a:prstGeom>
          <a:solidFill>
            <a:srgbClr val="1E2430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7" name="Image 0" descr="/home/claude/steeltec/icons/play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0057" y="683057"/>
            <a:ext cx="416966" cy="41696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1554480"/>
            <a:ext cx="10881360" cy="457200"/>
          </a:xfrm>
          <a:prstGeom prst="roundRect">
            <a:avLst>
              <a:gd name="adj" fmla="val 50000"/>
            </a:avLst>
          </a:prstGeom>
          <a:solidFill>
            <a:srgbClr val="1E2430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9" name="Image 1" descr="/home/claude/steeltec/icons/rout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1664208"/>
            <a:ext cx="237744" cy="23774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88720" y="155448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Nerede:  </a:t>
            </a:r>
            <a:r>
              <a:rPr lang="en-US" sz="12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Sağ üst → Test paneli (Test your agent)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40080" y="2212848"/>
            <a:ext cx="6766560" cy="3246120"/>
          </a:xfrm>
          <a:prstGeom prst="roundRect">
            <a:avLst>
              <a:gd name="adj" fmla="val 1690"/>
            </a:avLst>
          </a:prstGeom>
          <a:solidFill>
            <a:srgbClr val="1B233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2" name="Shape 8"/>
          <p:cNvSpPr/>
          <p:nvPr/>
        </p:nvSpPr>
        <p:spPr>
          <a:xfrm>
            <a:off x="640080" y="2212848"/>
            <a:ext cx="6766560" cy="310896"/>
          </a:xfrm>
          <a:prstGeom prst="roundRect">
            <a:avLst>
              <a:gd name="adj" fmla="val 17647"/>
            </a:avLst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3" name="Shape 9"/>
          <p:cNvSpPr/>
          <p:nvPr/>
        </p:nvSpPr>
        <p:spPr>
          <a:xfrm>
            <a:off x="640080" y="2368296"/>
            <a:ext cx="6766560" cy="155448"/>
          </a:xfrm>
          <a:prstGeom prst="rect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Text 10"/>
          <p:cNvSpPr txBox="1"/>
          <p:nvPr/>
        </p:nvSpPr>
        <p:spPr>
          <a:xfrm>
            <a:off x="768096" y="2231136"/>
            <a:ext cx="6510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DİYALOĞU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804672" y="2615184"/>
            <a:ext cx="6437376" cy="2734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Siz:  Yıllık iznimi nasıl talep ederim?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Agent: 3 adımda: 1) Portaldan talep… 2) Yöneticinin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onayı… 3) İK teyidi… (Kaynak: İK Politikaları)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Siz:  Maaşımı ne zaman alırım?  (kaynakta yoksa)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Agent: Bu konuda net bilgim yok; İK ile görüşün.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'Activity map' ile hangi kaynağın kullanıldığını görün.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7635240" y="2212848"/>
            <a:ext cx="388620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7" name="Text 13"/>
          <p:cNvSpPr txBox="1"/>
          <p:nvPr/>
        </p:nvSpPr>
        <p:spPr>
          <a:xfrm>
            <a:off x="7863840" y="23957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YAPIYORUZ / NEDEN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7863840" y="2761488"/>
            <a:ext cx="34747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Kısa, belirsiz ve günlük sorularla test edin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Kaynakta olmayanı sorup 'bilmiyorum' dediğini görün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map = şeffaflık; grounding çalışıyor mu?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Zayıf yanıtları Instructions/Knowledge ile düzeltin</a:t>
            </a:r>
            <a:endParaRPr lang="en-US" sz="1250" dirty="0"/>
          </a:p>
        </p:txBody>
      </p:sp>
      <p:sp>
        <p:nvSpPr>
          <p:cNvPr id="19" name="Text 15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Microsoft 365 Copilot &amp; Copilot Studio</a:t>
            </a:r>
            <a:endParaRPr lang="en-US" sz="900" dirty="0"/>
          </a:p>
        </p:txBody>
      </p:sp>
      <p:sp>
        <p:nvSpPr>
          <p:cNvPr id="20" name="Text 16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868680" cy="86868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 txBox="1"/>
          <p:nvPr/>
        </p:nvSpPr>
        <p:spPr>
          <a:xfrm>
            <a:off x="640080" y="4572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1691640" y="457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UYGULAMALI · ADIM 6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691640" y="7315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Yayınla — Teams'e Çıkar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744200" y="457200"/>
            <a:ext cx="868680" cy="868680"/>
          </a:xfrm>
          <a:prstGeom prst="ellipse">
            <a:avLst/>
          </a:prstGeom>
          <a:solidFill>
            <a:srgbClr val="1E2430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7" name="Image 0" descr="/home/claude/steeltec/icons/rocke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0057" y="683057"/>
            <a:ext cx="416966" cy="41696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1554480"/>
            <a:ext cx="10881360" cy="457200"/>
          </a:xfrm>
          <a:prstGeom prst="roundRect">
            <a:avLst>
              <a:gd name="adj" fmla="val 50000"/>
            </a:avLst>
          </a:prstGeom>
          <a:solidFill>
            <a:srgbClr val="1E2430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9" name="Image 1" descr="/home/claude/steeltec/icons/rout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1664208"/>
            <a:ext cx="237744" cy="23774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88720" y="155448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Nerede:  </a:t>
            </a:r>
            <a:r>
              <a:rPr lang="en-US" sz="12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Üst bar → Publish → Channels → Microsoft Teams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40080" y="2212848"/>
            <a:ext cx="6766560" cy="3246120"/>
          </a:xfrm>
          <a:prstGeom prst="roundRect">
            <a:avLst>
              <a:gd name="adj" fmla="val 1690"/>
            </a:avLst>
          </a:prstGeom>
          <a:solidFill>
            <a:srgbClr val="1B233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2" name="Shape 8"/>
          <p:cNvSpPr/>
          <p:nvPr/>
        </p:nvSpPr>
        <p:spPr>
          <a:xfrm>
            <a:off x="640080" y="2212848"/>
            <a:ext cx="6766560" cy="310896"/>
          </a:xfrm>
          <a:prstGeom prst="roundRect">
            <a:avLst>
              <a:gd name="adj" fmla="val 17647"/>
            </a:avLst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3" name="Shape 9"/>
          <p:cNvSpPr/>
          <p:nvPr/>
        </p:nvSpPr>
        <p:spPr>
          <a:xfrm>
            <a:off x="640080" y="2368296"/>
            <a:ext cx="6766560" cy="155448"/>
          </a:xfrm>
          <a:prstGeom prst="rect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Text 10"/>
          <p:cNvSpPr txBox="1"/>
          <p:nvPr/>
        </p:nvSpPr>
        <p:spPr>
          <a:xfrm>
            <a:off x="768096" y="2231136"/>
            <a:ext cx="6510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YAYIN ADIMLARI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804672" y="2615184"/>
            <a:ext cx="6437376" cy="2734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1) Publish → Publish (ilk yayın)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2) Channels sekmesi → Microsoft Teams → Add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3) 'Availability options' → ekibe/şirkete aç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4) (Onay gerekirse) yöneticiye gönder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5) Teams'te agent'ı ara, sohbeti başlat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Diğer kanallar: M365 Copilot, Demo web sitesi,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SharePoint, özel web (Direct Line).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7635240" y="2212848"/>
            <a:ext cx="388620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7" name="Text 13"/>
          <p:cNvSpPr txBox="1"/>
          <p:nvPr/>
        </p:nvSpPr>
        <p:spPr>
          <a:xfrm>
            <a:off x="7863840" y="23957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YAPIYORUZ / NEDEN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7863840" y="2761488"/>
            <a:ext cx="34747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değişiklikten sonra yeniden Publish gerekir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Önce Demo website ile hızlı paylaş, sonra Teams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yayını için kurum onay akışı olabilir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Yayın sonrası kullanımı analytics'ten izleyin</a:t>
            </a:r>
            <a:endParaRPr lang="en-US" sz="1250" dirty="0"/>
          </a:p>
        </p:txBody>
      </p:sp>
      <p:sp>
        <p:nvSpPr>
          <p:cNvPr id="19" name="Text 15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Microsoft 365 Copilot &amp; Copilot Studio</a:t>
            </a:r>
            <a:endParaRPr lang="en-US" sz="900" dirty="0"/>
          </a:p>
        </p:txBody>
      </p:sp>
      <p:sp>
        <p:nvSpPr>
          <p:cNvPr id="20" name="Text 16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E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teeltec/icons/rocket_color.png"/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8778240" y="-274320"/>
            <a:ext cx="4114800" cy="41148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22960" y="1234440"/>
            <a:ext cx="1051560" cy="105156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4" name="Image 1" descr="/home/claude/steeltec/icons/flag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6366" y="1507846"/>
            <a:ext cx="504749" cy="504749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868680" y="2514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2 TAMAMLANDI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822960" y="2834640"/>
            <a:ext cx="8686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Tebrikler — çalışan bir</a:t>
            </a:r>
            <a:endParaRPr lang="en-US" sz="3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agent'ınız var! 🎉</a:t>
            </a:r>
            <a:endParaRPr lang="en-US" sz="3800" dirty="0"/>
          </a:p>
        </p:txBody>
      </p:sp>
      <p:sp>
        <p:nvSpPr>
          <p:cNvPr id="7" name="Shape 3"/>
          <p:cNvSpPr/>
          <p:nvPr/>
        </p:nvSpPr>
        <p:spPr>
          <a:xfrm>
            <a:off x="822960" y="4343400"/>
            <a:ext cx="1463040" cy="502920"/>
          </a:xfrm>
          <a:prstGeom prst="roundRect">
            <a:avLst>
              <a:gd name="adj" fmla="val 49091"/>
            </a:avLst>
          </a:prstGeom>
          <a:solidFill>
            <a:srgbClr val="273041"/>
          </a:solidFill>
          <a:ln w="12700">
            <a:solidFill>
              <a:srgbClr val="FF6A1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8" name="Image 2" descr="/home/claude/steeltec/icons/chec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" y="4480560"/>
            <a:ext cx="219456" cy="21945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225296" y="434340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Oluşturuldu</a:t>
            </a:r>
            <a:endParaRPr lang="en-US" sz="1200" dirty="0"/>
          </a:p>
        </p:txBody>
      </p:sp>
      <p:sp>
        <p:nvSpPr>
          <p:cNvPr id="10" name="Shape 5"/>
          <p:cNvSpPr/>
          <p:nvPr/>
        </p:nvSpPr>
        <p:spPr>
          <a:xfrm>
            <a:off x="2450592" y="4343400"/>
            <a:ext cx="1554480" cy="502920"/>
          </a:xfrm>
          <a:prstGeom prst="roundRect">
            <a:avLst>
              <a:gd name="adj" fmla="val 49091"/>
            </a:avLst>
          </a:prstGeom>
          <a:solidFill>
            <a:srgbClr val="273041"/>
          </a:solidFill>
          <a:ln w="12700">
            <a:solidFill>
              <a:srgbClr val="FF6A1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11" name="Image 3" descr="/home/claude/steeltec/icons/chec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96896" y="4480560"/>
            <a:ext cx="219456" cy="219456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2852928" y="43434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Talimatlandı</a:t>
            </a:r>
            <a:endParaRPr lang="en-US" sz="1200" dirty="0"/>
          </a:p>
        </p:txBody>
      </p:sp>
      <p:sp>
        <p:nvSpPr>
          <p:cNvPr id="13" name="Shape 7"/>
          <p:cNvSpPr/>
          <p:nvPr/>
        </p:nvSpPr>
        <p:spPr>
          <a:xfrm>
            <a:off x="4169664" y="4343400"/>
            <a:ext cx="1920240" cy="502920"/>
          </a:xfrm>
          <a:prstGeom prst="roundRect">
            <a:avLst>
              <a:gd name="adj" fmla="val 49091"/>
            </a:avLst>
          </a:prstGeom>
          <a:solidFill>
            <a:srgbClr val="273041"/>
          </a:solidFill>
          <a:ln w="12700">
            <a:solidFill>
              <a:srgbClr val="FF6A1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14" name="Image 4" descr="/home/claude/steeltec/icons/chec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5968" y="4480560"/>
            <a:ext cx="219456" cy="219456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4572000" y="43434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Bilgiye bağlandı</a:t>
            </a:r>
            <a:endParaRPr lang="en-US" sz="1200" dirty="0"/>
          </a:p>
        </p:txBody>
      </p:sp>
      <p:sp>
        <p:nvSpPr>
          <p:cNvPr id="16" name="Shape 9"/>
          <p:cNvSpPr/>
          <p:nvPr/>
        </p:nvSpPr>
        <p:spPr>
          <a:xfrm>
            <a:off x="6254496" y="4343400"/>
            <a:ext cx="1463040" cy="502920"/>
          </a:xfrm>
          <a:prstGeom prst="roundRect">
            <a:avLst>
              <a:gd name="adj" fmla="val 49091"/>
            </a:avLst>
          </a:prstGeom>
          <a:solidFill>
            <a:srgbClr val="273041"/>
          </a:solidFill>
          <a:ln w="12700">
            <a:solidFill>
              <a:srgbClr val="FF6A1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17" name="Image 5" descr="/home/claude/steeltec/icons/chec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4480560"/>
            <a:ext cx="219456" cy="219456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6656832" y="434340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edildi</a:t>
            </a:r>
            <a:endParaRPr lang="en-US" sz="1200" dirty="0"/>
          </a:p>
        </p:txBody>
      </p:sp>
      <p:sp>
        <p:nvSpPr>
          <p:cNvPr id="19" name="Shape 11"/>
          <p:cNvSpPr/>
          <p:nvPr/>
        </p:nvSpPr>
        <p:spPr>
          <a:xfrm>
            <a:off x="7882128" y="4343400"/>
            <a:ext cx="1920240" cy="502920"/>
          </a:xfrm>
          <a:prstGeom prst="roundRect">
            <a:avLst>
              <a:gd name="adj" fmla="val 49091"/>
            </a:avLst>
          </a:prstGeom>
          <a:solidFill>
            <a:srgbClr val="273041"/>
          </a:solidFill>
          <a:ln w="12700">
            <a:solidFill>
              <a:srgbClr val="FF6A1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20" name="Image 6" descr="/home/claude/steeltec/icons/chec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8432" y="4480560"/>
            <a:ext cx="219456" cy="219456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8284464" y="43434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Teams'te yayında</a:t>
            </a:r>
            <a:endParaRPr lang="en-US" sz="1200" dirty="0"/>
          </a:p>
        </p:txBody>
      </p:sp>
      <p:sp>
        <p:nvSpPr>
          <p:cNvPr id="22" name="Text 13"/>
          <p:cNvSpPr txBox="1"/>
          <p:nvPr/>
        </p:nvSpPr>
        <p:spPr>
          <a:xfrm>
            <a:off x="822960" y="52120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Öğleden sonra: Bu agent'ı daha akıllı hale getireceğiz — daha iyi talimatlar, zengin knowledge, aksiyonlar, otonom tetikleyiciler ve kurumsal yönetim.</a:t>
            </a:r>
            <a:endParaRPr lang="en-US" sz="1400" dirty="0"/>
          </a:p>
        </p:txBody>
      </p:sp>
      <p:sp>
        <p:nvSpPr>
          <p:cNvPr id="23" name="Text 14"/>
          <p:cNvSpPr txBox="1"/>
          <p:nvPr/>
        </p:nvSpPr>
        <p:spPr>
          <a:xfrm>
            <a:off x="82296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Copilot Studio Agent Eğitimi</a:t>
            </a:r>
            <a:endParaRPr lang="en-US" sz="900" dirty="0"/>
          </a:p>
        </p:txBody>
      </p:sp>
      <p:sp>
        <p:nvSpPr>
          <p:cNvPr id="24" name="Text 15"/>
          <p:cNvSpPr txBox="1"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E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955280" y="182880"/>
            <a:ext cx="4023360" cy="6492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0" b="1" dirty="0">
                <a:solidFill>
                  <a:srgbClr val="2730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0" dirty="0"/>
          </a:p>
        </p:txBody>
      </p:sp>
      <p:sp>
        <p:nvSpPr>
          <p:cNvPr id="3" name="Shape 1"/>
          <p:cNvSpPr/>
          <p:nvPr/>
        </p:nvSpPr>
        <p:spPr>
          <a:xfrm>
            <a:off x="822960" y="2103120"/>
            <a:ext cx="1051560" cy="105156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4" name="Image 0" descr="/home/claude/steeltec/icons/clipboar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366" y="2376526"/>
            <a:ext cx="504749" cy="50474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68680" y="3383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3 · MODÜL 5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3703320"/>
            <a:ext cx="7498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Talimatları ve</a:t>
            </a:r>
            <a:endParaRPr lang="en-US" sz="40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Mühendisliği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Copilot Studio Agent Eğitimi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5 · INSTRUCTIONS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Zayıf vs Güçlü Agent Talimatı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34924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5349240" cy="530352"/>
          </a:xfrm>
          <a:prstGeom prst="roundRect">
            <a:avLst>
              <a:gd name="adj" fmla="val 20690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640080" y="1911096"/>
            <a:ext cx="5349240" cy="265176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7" name="Image 0" descr="/home/claude/steeltec/icons/cros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755648"/>
            <a:ext cx="310896" cy="31089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34440" y="1645920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ZAYIF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68680" y="2331720"/>
            <a:ext cx="4892040" cy="1188720"/>
          </a:xfrm>
          <a:prstGeom prst="roundRect">
            <a:avLst>
              <a:gd name="adj" fmla="val 4615"/>
            </a:avLst>
          </a:prstGeom>
          <a:solidFill>
            <a:srgbClr val="1B233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Text 7"/>
          <p:cNvSpPr txBox="1"/>
          <p:nvPr/>
        </p:nvSpPr>
        <p:spPr>
          <a:xfrm>
            <a:off x="1024128" y="2450592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“Çalışanlara İK konularında yardım et.”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3657600"/>
            <a:ext cx="4846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Kapsam ve sınır yok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Neyi yapmayacağı belirsiz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Kaynak/format tanımsız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Uydurmaya (halüsinasyon) açık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172200" y="1645920"/>
            <a:ext cx="534924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3" name="Shape 10"/>
          <p:cNvSpPr/>
          <p:nvPr/>
        </p:nvSpPr>
        <p:spPr>
          <a:xfrm>
            <a:off x="6172200" y="1645920"/>
            <a:ext cx="5349240" cy="530352"/>
          </a:xfrm>
          <a:prstGeom prst="roundRect">
            <a:avLst>
              <a:gd name="adj" fmla="val 20690"/>
            </a:avLst>
          </a:prstGeom>
          <a:solidFill>
            <a:srgbClr val="1E8E5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Shape 11"/>
          <p:cNvSpPr/>
          <p:nvPr/>
        </p:nvSpPr>
        <p:spPr>
          <a:xfrm>
            <a:off x="6172200" y="1911096"/>
            <a:ext cx="5349240" cy="265176"/>
          </a:xfrm>
          <a:prstGeom prst="rect">
            <a:avLst/>
          </a:prstGeom>
          <a:solidFill>
            <a:srgbClr val="1E8E5A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5" name="Image 1" descr="/home/claude/steeltec/icons/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755648"/>
            <a:ext cx="310896" cy="310896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6766560" y="1645920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GÜÇLÜ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6400800" y="2331720"/>
            <a:ext cx="4892040" cy="1737360"/>
          </a:xfrm>
          <a:prstGeom prst="roundRect">
            <a:avLst>
              <a:gd name="adj" fmla="val 3158"/>
            </a:avLst>
          </a:prstGeom>
          <a:solidFill>
            <a:srgbClr val="14351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8" name="Text 14"/>
          <p:cNvSpPr txBox="1"/>
          <p:nvPr/>
        </p:nvSpPr>
        <p:spPr>
          <a:xfrm>
            <a:off x="6556248" y="2432304"/>
            <a:ext cx="4572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7F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Rol: İç Destek Asistanı. Sadece eklenen İK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7F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belgelerine dayan. Emin değilsen İK'ya yönlendir.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7F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Madde madde, resmi-samimi, Türkçe yanıt ver.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7F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Kişisel veri taleplerini İK'ya ilet.</a:t>
            </a:r>
            <a:endParaRPr lang="en-US" sz="1150" dirty="0"/>
          </a:p>
        </p:txBody>
      </p:sp>
      <p:sp>
        <p:nvSpPr>
          <p:cNvPr id="19" name="Text 15"/>
          <p:cNvSpPr txBox="1"/>
          <p:nvPr/>
        </p:nvSpPr>
        <p:spPr>
          <a:xfrm>
            <a:off x="6446520" y="416052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✓"/>
            </a:pPr>
            <a:r>
              <a:rPr lang="en-US" sz="12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Rol, kapsam ve sınır net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✓"/>
            </a:pPr>
            <a:r>
              <a:rPr lang="en-US" sz="12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Kaynağa sabitli (grounding)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✓"/>
            </a:pPr>
            <a:r>
              <a:rPr lang="en-US" sz="12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 ve format tanımlı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✓"/>
            </a:pPr>
            <a:r>
              <a:rPr lang="en-US" sz="12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Devir/yönlendirme kuralı var</a:t>
            </a:r>
            <a:endParaRPr lang="en-US" sz="1250" dirty="0"/>
          </a:p>
        </p:txBody>
      </p:sp>
      <p:sp>
        <p:nvSpPr>
          <p:cNvPr id="20" name="Text 16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Microsoft 365 Copilot &amp; Copilot Studio</a:t>
            </a:r>
            <a:endParaRPr lang="en-US" sz="900" dirty="0"/>
          </a:p>
        </p:txBody>
      </p:sp>
      <p:sp>
        <p:nvSpPr>
          <p:cNvPr id="21" name="Text 17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5 · ÖRNEKLER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Farklı Agent'lar İçin Talimat Kalıpları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744200" y="438912"/>
            <a:ext cx="868680" cy="86868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5" name="Image 0" descr="/home/claude/steeltec/icons/clipboar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0057" y="664769"/>
            <a:ext cx="416966" cy="41696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572768"/>
            <a:ext cx="534924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Shape 4"/>
          <p:cNvSpPr/>
          <p:nvPr/>
        </p:nvSpPr>
        <p:spPr>
          <a:xfrm>
            <a:off x="640080" y="1572768"/>
            <a:ext cx="5349240" cy="457200"/>
          </a:xfrm>
          <a:prstGeom prst="roundRect">
            <a:avLst>
              <a:gd name="adj" fmla="val 24000"/>
            </a:avLst>
          </a:prstGeom>
          <a:solidFill>
            <a:srgbClr val="1E243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" name="Shape 5"/>
          <p:cNvSpPr/>
          <p:nvPr/>
        </p:nvSpPr>
        <p:spPr>
          <a:xfrm>
            <a:off x="640080" y="1801368"/>
            <a:ext cx="5349240" cy="228600"/>
          </a:xfrm>
          <a:prstGeom prst="rect">
            <a:avLst/>
          </a:prstGeom>
          <a:solidFill>
            <a:srgbClr val="1E243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Text 6"/>
          <p:cNvSpPr txBox="1"/>
          <p:nvPr/>
        </p:nvSpPr>
        <p:spPr>
          <a:xfrm>
            <a:off x="868680" y="1572768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SATIŞ DESTEK AGENT'I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96112" y="2167128"/>
            <a:ext cx="48371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▸"/>
            </a:pPr>
            <a:r>
              <a:rPr lang="en-US" sz="1150" dirty="0">
                <a:solidFill>
                  <a:srgbClr val="22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Rol: Satış ekibine ürün ve fiyat asistanı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▸"/>
            </a:pPr>
            <a:r>
              <a:rPr lang="en-US" sz="1150" dirty="0">
                <a:solidFill>
                  <a:srgbClr val="22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Sadece güncel fiyat listesi + kataloğa dayan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▸"/>
            </a:pPr>
            <a:r>
              <a:rPr lang="en-US" sz="1150" dirty="0">
                <a:solidFill>
                  <a:srgbClr val="22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Teklif taslağı üret; onayı satışa bırak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▸"/>
            </a:pPr>
            <a:r>
              <a:rPr lang="en-US" sz="1150" dirty="0">
                <a:solidFill>
                  <a:srgbClr val="22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Stok/teslim sorusunu ERP aksiyonuna yönlendir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355080" y="1572768"/>
            <a:ext cx="534924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2" name="Shape 9"/>
          <p:cNvSpPr/>
          <p:nvPr/>
        </p:nvSpPr>
        <p:spPr>
          <a:xfrm>
            <a:off x="6355080" y="1572768"/>
            <a:ext cx="5349240" cy="457200"/>
          </a:xfrm>
          <a:prstGeom prst="roundRect">
            <a:avLst>
              <a:gd name="adj" fmla="val 24000"/>
            </a:avLst>
          </a:prstGeom>
          <a:solidFill>
            <a:srgbClr val="1E243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3" name="Shape 10"/>
          <p:cNvSpPr/>
          <p:nvPr/>
        </p:nvSpPr>
        <p:spPr>
          <a:xfrm>
            <a:off x="6355080" y="1801368"/>
            <a:ext cx="5349240" cy="228600"/>
          </a:xfrm>
          <a:prstGeom prst="rect">
            <a:avLst/>
          </a:prstGeom>
          <a:solidFill>
            <a:srgbClr val="1E243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Text 11"/>
          <p:cNvSpPr txBox="1"/>
          <p:nvPr/>
        </p:nvSpPr>
        <p:spPr>
          <a:xfrm>
            <a:off x="6583680" y="1572768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ÜRETİM RAPOR AGENT'I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6611112" y="2167128"/>
            <a:ext cx="48371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▸"/>
            </a:pPr>
            <a:r>
              <a:rPr lang="en-US" sz="1150" dirty="0">
                <a:solidFill>
                  <a:srgbClr val="22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Rol: Vardiya raporu ve fire analizi asistanı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▸"/>
            </a:pPr>
            <a:r>
              <a:rPr lang="en-US" sz="1150" dirty="0">
                <a:solidFill>
                  <a:srgbClr val="22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Sayısal yanıtları tablo/rakamla ver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▸"/>
            </a:pPr>
            <a:r>
              <a:rPr lang="en-US" sz="1150" dirty="0">
                <a:solidFill>
                  <a:srgbClr val="22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Anomalileri vurgula, kök neden öner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▸"/>
            </a:pPr>
            <a:r>
              <a:rPr lang="en-US" sz="1150" dirty="0">
                <a:solidFill>
                  <a:srgbClr val="22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Yalnızca üretim veri kaynağına dayan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40080" y="3968496"/>
            <a:ext cx="534924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7" name="Shape 14"/>
          <p:cNvSpPr/>
          <p:nvPr/>
        </p:nvSpPr>
        <p:spPr>
          <a:xfrm>
            <a:off x="640080" y="3968496"/>
            <a:ext cx="5349240" cy="457200"/>
          </a:xfrm>
          <a:prstGeom prst="roundRect">
            <a:avLst>
              <a:gd name="adj" fmla="val 24000"/>
            </a:avLst>
          </a:prstGeom>
          <a:solidFill>
            <a:srgbClr val="1E243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8" name="Shape 15"/>
          <p:cNvSpPr/>
          <p:nvPr/>
        </p:nvSpPr>
        <p:spPr>
          <a:xfrm>
            <a:off x="640080" y="4197096"/>
            <a:ext cx="5349240" cy="228600"/>
          </a:xfrm>
          <a:prstGeom prst="rect">
            <a:avLst/>
          </a:prstGeom>
          <a:solidFill>
            <a:srgbClr val="1E243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9" name="Text 16"/>
          <p:cNvSpPr txBox="1"/>
          <p:nvPr/>
        </p:nvSpPr>
        <p:spPr>
          <a:xfrm>
            <a:off x="868680" y="3968496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İSG / KALİTE AGENT'I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896112" y="4562856"/>
            <a:ext cx="48371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▸"/>
            </a:pPr>
            <a:r>
              <a:rPr lang="en-US" sz="1150" dirty="0">
                <a:solidFill>
                  <a:srgbClr val="22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Rol: İş güvenliği prosedür asistanı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▸"/>
            </a:pPr>
            <a:r>
              <a:rPr lang="en-US" sz="1150" dirty="0">
                <a:solidFill>
                  <a:srgbClr val="22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Adım adım, emir kipinde yanıtla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▸"/>
            </a:pPr>
            <a:r>
              <a:rPr lang="en-US" sz="1150" dirty="0">
                <a:solidFill>
                  <a:srgbClr val="22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İlgili standart/başlığı belirt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▸"/>
            </a:pPr>
            <a:r>
              <a:rPr lang="en-US" sz="1150" dirty="0">
                <a:solidFill>
                  <a:srgbClr val="22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Acil durumda önce yetkiliye yönlendir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6355080" y="3968496"/>
            <a:ext cx="534924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2" name="Shape 19"/>
          <p:cNvSpPr/>
          <p:nvPr/>
        </p:nvSpPr>
        <p:spPr>
          <a:xfrm>
            <a:off x="6355080" y="3968496"/>
            <a:ext cx="5349240" cy="457200"/>
          </a:xfrm>
          <a:prstGeom prst="roundRect">
            <a:avLst>
              <a:gd name="adj" fmla="val 24000"/>
            </a:avLst>
          </a:prstGeom>
          <a:solidFill>
            <a:srgbClr val="1E243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3" name="Shape 20"/>
          <p:cNvSpPr/>
          <p:nvPr/>
        </p:nvSpPr>
        <p:spPr>
          <a:xfrm>
            <a:off x="6355080" y="4197096"/>
            <a:ext cx="5349240" cy="228600"/>
          </a:xfrm>
          <a:prstGeom prst="rect">
            <a:avLst/>
          </a:prstGeom>
          <a:solidFill>
            <a:srgbClr val="1E243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4" name="Text 21"/>
          <p:cNvSpPr txBox="1"/>
          <p:nvPr/>
        </p:nvSpPr>
        <p:spPr>
          <a:xfrm>
            <a:off x="6583680" y="3968496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 KURALLAR (her agent)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6611112" y="4562856"/>
            <a:ext cx="48371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▸"/>
            </a:pPr>
            <a:r>
              <a:rPr lang="en-US" sz="1150" dirty="0">
                <a:solidFill>
                  <a:srgbClr val="22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Kaynak dışına çıkma, uydurma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▸"/>
            </a:pPr>
            <a:r>
              <a:rPr lang="en-US" sz="1150" dirty="0">
                <a:solidFill>
                  <a:srgbClr val="22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Emin değilsen 'bilmiyorum' de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▸"/>
            </a:pPr>
            <a:r>
              <a:rPr lang="en-US" sz="1150" dirty="0">
                <a:solidFill>
                  <a:srgbClr val="22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Kişisel/gizli veriyi isteme, ifşa etme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▸"/>
            </a:pPr>
            <a:r>
              <a:rPr lang="en-US" sz="1150" dirty="0">
                <a:solidFill>
                  <a:srgbClr val="22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Yanıt sonunda kaynağı/başlığı belirt</a:t>
            </a:r>
            <a:endParaRPr lang="en-US" sz="1150" dirty="0"/>
          </a:p>
        </p:txBody>
      </p:sp>
      <p:sp>
        <p:nvSpPr>
          <p:cNvPr id="26" name="Text 23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Microsoft 365 Copilot &amp; Copilot Studio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5 · TEST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Başlangıç Promptları ve Test Senaryoları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349240" cy="402336"/>
          </a:xfrm>
          <a:prstGeom prst="roundRect">
            <a:avLst>
              <a:gd name="adj" fmla="val 50000"/>
            </a:avLst>
          </a:prstGeom>
          <a:solidFill>
            <a:srgbClr val="FFE7D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 txBox="1"/>
          <p:nvPr/>
        </p:nvSpPr>
        <p:spPr>
          <a:xfrm>
            <a:off x="822960" y="1463040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24E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KULLANICIYA ÖNERİLEN BAŞLANGIÇ PROMPTLARI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11680"/>
            <a:ext cx="51206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250" dirty="0">
                <a:solidFill>
                  <a:srgbClr val="22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“Yıllık izin nasıl talep edilir?”
</a:t>
            </a:r>
            <a:endParaRPr lang="en-US" sz="12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50" dirty="0">
                <a:solidFill>
                  <a:srgbClr val="22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“Fazla mesai nasıl hesaplanır?”
</a:t>
            </a:r>
            <a:endParaRPr lang="en-US" sz="12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50" dirty="0">
                <a:solidFill>
                  <a:srgbClr val="22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“Atölyede zorunlu KKD'ler neler?”
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2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“Mazeret izni kaç gün?”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463040"/>
            <a:ext cx="5349240" cy="402336"/>
          </a:xfrm>
          <a:prstGeom prst="roundRect">
            <a:avLst>
              <a:gd name="adj" fmla="val 50000"/>
            </a:avLst>
          </a:prstGeom>
          <a:solidFill>
            <a:srgbClr val="1E243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 txBox="1"/>
          <p:nvPr/>
        </p:nvSpPr>
        <p:spPr>
          <a:xfrm>
            <a:off x="6355080" y="1463040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BUNLARI DA TEST EDİN (KENAR DURUMLAR)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2011680"/>
            <a:ext cx="51206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Kaynakta olmayan soru → 'bilmiyorum' demeli</a:t>
            </a:r>
            <a:endParaRPr lang="en-US" sz="12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Belirsiz/kısa soru → netleştirme istemeli</a:t>
            </a:r>
            <a:endParaRPr lang="en-US" sz="12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Kişisel veri talebi → İK'ya yönlendirmeli</a:t>
            </a:r>
            <a:endParaRPr lang="en-US" sz="12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Alakasız/oyun sorusu → kapsamda kalmalı</a:t>
            </a:r>
            <a:endParaRPr lang="en-US" sz="12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Yazım hatalı soru → yine de anlamalı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489204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FFE7D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914400" y="5093208"/>
            <a:ext cx="512064" cy="51206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2" name="Image 0" descr="/home/claude/steeltec/icons/bulb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537" y="5226345"/>
            <a:ext cx="245791" cy="245791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645920" y="4910328"/>
            <a:ext cx="96926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24E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Yöntem: </a:t>
            </a:r>
            <a:r>
              <a:rPr lang="en-US" sz="13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Yayından önce 10-15 gerçek soruyla test edin. Her başarısız yanıt için Instructions veya Knowledge'ı güncelleyip tekrar test edin (iterasyon).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Microsoft 365 Copilot &amp; Copilot Studio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E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955280" y="182880"/>
            <a:ext cx="4023360" cy="6492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0" b="1" dirty="0">
                <a:solidFill>
                  <a:srgbClr val="2730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0" dirty="0"/>
          </a:p>
        </p:txBody>
      </p:sp>
      <p:sp>
        <p:nvSpPr>
          <p:cNvPr id="3" name="Shape 1"/>
          <p:cNvSpPr/>
          <p:nvPr/>
        </p:nvSpPr>
        <p:spPr>
          <a:xfrm>
            <a:off x="822960" y="2103120"/>
            <a:ext cx="1051560" cy="105156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4" name="Image 0" descr="/home/claude/steeltec/icons/databas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366" y="2376526"/>
            <a:ext cx="504749" cy="50474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68680" y="3383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3 · MODÜL 6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3703320"/>
            <a:ext cx="7498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—</a:t>
            </a:r>
            <a:endParaRPr lang="en-US" sz="40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Kurum Verinle Çalışmak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Copilot Studio Agent Eğitimi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6 · KAYNAKLAR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Agent'a Hangi Bilgiyi Bağlayabiliriz?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896112" y="1901952"/>
            <a:ext cx="603504" cy="603504"/>
          </a:xfrm>
          <a:prstGeom prst="ellipse">
            <a:avLst/>
          </a:prstGeom>
          <a:solidFill>
            <a:srgbClr val="37425A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6" name="Image 0" descr="/home/claude/steeltec/icons/fi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023" y="2058863"/>
            <a:ext cx="289682" cy="28968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1920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Dosyalar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896112" y="2615184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PDF, Word, Excel, PowerPoint — doğrudan yükleme.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416552" y="1627632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Shape 7"/>
          <p:cNvSpPr/>
          <p:nvPr/>
        </p:nvSpPr>
        <p:spPr>
          <a:xfrm>
            <a:off x="4672584" y="1901952"/>
            <a:ext cx="603504" cy="603504"/>
          </a:xfrm>
          <a:prstGeom prst="ellipse">
            <a:avLst/>
          </a:prstGeom>
          <a:solidFill>
            <a:srgbClr val="37425A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1" name="Image 1" descr="/home/claude/steeltec/icons/sharepoin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9495" y="2058863"/>
            <a:ext cx="289682" cy="28968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76672" y="1920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SharePoint / OneDrive</a:t>
            </a:r>
            <a:endParaRPr lang="en-US" sz="1550" dirty="0"/>
          </a:p>
        </p:txBody>
      </p:sp>
      <p:sp>
        <p:nvSpPr>
          <p:cNvPr id="13" name="Text 9"/>
          <p:cNvSpPr txBox="1"/>
          <p:nvPr/>
        </p:nvSpPr>
        <p:spPr>
          <a:xfrm>
            <a:off x="4672584" y="2615184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ve kütüphaneleri kaynak gösterme.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93024" y="1627632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5" name="Shape 11"/>
          <p:cNvSpPr/>
          <p:nvPr/>
        </p:nvSpPr>
        <p:spPr>
          <a:xfrm>
            <a:off x="8449056" y="1901952"/>
            <a:ext cx="603504" cy="603504"/>
          </a:xfrm>
          <a:prstGeom prst="ellipse">
            <a:avLst/>
          </a:prstGeom>
          <a:solidFill>
            <a:srgbClr val="37425A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6" name="Image 2" descr="/home/claude/steeltec/icons/glob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5967" y="2058863"/>
            <a:ext cx="289682" cy="28968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153144" y="1920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Herkese açık web</a:t>
            </a:r>
            <a:endParaRPr lang="en-US" sz="1550" dirty="0"/>
          </a:p>
        </p:txBody>
      </p:sp>
      <p:sp>
        <p:nvSpPr>
          <p:cNvPr id="18" name="Text 13"/>
          <p:cNvSpPr txBox="1"/>
          <p:nvPr/>
        </p:nvSpPr>
        <p:spPr>
          <a:xfrm>
            <a:off x="8449056" y="2615184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Belirli genel siteler (iç agent'ta genelde kapalı).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" y="3803904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0" name="Shape 15"/>
          <p:cNvSpPr/>
          <p:nvPr/>
        </p:nvSpPr>
        <p:spPr>
          <a:xfrm>
            <a:off x="896112" y="4078224"/>
            <a:ext cx="603504" cy="603504"/>
          </a:xfrm>
          <a:prstGeom prst="ellipse">
            <a:avLst/>
          </a:prstGeom>
          <a:solidFill>
            <a:srgbClr val="37425A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1" name="Image 3" descr="/home/claude/steeltec/icons/databas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3023" y="4235135"/>
            <a:ext cx="289682" cy="28968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600200" y="409651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Dataverse</a:t>
            </a:r>
            <a:endParaRPr lang="en-US" sz="1550" dirty="0"/>
          </a:p>
        </p:txBody>
      </p:sp>
      <p:sp>
        <p:nvSpPr>
          <p:cNvPr id="23" name="Text 17"/>
          <p:cNvSpPr txBox="1"/>
          <p:nvPr/>
        </p:nvSpPr>
        <p:spPr>
          <a:xfrm>
            <a:off x="896112" y="4791456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Tablolar ve iş verisi (izinli).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416552" y="3803904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5" name="Shape 19"/>
          <p:cNvSpPr/>
          <p:nvPr/>
        </p:nvSpPr>
        <p:spPr>
          <a:xfrm>
            <a:off x="4672584" y="4078224"/>
            <a:ext cx="603504" cy="603504"/>
          </a:xfrm>
          <a:prstGeom prst="ellipse">
            <a:avLst/>
          </a:prstGeom>
          <a:solidFill>
            <a:srgbClr val="37425A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6" name="Image 4" descr="/home/claude/steeltec/icons/plug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9495" y="4235135"/>
            <a:ext cx="289682" cy="28968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376672" y="409651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Konnektörler</a:t>
            </a:r>
            <a:endParaRPr lang="en-US" sz="1550" dirty="0"/>
          </a:p>
        </p:txBody>
      </p:sp>
      <p:sp>
        <p:nvSpPr>
          <p:cNvPr id="28" name="Text 21"/>
          <p:cNvSpPr txBox="1"/>
          <p:nvPr/>
        </p:nvSpPr>
        <p:spPr>
          <a:xfrm>
            <a:off x="4672584" y="4791456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Salesforce, ServiceNow, Jira gibi dış sistemler.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193024" y="3803904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0" name="Shape 23"/>
          <p:cNvSpPr/>
          <p:nvPr/>
        </p:nvSpPr>
        <p:spPr>
          <a:xfrm>
            <a:off x="8449056" y="4078224"/>
            <a:ext cx="603504" cy="603504"/>
          </a:xfrm>
          <a:prstGeom prst="ellipse">
            <a:avLst/>
          </a:prstGeom>
          <a:solidFill>
            <a:srgbClr val="37425A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31" name="Image 5" descr="/home/claude/steeltec/icons/microsoft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05967" y="4235135"/>
            <a:ext cx="289682" cy="289682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153144" y="409651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Microsoft Graph</a:t>
            </a:r>
            <a:endParaRPr lang="en-US" sz="1550" dirty="0"/>
          </a:p>
        </p:txBody>
      </p:sp>
      <p:sp>
        <p:nvSpPr>
          <p:cNvPr id="33" name="Text 25"/>
          <p:cNvSpPr txBox="1"/>
          <p:nvPr/>
        </p:nvSpPr>
        <p:spPr>
          <a:xfrm>
            <a:off x="8449056" y="4791456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İzinli e-posta, dosya, takvim bağlamı.</a:t>
            </a:r>
            <a:endParaRPr lang="en-US" sz="1150" dirty="0"/>
          </a:p>
        </p:txBody>
      </p:sp>
      <p:sp>
        <p:nvSpPr>
          <p:cNvPr id="34" name="Text 26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Microsoft 365 Copilot &amp; Copilot Studio</a:t>
            </a:r>
            <a:endParaRPr lang="en-US" sz="900" dirty="0"/>
          </a:p>
        </p:txBody>
      </p:sp>
      <p:sp>
        <p:nvSpPr>
          <p:cNvPr id="35" name="Text 27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6 · KALITE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İyi Grounding İçin Kurallar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34924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pic>
        <p:nvPicPr>
          <p:cNvPr id="5" name="Image 0" descr="/home/claude/steeltec/icons/check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847088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82880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8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YAP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377440"/>
            <a:ext cx="4892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100"/>
              </a:spcAft>
              <a:buSzPct val="100000"/>
              <a:buChar char="✓"/>
            </a:pPr>
            <a:r>
              <a:rPr lang="en-US" sz="13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Kaynağı dar ve konuyla birebir ilgili tut</a:t>
            </a:r>
            <a:endParaRPr lang="en-US" sz="1300" dirty="0"/>
          </a:p>
          <a:p>
            <a:pPr marL="177800" indent="-177800">
              <a:spcAft>
                <a:spcPts val="1100"/>
              </a:spcAft>
              <a:buSzPct val="100000"/>
              <a:buChar char="✓"/>
            </a:pPr>
            <a:r>
              <a:rPr lang="en-US" sz="13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Belgeleri güncel ve tekilleştirilmiş tut</a:t>
            </a:r>
            <a:endParaRPr lang="en-US" sz="1300" dirty="0"/>
          </a:p>
          <a:p>
            <a:pPr marL="177800" indent="-177800">
              <a:spcAft>
                <a:spcPts val="1100"/>
              </a:spcAft>
              <a:buSzPct val="100000"/>
              <a:buChar char="✓"/>
            </a:pPr>
            <a:r>
              <a:rPr lang="en-US" sz="13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başlıklı, aranabilir metin kullan</a:t>
            </a:r>
            <a:endParaRPr lang="en-US" sz="1300" dirty="0"/>
          </a:p>
          <a:p>
            <a:pPr marL="177800" indent="-177800">
              <a:spcAft>
                <a:spcPts val="1100"/>
              </a:spcAft>
              <a:buSzPct val="100000"/>
              <a:buChar char="✓"/>
            </a:pPr>
            <a:r>
              <a:rPr lang="en-US" sz="13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'Ungrounded responses' kapalı tut</a:t>
            </a:r>
            <a:endParaRPr lang="en-US" sz="1300" dirty="0"/>
          </a:p>
          <a:p>
            <a:pPr marL="177800" indent="-177800">
              <a:spcAft>
                <a:spcPts val="1100"/>
              </a:spcAft>
              <a:buSzPct val="100000"/>
              <a:buChar char="✓"/>
            </a:pPr>
            <a:r>
              <a:rPr lang="en-US" sz="13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Yanıtta kaynağı gösterttir (atıf)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172200" y="1645920"/>
            <a:ext cx="534924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pic>
        <p:nvPicPr>
          <p:cNvPr id="9" name="Image 1" descr="/home/claude/steeltec/icons/cross_col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847088"/>
            <a:ext cx="365760" cy="3657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903720" y="182880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YAPMA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6400800" y="2377440"/>
            <a:ext cx="4892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Onlarca alakasız belgeyi birden ekleme</a:t>
            </a:r>
            <a:endParaRPr lang="en-US" sz="13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Eski/çelişen sürümleri bırakma</a:t>
            </a:r>
            <a:endParaRPr lang="en-US" sz="13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Taranmış, metni olmayan görüntü PDF</a:t>
            </a:r>
            <a:endParaRPr lang="en-US" sz="13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Web'i açık bırakıp veri sızdırma</a:t>
            </a:r>
            <a:endParaRPr lang="en-US" sz="13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Kaynaksız 'genel bilgi' ile karıştırma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Microsoft 365 Copilot &amp; Copilot Studio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E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955280" y="182880"/>
            <a:ext cx="4023360" cy="6492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0" b="1" dirty="0">
                <a:solidFill>
                  <a:srgbClr val="2730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0000" dirty="0"/>
          </a:p>
        </p:txBody>
      </p:sp>
      <p:sp>
        <p:nvSpPr>
          <p:cNvPr id="3" name="Shape 1"/>
          <p:cNvSpPr/>
          <p:nvPr/>
        </p:nvSpPr>
        <p:spPr>
          <a:xfrm>
            <a:off x="822960" y="2103120"/>
            <a:ext cx="1051560" cy="105156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4" name="Image 0" descr="/home/claude/steeltec/icons/wrench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366" y="2376526"/>
            <a:ext cx="504749" cy="50474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68680" y="3383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3 · MODÜL 7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3703320"/>
            <a:ext cx="7498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Actions ve Tools —</a:t>
            </a:r>
            <a:endParaRPr lang="en-US" sz="40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Agent'a Yetenek Ekleme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Copilot Studio Agent Eğitimi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7 · ACTIONS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Ne 'Yapabilir'? — Aksiyon Türleri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914400" y="1938528"/>
            <a:ext cx="658368" cy="658368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6" name="Image 0" descr="/home/claude/steeltec/icons/wan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576" y="2109704"/>
            <a:ext cx="316017" cy="31601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83080" y="190195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/ AI aksiyonu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1783080" y="2395728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Belirli bir görevi yapan hazır AI adımı (özet, sınıflandırma).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55080" y="1645920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Shape 7"/>
          <p:cNvSpPr/>
          <p:nvPr/>
        </p:nvSpPr>
        <p:spPr>
          <a:xfrm>
            <a:off x="6629400" y="1938528"/>
            <a:ext cx="658368" cy="658368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1" name="Image 1" descr="/home/claude/steeltec/icons/lightning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0576" y="2109704"/>
            <a:ext cx="316017" cy="31601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498080" y="190195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Automate akışı</a:t>
            </a:r>
            <a:endParaRPr lang="en-US" sz="1650" dirty="0"/>
          </a:p>
        </p:txBody>
      </p:sp>
      <p:sp>
        <p:nvSpPr>
          <p:cNvPr id="13" name="Text 9"/>
          <p:cNvSpPr txBox="1"/>
          <p:nvPr/>
        </p:nvSpPr>
        <p:spPr>
          <a:xfrm>
            <a:off x="7498080" y="2395728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Onay, kayıt oluşturma, e-posta gönderme gibi iş akışları.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3794760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5" name="Shape 11"/>
          <p:cNvSpPr/>
          <p:nvPr/>
        </p:nvSpPr>
        <p:spPr>
          <a:xfrm>
            <a:off x="914400" y="4087368"/>
            <a:ext cx="658368" cy="658368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6" name="Image 2" descr="/home/claude/steeltec/icons/plug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5576" y="4258544"/>
            <a:ext cx="316017" cy="31601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783080" y="405079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Konnektör</a:t>
            </a:r>
            <a:endParaRPr lang="en-US" sz="1650" dirty="0"/>
          </a:p>
        </p:txBody>
      </p:sp>
      <p:sp>
        <p:nvSpPr>
          <p:cNvPr id="18" name="Text 13"/>
          <p:cNvSpPr txBox="1"/>
          <p:nvPr/>
        </p:nvSpPr>
        <p:spPr>
          <a:xfrm>
            <a:off x="1783080" y="4544568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1.400+ hazır bağlantı: SharePoint, SAP, Salesforce, SQL…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355080" y="3794760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0" name="Shape 15"/>
          <p:cNvSpPr/>
          <p:nvPr/>
        </p:nvSpPr>
        <p:spPr>
          <a:xfrm>
            <a:off x="6629400" y="4087368"/>
            <a:ext cx="658368" cy="658368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1" name="Image 3" descr="/home/claude/steeltec/icons/cod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00576" y="4258544"/>
            <a:ext cx="316017" cy="31601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498080" y="405079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 API / MCP</a:t>
            </a:r>
            <a:endParaRPr lang="en-US" sz="1650" dirty="0"/>
          </a:p>
        </p:txBody>
      </p:sp>
      <p:sp>
        <p:nvSpPr>
          <p:cNvPr id="23" name="Text 17"/>
          <p:cNvSpPr txBox="1"/>
          <p:nvPr/>
        </p:nvSpPr>
        <p:spPr>
          <a:xfrm>
            <a:off x="7498080" y="4544568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Kurumsal API'lere ve MCP sunucularına bağlanma.</a:t>
            </a:r>
            <a:endParaRPr lang="en-US" sz="1250" dirty="0"/>
          </a:p>
        </p:txBody>
      </p:sp>
      <p:sp>
        <p:nvSpPr>
          <p:cNvPr id="24" name="Text 18"/>
          <p:cNvSpPr txBox="1"/>
          <p:nvPr/>
        </p:nvSpPr>
        <p:spPr>
          <a:xfrm>
            <a:off x="640080" y="57607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D24E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'bilir', Actions 'yapar'. İkisi birleşince agent gerçek işleri tamamlar.</a:t>
            </a:r>
            <a:endParaRPr lang="en-US" sz="1250" dirty="0"/>
          </a:p>
        </p:txBody>
      </p:sp>
      <p:sp>
        <p:nvSpPr>
          <p:cNvPr id="25" name="Text 19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Microsoft 365 Copilot &amp; Copilot Studio</a:t>
            </a:r>
            <a:endParaRPr lang="en-US" sz="900" dirty="0"/>
          </a:p>
        </p:txBody>
      </p:sp>
      <p:sp>
        <p:nvSpPr>
          <p:cNvPr id="26" name="Text 20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868680" cy="86868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 txBox="1"/>
          <p:nvPr/>
        </p:nvSpPr>
        <p:spPr>
          <a:xfrm>
            <a:off x="640080" y="4572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1691640" y="457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7 · UYGULAMA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691640" y="7315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Aksiyon Örneği — 'İzin Talebi Oluştur'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744200" y="457200"/>
            <a:ext cx="868680" cy="868680"/>
          </a:xfrm>
          <a:prstGeom prst="ellipse">
            <a:avLst/>
          </a:prstGeom>
          <a:solidFill>
            <a:srgbClr val="1E2430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7" name="Image 0" descr="/home/claude/steeltec/icons/lightning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0057" y="683057"/>
            <a:ext cx="416966" cy="41696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1554480"/>
            <a:ext cx="10881360" cy="457200"/>
          </a:xfrm>
          <a:prstGeom prst="roundRect">
            <a:avLst>
              <a:gd name="adj" fmla="val 50000"/>
            </a:avLst>
          </a:prstGeom>
          <a:solidFill>
            <a:srgbClr val="1E2430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9" name="Image 1" descr="/home/claude/steeltec/icons/rout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1664208"/>
            <a:ext cx="237744" cy="23774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88720" y="155448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Nerede:  </a:t>
            </a:r>
            <a:r>
              <a:rPr lang="en-US" sz="12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Tools/Actions → Add → Power Automate flow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40080" y="2212848"/>
            <a:ext cx="6766560" cy="3246120"/>
          </a:xfrm>
          <a:prstGeom prst="roundRect">
            <a:avLst>
              <a:gd name="adj" fmla="val 1690"/>
            </a:avLst>
          </a:prstGeom>
          <a:solidFill>
            <a:srgbClr val="1B233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2" name="Shape 8"/>
          <p:cNvSpPr/>
          <p:nvPr/>
        </p:nvSpPr>
        <p:spPr>
          <a:xfrm>
            <a:off x="640080" y="2212848"/>
            <a:ext cx="6766560" cy="310896"/>
          </a:xfrm>
          <a:prstGeom prst="roundRect">
            <a:avLst>
              <a:gd name="adj" fmla="val 17647"/>
            </a:avLst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3" name="Shape 9"/>
          <p:cNvSpPr/>
          <p:nvPr/>
        </p:nvSpPr>
        <p:spPr>
          <a:xfrm>
            <a:off x="640080" y="2368296"/>
            <a:ext cx="6766560" cy="155448"/>
          </a:xfrm>
          <a:prstGeom prst="rect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Text 10"/>
          <p:cNvSpPr txBox="1"/>
          <p:nvPr/>
        </p:nvSpPr>
        <p:spPr>
          <a:xfrm>
            <a:off x="768096" y="2231136"/>
            <a:ext cx="6510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AKIŞ MANTIĞI (agent bir aracı çağırır)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804672" y="2615184"/>
            <a:ext cx="6437376" cy="2734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Kullanıcı: '3 gün yıllık izin talep etmek istiyorum.'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→ 'İzin Talebi' akışını çağırır: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• Girdi: çalışan, başlangıç, gün sayısı, tür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• İşlem: SharePoint/Dataverse'e kayıt ekle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• İşlem: yöneticiye onay bildirimi gönder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• Çıktı: talep no + durum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Agent: 'Talebiniz #1287 oluşturuldu, onaya gönderildi.'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7635240" y="2212848"/>
            <a:ext cx="388620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7" name="Text 13"/>
          <p:cNvSpPr txBox="1"/>
          <p:nvPr/>
        </p:nvSpPr>
        <p:spPr>
          <a:xfrm>
            <a:off x="7863840" y="23957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YAPIYORUZ / NEDEN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7863840" y="2761488"/>
            <a:ext cx="34747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artık sadece yanıtlamıyor, iş yapıyor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Akışın girdi/çıktısını agent'a net tanımlayın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Aksiyonu tetikleyecek ifadeleri belirtin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 etkili aksiyonlarda kullanıcı onayı isteyin</a:t>
            </a:r>
            <a:endParaRPr lang="en-US" sz="1250" dirty="0"/>
          </a:p>
        </p:txBody>
      </p:sp>
      <p:sp>
        <p:nvSpPr>
          <p:cNvPr id="19" name="Text 15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Microsoft 365 Copilot &amp; Copilot Studio</a:t>
            </a:r>
            <a:endParaRPr lang="en-US" sz="900" dirty="0"/>
          </a:p>
        </p:txBody>
      </p:sp>
      <p:sp>
        <p:nvSpPr>
          <p:cNvPr id="20" name="Text 16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7 · KONNEKTÖRLER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IW SteelTec İçin Aksiyon Fikirleri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896112" y="1901952"/>
            <a:ext cx="603504" cy="603504"/>
          </a:xfrm>
          <a:prstGeom prst="ellipse">
            <a:avLst/>
          </a:prstGeom>
          <a:solidFill>
            <a:srgbClr val="37425A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6" name="Image 0" descr="/home/claude/steeltec/icons/outloo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023" y="2058863"/>
            <a:ext cx="289682" cy="28968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1920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E-posta gönder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896112" y="2615184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Teklif/yanıt taslağını Outlook ile ilet.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416552" y="1627632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Shape 7"/>
          <p:cNvSpPr/>
          <p:nvPr/>
        </p:nvSpPr>
        <p:spPr>
          <a:xfrm>
            <a:off x="4672584" y="1901952"/>
            <a:ext cx="603504" cy="603504"/>
          </a:xfrm>
          <a:prstGeom prst="ellipse">
            <a:avLst/>
          </a:prstGeom>
          <a:solidFill>
            <a:srgbClr val="37425A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1" name="Image 1" descr="/home/claude/steeltec/icons/excel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9495" y="2058863"/>
            <a:ext cx="289682" cy="28968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76672" y="1920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ERP / Stok sorgula</a:t>
            </a:r>
            <a:endParaRPr lang="en-US" sz="1550" dirty="0"/>
          </a:p>
        </p:txBody>
      </p:sp>
      <p:sp>
        <p:nvSpPr>
          <p:cNvPr id="13" name="Text 9"/>
          <p:cNvSpPr txBox="1"/>
          <p:nvPr/>
        </p:nvSpPr>
        <p:spPr>
          <a:xfrm>
            <a:off x="4672584" y="2615184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Ürün stok ve teslim süresini sistemden çek.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93024" y="1627632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5" name="Shape 11"/>
          <p:cNvSpPr/>
          <p:nvPr/>
        </p:nvSpPr>
        <p:spPr>
          <a:xfrm>
            <a:off x="8449056" y="1901952"/>
            <a:ext cx="603504" cy="603504"/>
          </a:xfrm>
          <a:prstGeom prst="ellipse">
            <a:avLst/>
          </a:prstGeom>
          <a:solidFill>
            <a:srgbClr val="37425A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6" name="Image 2" descr="/home/claude/steeltec/icons/calendar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5967" y="2058863"/>
            <a:ext cx="289682" cy="28968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153144" y="1920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Randevu / vardiya</a:t>
            </a:r>
            <a:endParaRPr lang="en-US" sz="1550" dirty="0"/>
          </a:p>
        </p:txBody>
      </p:sp>
      <p:sp>
        <p:nvSpPr>
          <p:cNvPr id="18" name="Text 13"/>
          <p:cNvSpPr txBox="1"/>
          <p:nvPr/>
        </p:nvSpPr>
        <p:spPr>
          <a:xfrm>
            <a:off x="8449056" y="2615184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Takvime bakım veya toplantı planla.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" y="3803904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0" name="Shape 15"/>
          <p:cNvSpPr/>
          <p:nvPr/>
        </p:nvSpPr>
        <p:spPr>
          <a:xfrm>
            <a:off x="896112" y="4078224"/>
            <a:ext cx="603504" cy="603504"/>
          </a:xfrm>
          <a:prstGeom prst="ellipse">
            <a:avLst/>
          </a:prstGeom>
          <a:solidFill>
            <a:srgbClr val="37425A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1" name="Image 3" descr="/home/claude/steeltec/icons/lis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3023" y="4235135"/>
            <a:ext cx="289682" cy="28968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600200" y="409651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Talep/ticket aç</a:t>
            </a:r>
            <a:endParaRPr lang="en-US" sz="1550" dirty="0"/>
          </a:p>
        </p:txBody>
      </p:sp>
      <p:sp>
        <p:nvSpPr>
          <p:cNvPr id="23" name="Text 17"/>
          <p:cNvSpPr txBox="1"/>
          <p:nvPr/>
        </p:nvSpPr>
        <p:spPr>
          <a:xfrm>
            <a:off x="896112" y="4791456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İK, IT veya bakım talebi kaydı oluştur.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416552" y="3803904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5" name="Shape 19"/>
          <p:cNvSpPr/>
          <p:nvPr/>
        </p:nvSpPr>
        <p:spPr>
          <a:xfrm>
            <a:off x="4672584" y="4078224"/>
            <a:ext cx="603504" cy="603504"/>
          </a:xfrm>
          <a:prstGeom prst="ellipse">
            <a:avLst/>
          </a:prstGeom>
          <a:solidFill>
            <a:srgbClr val="37425A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6" name="Image 4" descr="/home/claude/steeltec/icons/databas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9495" y="4235135"/>
            <a:ext cx="289682" cy="28968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376672" y="409651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Kayıt güncelle</a:t>
            </a:r>
            <a:endParaRPr lang="en-US" sz="1550" dirty="0"/>
          </a:p>
        </p:txBody>
      </p:sp>
      <p:sp>
        <p:nvSpPr>
          <p:cNvPr id="28" name="Text 21"/>
          <p:cNvSpPr txBox="1"/>
          <p:nvPr/>
        </p:nvSpPr>
        <p:spPr>
          <a:xfrm>
            <a:off x="4672584" y="4791456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Dataverse/CRM'de müşteri kaydını güncelle.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193024" y="3803904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0" name="Shape 23"/>
          <p:cNvSpPr/>
          <p:nvPr/>
        </p:nvSpPr>
        <p:spPr>
          <a:xfrm>
            <a:off x="8449056" y="4078224"/>
            <a:ext cx="603504" cy="603504"/>
          </a:xfrm>
          <a:prstGeom prst="ellipse">
            <a:avLst/>
          </a:prstGeom>
          <a:solidFill>
            <a:srgbClr val="37425A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31" name="Image 5" descr="/home/claude/steeltec/icons/bell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05967" y="4235135"/>
            <a:ext cx="289682" cy="289682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153144" y="409651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Bildirim gönder</a:t>
            </a:r>
            <a:endParaRPr lang="en-US" sz="1550" dirty="0"/>
          </a:p>
        </p:txBody>
      </p:sp>
      <p:sp>
        <p:nvSpPr>
          <p:cNvPr id="33" name="Text 25"/>
          <p:cNvSpPr txBox="1"/>
          <p:nvPr/>
        </p:nvSpPr>
        <p:spPr>
          <a:xfrm>
            <a:off x="8449056" y="4791456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Eşik aşımında Teams'e uyarı at.</a:t>
            </a:r>
            <a:endParaRPr lang="en-US" sz="1150" dirty="0"/>
          </a:p>
        </p:txBody>
      </p:sp>
      <p:sp>
        <p:nvSpPr>
          <p:cNvPr id="34" name="Text 26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Microsoft 365 Copilot &amp; Copilot Studio</a:t>
            </a:r>
            <a:endParaRPr lang="en-US" sz="900" dirty="0"/>
          </a:p>
        </p:txBody>
      </p:sp>
      <p:sp>
        <p:nvSpPr>
          <p:cNvPr id="35" name="Text 27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E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955280" y="182880"/>
            <a:ext cx="4023360" cy="6492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0" b="1" dirty="0">
                <a:solidFill>
                  <a:srgbClr val="2730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0000" dirty="0"/>
          </a:p>
        </p:txBody>
      </p:sp>
      <p:sp>
        <p:nvSpPr>
          <p:cNvPr id="3" name="Shape 1"/>
          <p:cNvSpPr/>
          <p:nvPr/>
        </p:nvSpPr>
        <p:spPr>
          <a:xfrm>
            <a:off x="822960" y="2103120"/>
            <a:ext cx="1051560" cy="105156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4" name="Image 0" descr="/home/claude/steeltec/icons/bol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366" y="2376526"/>
            <a:ext cx="504749" cy="50474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68680" y="3383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4 · MODÜL 8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3703320"/>
            <a:ext cx="7498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Otonom Agent'lar ve</a:t>
            </a:r>
            <a:endParaRPr lang="en-US" sz="40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Tetikleyiciler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Copilot Studio Agent Eğitimi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8 · OTONOM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Tetikleyici Nedir? — Agent Kendi Uyanır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Otonom agent, bir kullanıcının sormasını beklemez; bir olay onu tetikler ve çok adımlı işi kendi yürütür.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3492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914400" y="2240280"/>
            <a:ext cx="621792" cy="621792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7" name="Image 0" descr="/home/claude/steeltec/icons/outloo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066" y="2401946"/>
            <a:ext cx="298460" cy="2984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737360" y="2203704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Olay: E-posta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737360" y="2679192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Belirli bir e-posta gelince (ör. yeni sipariş).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355080" y="1965960"/>
            <a:ext cx="53492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1" name="Shape 8"/>
          <p:cNvSpPr/>
          <p:nvPr/>
        </p:nvSpPr>
        <p:spPr>
          <a:xfrm>
            <a:off x="6629400" y="2240280"/>
            <a:ext cx="621792" cy="621792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2" name="Image 1" descr="/home/claude/steeltec/icons/databas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1066" y="2401946"/>
            <a:ext cx="298460" cy="2984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452360" y="2203704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Olay: Kayıt değişti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7452360" y="2679192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Dataverse/SharePoint'te kayıt eklenince/güncellenince.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40080" y="3840480"/>
            <a:ext cx="53492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6" name="Shape 12"/>
          <p:cNvSpPr/>
          <p:nvPr/>
        </p:nvSpPr>
        <p:spPr>
          <a:xfrm>
            <a:off x="914400" y="4114800"/>
            <a:ext cx="621792" cy="621792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7" name="Image 2" descr="/home/claude/steeltec/icons/calendar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6066" y="4276466"/>
            <a:ext cx="298460" cy="2984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737360" y="4078224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Zaman: Planlı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1737360" y="4553712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sabah 08:00, her Pazartesi gibi zamanlanmış.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355080" y="3840480"/>
            <a:ext cx="53492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1" name="Shape 16"/>
          <p:cNvSpPr/>
          <p:nvPr/>
        </p:nvSpPr>
        <p:spPr>
          <a:xfrm>
            <a:off x="6629400" y="4114800"/>
            <a:ext cx="621792" cy="621792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2" name="Image 3" descr="/home/claude/steeltec/icons/bol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91066" y="4276466"/>
            <a:ext cx="298460" cy="29846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452360" y="4078224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Olay: Eşik/uyarı</a:t>
            </a:r>
            <a:endParaRPr lang="en-US" sz="1600" dirty="0"/>
          </a:p>
        </p:txBody>
      </p:sp>
      <p:sp>
        <p:nvSpPr>
          <p:cNvPr id="24" name="Text 18"/>
          <p:cNvSpPr txBox="1"/>
          <p:nvPr/>
        </p:nvSpPr>
        <p:spPr>
          <a:xfrm>
            <a:off x="7452360" y="4553712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Stok, fire veya gecikme eşiği aşılınca.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640080" y="5394960"/>
            <a:ext cx="10881360" cy="457200"/>
          </a:xfrm>
          <a:prstGeom prst="roundRect">
            <a:avLst>
              <a:gd name="adj" fmla="val 20000"/>
            </a:avLst>
          </a:prstGeom>
          <a:solidFill>
            <a:srgbClr val="FFE7D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6" name="Text 20"/>
          <p:cNvSpPr txBox="1"/>
          <p:nvPr/>
        </p:nvSpPr>
        <p:spPr>
          <a:xfrm>
            <a:off x="914400" y="53949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24E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Not: </a:t>
            </a:r>
            <a:r>
              <a:rPr lang="en-US" sz="12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Otonom tetikleyiciler ve aksiyonlar daha çok kredi harcar — Bölüm sonunda maliyeti konuşacağız.</a:t>
            </a:r>
            <a:endParaRPr lang="en-US" sz="1250" dirty="0"/>
          </a:p>
        </p:txBody>
      </p:sp>
      <p:sp>
        <p:nvSpPr>
          <p:cNvPr id="27" name="Text 21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Microsoft 365 Copilot &amp; Copilot Studio</a:t>
            </a:r>
            <a:endParaRPr lang="en-US" sz="900" dirty="0"/>
          </a:p>
        </p:txBody>
      </p:sp>
      <p:sp>
        <p:nvSpPr>
          <p:cNvPr id="28" name="Text 22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8 · SENARYO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Otonom Senaryo — Tedarikçi Gecikme Takibi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744200" y="438912"/>
            <a:ext cx="868680" cy="86868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5" name="Image 0" descr="/home/claude/steeltec/icons/bol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0057" y="664769"/>
            <a:ext cx="416966" cy="41696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645920"/>
            <a:ext cx="6766560" cy="3063240"/>
          </a:xfrm>
          <a:prstGeom prst="roundRect">
            <a:avLst>
              <a:gd name="adj" fmla="val 1791"/>
            </a:avLst>
          </a:prstGeom>
          <a:solidFill>
            <a:srgbClr val="1B233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Shape 4"/>
          <p:cNvSpPr/>
          <p:nvPr/>
        </p:nvSpPr>
        <p:spPr>
          <a:xfrm>
            <a:off x="640080" y="1645920"/>
            <a:ext cx="6766560" cy="310896"/>
          </a:xfrm>
          <a:prstGeom prst="roundRect">
            <a:avLst>
              <a:gd name="adj" fmla="val 17647"/>
            </a:avLst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" name="Shape 5"/>
          <p:cNvSpPr/>
          <p:nvPr/>
        </p:nvSpPr>
        <p:spPr>
          <a:xfrm>
            <a:off x="640080" y="1801368"/>
            <a:ext cx="6766560" cy="155448"/>
          </a:xfrm>
          <a:prstGeom prst="rect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Text 6"/>
          <p:cNvSpPr txBox="1"/>
          <p:nvPr/>
        </p:nvSpPr>
        <p:spPr>
          <a:xfrm>
            <a:off x="768096" y="1664208"/>
            <a:ext cx="6510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TALİMATI (otonom akış)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804672" y="2048256"/>
            <a:ext cx="6437376" cy="2551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TETİKLEYİCİ: Her sabah 08:00 (planlı).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GÖREV: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Açık satın alma siparişlerini kontrol et.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Teslim tarihi geçmiş/riskli olanları belirle.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Her biri için tedarikçiye hatırlatma taslağı hazırla.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Satın alma sorumlusuna Teams'ten özet gönder;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onay verilenleri e-posta olarak ilet.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635240" y="1645920"/>
            <a:ext cx="3886200" cy="3063240"/>
          </a:xfrm>
          <a:prstGeom prst="roundRect">
            <a:avLst>
              <a:gd name="adj" fmla="val 3582"/>
            </a:avLst>
          </a:prstGeom>
          <a:solidFill>
            <a:srgbClr val="1E2430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2" name="Text 9"/>
          <p:cNvSpPr txBox="1"/>
          <p:nvPr/>
        </p:nvSpPr>
        <p:spPr>
          <a:xfrm>
            <a:off x="7863840" y="18288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SENARYODA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863840" y="2212848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İnsan sormadan iş yürütülür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+ Actions + Trigger birlikte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Kritik adımda insan onayı (human-in-loop)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 izlenir ve raporlanır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40080" y="493776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FFE7D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5" name="Shape 12"/>
          <p:cNvSpPr/>
          <p:nvPr/>
        </p:nvSpPr>
        <p:spPr>
          <a:xfrm>
            <a:off x="914400" y="5138928"/>
            <a:ext cx="512064" cy="51206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6" name="Image 1" descr="/home/claude/steeltec/icons/bulb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537" y="5272065"/>
            <a:ext cx="245791" cy="245791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645920" y="4956048"/>
            <a:ext cx="96926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24E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İpucu: </a:t>
            </a:r>
            <a:r>
              <a:rPr lang="en-US" sz="13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Otonom agent'lara önce 'öner, insan onaylasın' modunda başlayın; güven arttıkça otomasyonu genişletin.</a:t>
            </a:r>
            <a:endParaRPr lang="en-US" sz="1350" dirty="0"/>
          </a:p>
        </p:txBody>
      </p:sp>
      <p:sp>
        <p:nvSpPr>
          <p:cNvPr id="18" name="Text 14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Microsoft 365 Copilot &amp; Copilot Studio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8 · ORKESTRASYON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Çok-Ajanlı Yapı (Multi-Agent)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Karmaşık süreçlerde tek agent yerine, bir orkestratör agent görevi uzman alt-agent'lara dağıtır.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480560" y="1920240"/>
            <a:ext cx="3200400" cy="868680"/>
          </a:xfrm>
          <a:prstGeom prst="roundRect">
            <a:avLst>
              <a:gd name="adj" fmla="val 12632"/>
            </a:avLst>
          </a:prstGeom>
          <a:solidFill>
            <a:srgbClr val="1E2430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4709160" y="2084832"/>
            <a:ext cx="548640" cy="54864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7" name="Image 0" descr="/home/claude/steeltec/icons/sitemap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1806" y="2227478"/>
            <a:ext cx="263347" cy="26334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349240" y="192024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Orkestratör Agent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960120" y="3840480"/>
            <a:ext cx="3200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Shape 7"/>
          <p:cNvSpPr/>
          <p:nvPr/>
        </p:nvSpPr>
        <p:spPr>
          <a:xfrm>
            <a:off x="1188720" y="4023360"/>
            <a:ext cx="548640" cy="548640"/>
          </a:xfrm>
          <a:prstGeom prst="ellipse">
            <a:avLst/>
          </a:prstGeom>
          <a:solidFill>
            <a:srgbClr val="37425A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1" name="Image 1" descr="/home/claude/steeltec/icons/use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1366" y="416600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828800" y="38404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İK Asistanı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6080760" y="2788920"/>
            <a:ext cx="0" cy="1051560"/>
          </a:xfrm>
          <a:prstGeom prst="line">
            <a:avLst/>
          </a:prstGeom>
          <a:noFill/>
          <a:ln w="19050">
            <a:solidFill>
              <a:srgbClr val="FF6A13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4" name="Shape 10"/>
          <p:cNvSpPr/>
          <p:nvPr/>
        </p:nvSpPr>
        <p:spPr>
          <a:xfrm>
            <a:off x="4709160" y="3840480"/>
            <a:ext cx="3200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5" name="Shape 11"/>
          <p:cNvSpPr/>
          <p:nvPr/>
        </p:nvSpPr>
        <p:spPr>
          <a:xfrm>
            <a:off x="4937760" y="4023360"/>
            <a:ext cx="548640" cy="548640"/>
          </a:xfrm>
          <a:prstGeom prst="ellipse">
            <a:avLst/>
          </a:prstGeom>
          <a:solidFill>
            <a:srgbClr val="37425A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6" name="Image 2" descr="/home/claude/steeltec/icons/char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0406" y="4166006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577840" y="38404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Satış Asistanı</a:t>
            </a:r>
            <a:endParaRPr lang="en-US" sz="1450" dirty="0"/>
          </a:p>
        </p:txBody>
      </p:sp>
      <p:sp>
        <p:nvSpPr>
          <p:cNvPr id="18" name="Shape 13"/>
          <p:cNvSpPr/>
          <p:nvPr/>
        </p:nvSpPr>
        <p:spPr>
          <a:xfrm>
            <a:off x="6080760" y="2788920"/>
            <a:ext cx="228600" cy="1051560"/>
          </a:xfrm>
          <a:prstGeom prst="line">
            <a:avLst/>
          </a:prstGeom>
          <a:noFill/>
          <a:ln w="19050">
            <a:solidFill>
              <a:srgbClr val="FF6A13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9" name="Shape 14"/>
          <p:cNvSpPr/>
          <p:nvPr/>
        </p:nvSpPr>
        <p:spPr>
          <a:xfrm>
            <a:off x="8458200" y="3840480"/>
            <a:ext cx="3200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0" name="Shape 15"/>
          <p:cNvSpPr/>
          <p:nvPr/>
        </p:nvSpPr>
        <p:spPr>
          <a:xfrm>
            <a:off x="8686800" y="4023360"/>
            <a:ext cx="548640" cy="548640"/>
          </a:xfrm>
          <a:prstGeom prst="ellipse">
            <a:avLst/>
          </a:prstGeom>
          <a:solidFill>
            <a:srgbClr val="37425A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1" name="Image 3" descr="/home/claude/steeltec/icons/shield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29446" y="4166006"/>
            <a:ext cx="263347" cy="26334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326880" y="38404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Kalite Asistanı</a:t>
            </a:r>
            <a:endParaRPr lang="en-US" sz="1450" dirty="0"/>
          </a:p>
        </p:txBody>
      </p:sp>
      <p:sp>
        <p:nvSpPr>
          <p:cNvPr id="23" name="Shape 17"/>
          <p:cNvSpPr/>
          <p:nvPr/>
        </p:nvSpPr>
        <p:spPr>
          <a:xfrm>
            <a:off x="6080760" y="2788920"/>
            <a:ext cx="3977640" cy="1051560"/>
          </a:xfrm>
          <a:prstGeom prst="line">
            <a:avLst/>
          </a:prstGeom>
          <a:noFill/>
          <a:ln w="19050">
            <a:solidFill>
              <a:srgbClr val="FF6A13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24" name="Shape 18"/>
          <p:cNvSpPr/>
          <p:nvPr/>
        </p:nvSpPr>
        <p:spPr>
          <a:xfrm>
            <a:off x="640080" y="5166360"/>
            <a:ext cx="10881360" cy="640080"/>
          </a:xfrm>
          <a:prstGeom prst="roundRect">
            <a:avLst>
              <a:gd name="adj" fmla="val 14286"/>
            </a:avLst>
          </a:prstGeom>
          <a:solidFill>
            <a:srgbClr val="FFE7D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5" name="Text 19"/>
          <p:cNvSpPr txBox="1"/>
          <p:nvPr/>
        </p:nvSpPr>
        <p:spPr>
          <a:xfrm>
            <a:off x="914400" y="516636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24E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Fikir: </a:t>
            </a:r>
            <a:r>
              <a:rPr lang="en-US" sz="12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 orkestratöre sorar; o, soruyu doğru uzman agent'a yönlendirir. Microsoft ve iş ortağı agent'ları da birbirine bağlanabilir.</a:t>
            </a:r>
            <a:endParaRPr lang="en-US" sz="1250" dirty="0"/>
          </a:p>
        </p:txBody>
      </p:sp>
      <p:sp>
        <p:nvSpPr>
          <p:cNvPr id="26" name="Text 20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Microsoft 365 Copilot &amp; Copilot Studio</a:t>
            </a:r>
            <a:endParaRPr lang="en-US" sz="900" dirty="0"/>
          </a:p>
        </p:txBody>
      </p:sp>
      <p:sp>
        <p:nvSpPr>
          <p:cNvPr id="27" name="Text 21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E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955280" y="182880"/>
            <a:ext cx="4023360" cy="6492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0" b="1" dirty="0">
                <a:solidFill>
                  <a:srgbClr val="2730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30000" dirty="0"/>
          </a:p>
        </p:txBody>
      </p:sp>
      <p:sp>
        <p:nvSpPr>
          <p:cNvPr id="3" name="Shape 1"/>
          <p:cNvSpPr/>
          <p:nvPr/>
        </p:nvSpPr>
        <p:spPr>
          <a:xfrm>
            <a:off x="822960" y="2103120"/>
            <a:ext cx="1051560" cy="105156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4" name="Image 0" descr="/home/claude/steeltec/icons/rocke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366" y="2376526"/>
            <a:ext cx="504749" cy="50474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68680" y="3383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4 · MODÜL 9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3703320"/>
            <a:ext cx="7498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Yayınlama, Kanallar</a:t>
            </a:r>
            <a:endParaRPr lang="en-US" sz="40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 Yaşam Döngüsü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Copilot Studio Agent Eğitimi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9 · KANALLAR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Agent'ı Nerede Yayınlarız?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896112" y="1901952"/>
            <a:ext cx="603504" cy="60350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6" name="Image 0" descr="/home/claude/steeltec/icons/team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023" y="2058863"/>
            <a:ext cx="289682" cy="28968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1920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Microsoft Teams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96112" y="2615184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Çalışanların en çok kullandığı kanal.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416552" y="1627632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Shape 7"/>
          <p:cNvSpPr/>
          <p:nvPr/>
        </p:nvSpPr>
        <p:spPr>
          <a:xfrm>
            <a:off x="4672584" y="1901952"/>
            <a:ext cx="603504" cy="60350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1" name="Image 1" descr="/home/claude/steeltec/icons/microsof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9495" y="2058863"/>
            <a:ext cx="289682" cy="28968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76672" y="1920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M365 Copilot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4672584" y="2615184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içinde agent olarak görünür.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93024" y="1627632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5" name="Shape 11"/>
          <p:cNvSpPr/>
          <p:nvPr/>
        </p:nvSpPr>
        <p:spPr>
          <a:xfrm>
            <a:off x="8449056" y="1901952"/>
            <a:ext cx="603504" cy="60350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6" name="Image 2" descr="/home/claude/steeltec/icons/sharepoin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5967" y="2058863"/>
            <a:ext cx="289682" cy="28968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153144" y="1920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SharePoint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8449056" y="2615184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İntranet sayfalarına gömülü.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" y="3803904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0" name="Shape 15"/>
          <p:cNvSpPr/>
          <p:nvPr/>
        </p:nvSpPr>
        <p:spPr>
          <a:xfrm>
            <a:off x="896112" y="4078224"/>
            <a:ext cx="603504" cy="60350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1" name="Image 3" descr="/home/claude/steeltec/icons/glob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3023" y="4235135"/>
            <a:ext cx="289682" cy="28968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600200" y="409651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sitesi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896112" y="4791456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sitesi veya Direct Line ile kurumsal site.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416552" y="3803904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5" name="Shape 19"/>
          <p:cNvSpPr/>
          <p:nvPr/>
        </p:nvSpPr>
        <p:spPr>
          <a:xfrm>
            <a:off x="4672584" y="4078224"/>
            <a:ext cx="603504" cy="60350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6" name="Image 4" descr="/home/claude/steeltec/icons/comments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9495" y="4235135"/>
            <a:ext cx="289682" cy="28968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376672" y="409651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 / Messaging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4672584" y="4791456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Uygun kanallarda sohbet arayüzü.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193024" y="3803904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0" name="Shape 23"/>
          <p:cNvSpPr/>
          <p:nvPr/>
        </p:nvSpPr>
        <p:spPr>
          <a:xfrm>
            <a:off x="8449056" y="4078224"/>
            <a:ext cx="603504" cy="60350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31" name="Image 5" descr="/home/claude/steeltec/icons/store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05967" y="4235135"/>
            <a:ext cx="289682" cy="289682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153144" y="409651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Store</a:t>
            </a:r>
            <a:endParaRPr lang="en-US" sz="1500" dirty="0"/>
          </a:p>
        </p:txBody>
      </p:sp>
      <p:sp>
        <p:nvSpPr>
          <p:cNvPr id="33" name="Text 25"/>
          <p:cNvSpPr txBox="1"/>
          <p:nvPr/>
        </p:nvSpPr>
        <p:spPr>
          <a:xfrm>
            <a:off x="8449056" y="4791456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Kurum içi keşfedilebilir, yönetilen katalog.</a:t>
            </a:r>
            <a:endParaRPr lang="en-US" sz="1150" dirty="0"/>
          </a:p>
        </p:txBody>
      </p:sp>
      <p:sp>
        <p:nvSpPr>
          <p:cNvPr id="34" name="Text 26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Microsoft 365 Copilot &amp; Copilot Studio</a:t>
            </a:r>
            <a:endParaRPr lang="en-US" sz="900" dirty="0"/>
          </a:p>
        </p:txBody>
      </p:sp>
      <p:sp>
        <p:nvSpPr>
          <p:cNvPr id="35" name="Text 27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9 · YAŞAM DÖNGÜSÜ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Ortamlar ve Sürüm Yönetimi (ALM)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2044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1988820" y="2057400"/>
            <a:ext cx="822960" cy="822960"/>
          </a:xfrm>
          <a:prstGeom prst="ellipse">
            <a:avLst/>
          </a:prstGeom>
          <a:solidFill>
            <a:srgbClr val="37425A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6" name="Image 0" descr="/home/claude/steeltec/icons/cod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2790" y="2271370"/>
            <a:ext cx="395021" cy="39502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301752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 (Geliştirme)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447288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Agent'ı kurup denediğiniz alan.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142232" y="269748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7"/>
          <p:cNvSpPr/>
          <p:nvPr/>
        </p:nvSpPr>
        <p:spPr>
          <a:xfrm>
            <a:off x="4434840" y="1783080"/>
            <a:ext cx="352044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1" name="Shape 8"/>
          <p:cNvSpPr/>
          <p:nvPr/>
        </p:nvSpPr>
        <p:spPr>
          <a:xfrm>
            <a:off x="5783580" y="2057400"/>
            <a:ext cx="822960" cy="822960"/>
          </a:xfrm>
          <a:prstGeom prst="ellipse">
            <a:avLst/>
          </a:prstGeom>
          <a:solidFill>
            <a:srgbClr val="37425A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2" name="Image 1" descr="/home/claude/steeltec/icons/play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7550" y="2271370"/>
            <a:ext cx="395021" cy="39502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572000" y="301752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4663440" y="3447288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Ekiple doğrulama, UAT.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7936992" y="269748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2"/>
          <p:cNvSpPr/>
          <p:nvPr/>
        </p:nvSpPr>
        <p:spPr>
          <a:xfrm>
            <a:off x="8229600" y="1783080"/>
            <a:ext cx="3520440" cy="2377440"/>
          </a:xfrm>
          <a:prstGeom prst="roundRect">
            <a:avLst>
              <a:gd name="adj" fmla="val 4615"/>
            </a:avLst>
          </a:prstGeom>
          <a:solidFill>
            <a:srgbClr val="1E2430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7" name="Shape 13"/>
          <p:cNvSpPr/>
          <p:nvPr/>
        </p:nvSpPr>
        <p:spPr>
          <a:xfrm>
            <a:off x="9578340" y="2057400"/>
            <a:ext cx="822960" cy="82296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8" name="Image 2" descr="/home/claude/steeltec/icons/rocke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92310" y="2271370"/>
            <a:ext cx="395021" cy="395021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366760" y="301752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 (Canlı)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8458200" y="3447288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F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Çalışanların kullandığı sürüm.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40080" y="457200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FFE7D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2" name="Shape 17"/>
          <p:cNvSpPr/>
          <p:nvPr/>
        </p:nvSpPr>
        <p:spPr>
          <a:xfrm>
            <a:off x="960120" y="4892040"/>
            <a:ext cx="585216" cy="585216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3" name="Image 3" descr="/home/claude/steeltec/icons/bulb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2276" y="5044196"/>
            <a:ext cx="280904" cy="28090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783080" y="4617720"/>
            <a:ext cx="9601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24E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İyi uygulama: </a:t>
            </a:r>
            <a:r>
              <a:rPr lang="en-US" sz="13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Agent'ları en baştan 'Solutions' içinde geliştirin; böylece Dev → Test → Prod taşımaları, sürümleme ve geri alma kolaylaşır. Doğrudan canlıda geliştirmeyin.</a:t>
            </a:r>
            <a:endParaRPr lang="en-US" sz="1350" dirty="0"/>
          </a:p>
        </p:txBody>
      </p:sp>
      <p:sp>
        <p:nvSpPr>
          <p:cNvPr id="25" name="Text 19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Microsoft 365 Copilot &amp; Copilot Studio</a:t>
            </a:r>
            <a:endParaRPr lang="en-US" sz="900" dirty="0"/>
          </a:p>
        </p:txBody>
      </p:sp>
      <p:sp>
        <p:nvSpPr>
          <p:cNvPr id="26" name="Text 20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E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955280" y="182880"/>
            <a:ext cx="4023360" cy="6492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0" b="1" dirty="0">
                <a:solidFill>
                  <a:srgbClr val="2730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0000" dirty="0"/>
          </a:p>
        </p:txBody>
      </p:sp>
      <p:sp>
        <p:nvSpPr>
          <p:cNvPr id="3" name="Shape 1"/>
          <p:cNvSpPr/>
          <p:nvPr/>
        </p:nvSpPr>
        <p:spPr>
          <a:xfrm>
            <a:off x="822960" y="2103120"/>
            <a:ext cx="1051560" cy="105156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4" name="Image 0" descr="/home/claude/steeltec/icons/shiel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366" y="2376526"/>
            <a:ext cx="504749" cy="50474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68680" y="3383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4 · MODÜL 10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3703320"/>
            <a:ext cx="7498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Güvenlik, Yönetişim</a:t>
            </a:r>
            <a:endParaRPr lang="en-US" sz="40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 Maliyet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Copilot Studio Agent Eğitimi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10 · GÜVENLIK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Güvenlik ve Yönetişim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914400" y="1920240"/>
            <a:ext cx="658368" cy="658368"/>
          </a:xfrm>
          <a:prstGeom prst="ellipse">
            <a:avLst/>
          </a:prstGeom>
          <a:solidFill>
            <a:srgbClr val="37425A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6" name="Image 0" descr="/home/claude/steeltec/icons/lo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576" y="2091416"/>
            <a:ext cx="316017" cy="31601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83080" y="1883664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İzin &amp; kimlik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1783080" y="2359152"/>
            <a:ext cx="3977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Agent, kullanıcının erişebildiği veriyle sınırlıdır; Entra kimlik doğrulama.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55080" y="1627632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Shape 7"/>
          <p:cNvSpPr/>
          <p:nvPr/>
        </p:nvSpPr>
        <p:spPr>
          <a:xfrm>
            <a:off x="6629400" y="1920240"/>
            <a:ext cx="658368" cy="658368"/>
          </a:xfrm>
          <a:prstGeom prst="ellipse">
            <a:avLst/>
          </a:prstGeom>
          <a:solidFill>
            <a:srgbClr val="37425A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1" name="Image 1" descr="/home/claude/steeltec/icons/filte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0576" y="2091416"/>
            <a:ext cx="316017" cy="31601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498080" y="1883664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DLP politikaları</a:t>
            </a:r>
            <a:endParaRPr lang="en-US" sz="1650" dirty="0"/>
          </a:p>
        </p:txBody>
      </p:sp>
      <p:sp>
        <p:nvSpPr>
          <p:cNvPr id="13" name="Text 9"/>
          <p:cNvSpPr txBox="1"/>
          <p:nvPr/>
        </p:nvSpPr>
        <p:spPr>
          <a:xfrm>
            <a:off x="7498080" y="2359152"/>
            <a:ext cx="3977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Konnektör ve veri akışlarını kurumsal DLP kuralları sınırlar.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3822192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5" name="Shape 11"/>
          <p:cNvSpPr/>
          <p:nvPr/>
        </p:nvSpPr>
        <p:spPr>
          <a:xfrm>
            <a:off x="914400" y="4114800"/>
            <a:ext cx="658368" cy="658368"/>
          </a:xfrm>
          <a:prstGeom prst="ellipse">
            <a:avLst/>
          </a:prstGeom>
          <a:solidFill>
            <a:srgbClr val="37425A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6" name="Image 2" descr="/home/claude/steeltec/icons/shield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5576" y="4285976"/>
            <a:ext cx="316017" cy="31601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783080" y="4078224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injection</a:t>
            </a:r>
            <a:endParaRPr lang="en-US" sz="1650" dirty="0"/>
          </a:p>
        </p:txBody>
      </p:sp>
      <p:sp>
        <p:nvSpPr>
          <p:cNvPr id="18" name="Text 13"/>
          <p:cNvSpPr txBox="1"/>
          <p:nvPr/>
        </p:nvSpPr>
        <p:spPr>
          <a:xfrm>
            <a:off x="1783080" y="4553712"/>
            <a:ext cx="3977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Belgedeki gizli talimatlara uymaması için talimatla koruyun.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355080" y="3822192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0" name="Shape 15"/>
          <p:cNvSpPr/>
          <p:nvPr/>
        </p:nvSpPr>
        <p:spPr>
          <a:xfrm>
            <a:off x="6629400" y="4114800"/>
            <a:ext cx="658368" cy="658368"/>
          </a:xfrm>
          <a:prstGeom prst="ellipse">
            <a:avLst/>
          </a:prstGeom>
          <a:solidFill>
            <a:srgbClr val="37425A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1" name="Image 3" descr="/home/claude/steeltec/icons/users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00576" y="4285976"/>
            <a:ext cx="316017" cy="31601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498080" y="4078224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365 / yönetim</a:t>
            </a:r>
            <a:endParaRPr lang="en-US" sz="1650" dirty="0"/>
          </a:p>
        </p:txBody>
      </p:sp>
      <p:sp>
        <p:nvSpPr>
          <p:cNvPr id="23" name="Text 17"/>
          <p:cNvSpPr txBox="1"/>
          <p:nvPr/>
        </p:nvSpPr>
        <p:spPr>
          <a:xfrm>
            <a:off x="7498080" y="4553712"/>
            <a:ext cx="3977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Agent'ları merkezî keşif, sahiplik ve denetim ile yönetin.</a:t>
            </a:r>
            <a:endParaRPr lang="en-US" sz="1250" dirty="0"/>
          </a:p>
        </p:txBody>
      </p:sp>
      <p:sp>
        <p:nvSpPr>
          <p:cNvPr id="24" name="Text 18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Microsoft 365 Copilot &amp; Copilot Studio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10 · MALIYET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Maliyet Modeli — Copilot Kredileri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Studio kredi (eski adı 'mesaj') tüketimine dayanır. Etkileşim türüne göre farklı kredi harcanır.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6276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ETKİLEŞİM TÜRÜ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4114800" y="1627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YAKLAŞIK MALİYET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557784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 txBox="1"/>
          <p:nvPr/>
        </p:nvSpPr>
        <p:spPr>
          <a:xfrm>
            <a:off x="868680" y="192024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Klasik (kurallı) yanıt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0" y="2039112"/>
            <a:ext cx="1874520" cy="329184"/>
          </a:xfrm>
          <a:prstGeom prst="roundRect">
            <a:avLst>
              <a:gd name="adj" fmla="val 55556"/>
            </a:avLst>
          </a:prstGeom>
          <a:solidFill>
            <a:srgbClr val="FFE7D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 txBox="1"/>
          <p:nvPr/>
        </p:nvSpPr>
        <p:spPr>
          <a:xfrm>
            <a:off x="4114800" y="203911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D24E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kredi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2578608"/>
            <a:ext cx="557784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 txBox="1"/>
          <p:nvPr/>
        </p:nvSpPr>
        <p:spPr>
          <a:xfrm>
            <a:off x="868680" y="257860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Generatif yanıt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0" y="2697480"/>
            <a:ext cx="1874520" cy="329184"/>
          </a:xfrm>
          <a:prstGeom prst="roundRect">
            <a:avLst>
              <a:gd name="adj" fmla="val 55556"/>
            </a:avLst>
          </a:prstGeom>
          <a:solidFill>
            <a:srgbClr val="FFE7D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 txBox="1"/>
          <p:nvPr/>
        </p:nvSpPr>
        <p:spPr>
          <a:xfrm>
            <a:off x="4114800" y="269748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D24E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kredi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3236976"/>
            <a:ext cx="557784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 txBox="1"/>
          <p:nvPr/>
        </p:nvSpPr>
        <p:spPr>
          <a:xfrm>
            <a:off x="868680" y="3236976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aksiyonu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114800" y="3355848"/>
            <a:ext cx="1874520" cy="329184"/>
          </a:xfrm>
          <a:prstGeom prst="roundRect">
            <a:avLst>
              <a:gd name="adj" fmla="val 55556"/>
            </a:avLst>
          </a:prstGeom>
          <a:solidFill>
            <a:srgbClr val="FFE7D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 txBox="1"/>
          <p:nvPr/>
        </p:nvSpPr>
        <p:spPr>
          <a:xfrm>
            <a:off x="4114800" y="3355848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D24E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kredi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3895344"/>
            <a:ext cx="557784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 txBox="1"/>
          <p:nvPr/>
        </p:nvSpPr>
        <p:spPr>
          <a:xfrm>
            <a:off x="868680" y="3895344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Graph grounding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114800" y="4014216"/>
            <a:ext cx="1874520" cy="329184"/>
          </a:xfrm>
          <a:prstGeom prst="roundRect">
            <a:avLst>
              <a:gd name="adj" fmla="val 55556"/>
            </a:avLst>
          </a:prstGeom>
          <a:solidFill>
            <a:srgbClr val="FFE7D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 txBox="1"/>
          <p:nvPr/>
        </p:nvSpPr>
        <p:spPr>
          <a:xfrm>
            <a:off x="4114800" y="401421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D24E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kredi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46520" y="1920240"/>
            <a:ext cx="5074920" cy="2761488"/>
          </a:xfrm>
          <a:prstGeom prst="roundRect">
            <a:avLst>
              <a:gd name="adj" fmla="val 3974"/>
            </a:avLst>
          </a:prstGeom>
          <a:solidFill>
            <a:srgbClr val="1E2430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 txBox="1"/>
          <p:nvPr/>
        </p:nvSpPr>
        <p:spPr>
          <a:xfrm>
            <a:off x="6675120" y="2103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ÖDEME YOLLARI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675120" y="2450592"/>
            <a:ext cx="4617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M365 Copilot dahili kullanım
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F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Lisanslı kullanıcıların iç agent'ları ek kredi harcamaz.
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Kapasite paketi
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F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~$200/ay = 25.000 kredi (kredi başı ~$0,008).
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Kullandıkça öde (PAYG)
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F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üzerinden kredi başı ~$0,01, taahhütsüz.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49377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D24E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Rakamlar zamanla değişir; sizing öncesi Microsoft'un güncel fiyat ve 'Copilot Credit' tablosunu esas alın.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Microsoft 365 Copilot &amp; Copilot Studio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10 · MALIYET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Maliyeti Kontrol Etmenin Yolları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744200" y="438912"/>
            <a:ext cx="868680" cy="86868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5" name="Image 0" descr="/home/claude/steeltec/icons/dolla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0057" y="664769"/>
            <a:ext cx="416966" cy="41696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627632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Shape 4"/>
          <p:cNvSpPr/>
          <p:nvPr/>
        </p:nvSpPr>
        <p:spPr>
          <a:xfrm>
            <a:off x="914400" y="1920240"/>
            <a:ext cx="658368" cy="658368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8" name="Image 1" descr="/home/claude/steeltec/icons/targe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5576" y="2091416"/>
            <a:ext cx="316017" cy="31601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783080" y="1883664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 kapsam</a:t>
            </a:r>
            <a:endParaRPr lang="en-US" sz="1650" dirty="0"/>
          </a:p>
        </p:txBody>
      </p:sp>
      <p:sp>
        <p:nvSpPr>
          <p:cNvPr id="10" name="Text 6"/>
          <p:cNvSpPr txBox="1"/>
          <p:nvPr/>
        </p:nvSpPr>
        <p:spPr>
          <a:xfrm>
            <a:off x="1783080" y="2359152"/>
            <a:ext cx="3977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agent tek, net işi yapsın; gereksiz Graph grounding'i kapatın.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355080" y="1627632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2" name="Shape 8"/>
          <p:cNvSpPr/>
          <p:nvPr/>
        </p:nvSpPr>
        <p:spPr>
          <a:xfrm>
            <a:off x="6629400" y="1920240"/>
            <a:ext cx="658368" cy="658368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3" name="Image 2" descr="/home/claude/steeltec/icons/toggl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0576" y="2091416"/>
            <a:ext cx="316017" cy="316017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498080" y="1883664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Özellik disiplini</a:t>
            </a:r>
            <a:endParaRPr lang="en-US" sz="1650" dirty="0"/>
          </a:p>
        </p:txBody>
      </p:sp>
      <p:sp>
        <p:nvSpPr>
          <p:cNvPr id="15" name="Text 10"/>
          <p:cNvSpPr txBox="1"/>
          <p:nvPr/>
        </p:nvSpPr>
        <p:spPr>
          <a:xfrm>
            <a:off x="7498080" y="2359152"/>
            <a:ext cx="3977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'Kaliteyi artıralım' diye reasoning/grounding'i körlemesine açmayın.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" y="3822192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7" name="Shape 12"/>
          <p:cNvSpPr/>
          <p:nvPr/>
        </p:nvSpPr>
        <p:spPr>
          <a:xfrm>
            <a:off x="914400" y="4114800"/>
            <a:ext cx="658368" cy="658368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8" name="Image 3" descr="/home/claude/steeltec/icons/play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5576" y="4285976"/>
            <a:ext cx="316017" cy="316017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783080" y="4078224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Önce ölç</a:t>
            </a:r>
            <a:endParaRPr lang="en-US" sz="1650" dirty="0"/>
          </a:p>
        </p:txBody>
      </p:sp>
      <p:sp>
        <p:nvSpPr>
          <p:cNvPr id="20" name="Text 14"/>
          <p:cNvSpPr txBox="1"/>
          <p:nvPr/>
        </p:nvSpPr>
        <p:spPr>
          <a:xfrm>
            <a:off x="1783080" y="4553712"/>
            <a:ext cx="3977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Pilotta gerçek trafiği ölçün; demoya göre tahmin yanıltır.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6355080" y="3822192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2" name="Shape 16"/>
          <p:cNvSpPr/>
          <p:nvPr/>
        </p:nvSpPr>
        <p:spPr>
          <a:xfrm>
            <a:off x="6629400" y="4114800"/>
            <a:ext cx="658368" cy="658368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3" name="Image 4" descr="/home/claude/steeltec/icons/chart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00576" y="4285976"/>
            <a:ext cx="316017" cy="316017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7498080" y="4078224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İzle &amp; uyar</a:t>
            </a:r>
            <a:endParaRPr lang="en-US" sz="1650" dirty="0"/>
          </a:p>
        </p:txBody>
      </p:sp>
      <p:sp>
        <p:nvSpPr>
          <p:cNvPr id="25" name="Text 18"/>
          <p:cNvSpPr txBox="1"/>
          <p:nvPr/>
        </p:nvSpPr>
        <p:spPr>
          <a:xfrm>
            <a:off x="7498080" y="4553712"/>
            <a:ext cx="3977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ve eşik uyarılarıyla tüketimi sürekli takip edin.</a:t>
            </a:r>
            <a:endParaRPr lang="en-US" sz="1250" dirty="0"/>
          </a:p>
        </p:txBody>
      </p:sp>
      <p:sp>
        <p:nvSpPr>
          <p:cNvPr id="26" name="Text 19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Microsoft 365 Copilot &amp; Copilot Studio</a:t>
            </a:r>
            <a:endParaRPr lang="en-US" sz="900" dirty="0"/>
          </a:p>
        </p:txBody>
      </p:sp>
      <p:sp>
        <p:nvSpPr>
          <p:cNvPr id="27" name="Text 20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KAPANIŞ · FIKIRLER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IW SteelTec İçin Agent Fikirleri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896112" y="1901952"/>
            <a:ext cx="603504" cy="60350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6" name="Image 0" descr="/home/claude/steeltec/icons/use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023" y="2058863"/>
            <a:ext cx="289682" cy="28968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1920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İç Destek Asistanı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96112" y="2615184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İK, izin, İSG ve SSS — bugün kurduğumuz agent.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416552" y="1627632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Shape 7"/>
          <p:cNvSpPr/>
          <p:nvPr/>
        </p:nvSpPr>
        <p:spPr>
          <a:xfrm>
            <a:off x="4672584" y="1901952"/>
            <a:ext cx="603504" cy="60350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1" name="Image 1" descr="/home/claude/steeltec/icons/char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9495" y="2058863"/>
            <a:ext cx="289682" cy="28968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76672" y="1920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Satış Teklif Asistanı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4672584" y="2615184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Fiyat/katalogdan teklif taslağı, stok sorgu.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93024" y="1627632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5" name="Shape 11"/>
          <p:cNvSpPr/>
          <p:nvPr/>
        </p:nvSpPr>
        <p:spPr>
          <a:xfrm>
            <a:off x="8449056" y="1901952"/>
            <a:ext cx="603504" cy="60350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6" name="Image 2" descr="/home/claude/steeltec/icons/shield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5967" y="2058863"/>
            <a:ext cx="289682" cy="28968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153144" y="1920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İSG &amp; Kalite Asistanı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8449056" y="2615184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Prosedür yanıtları, denetim ve hata analizi.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" y="3803904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0" name="Shape 15"/>
          <p:cNvSpPr/>
          <p:nvPr/>
        </p:nvSpPr>
        <p:spPr>
          <a:xfrm>
            <a:off x="896112" y="4078224"/>
            <a:ext cx="603504" cy="60350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1" name="Image 3" descr="/home/claude/steeltec/icons/lis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3023" y="4235135"/>
            <a:ext cx="289682" cy="28968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600200" y="409651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Satın Alma Asistanı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896112" y="4791456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Tedarikçi karşılaştırma, RFQ, sözleşme özeti.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416552" y="3803904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5" name="Shape 19"/>
          <p:cNvSpPr/>
          <p:nvPr/>
        </p:nvSpPr>
        <p:spPr>
          <a:xfrm>
            <a:off x="4672584" y="4078224"/>
            <a:ext cx="603504" cy="60350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6" name="Image 4" descr="/home/claude/steeltec/icons/bolt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9495" y="4235135"/>
            <a:ext cx="289682" cy="28968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376672" y="409651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Üretim İzleme (otonom)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4672584" y="4791456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Fire/duruş eşiğinde uyarı ve rapor.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193024" y="3803904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0" name="Shape 23"/>
          <p:cNvSpPr/>
          <p:nvPr/>
        </p:nvSpPr>
        <p:spPr>
          <a:xfrm>
            <a:off x="8449056" y="4078224"/>
            <a:ext cx="603504" cy="60350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31" name="Image 5" descr="/home/claude/steeltec/icons/file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05967" y="4235135"/>
            <a:ext cx="289682" cy="289682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153144" y="409651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Doküman Asistanı</a:t>
            </a:r>
            <a:endParaRPr lang="en-US" sz="1500" dirty="0"/>
          </a:p>
        </p:txBody>
      </p:sp>
      <p:sp>
        <p:nvSpPr>
          <p:cNvPr id="33" name="Text 25"/>
          <p:cNvSpPr txBox="1"/>
          <p:nvPr/>
        </p:nvSpPr>
        <p:spPr>
          <a:xfrm>
            <a:off x="8449056" y="4791456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Toplantı notu, prosedür ve rapor üretimi.</a:t>
            </a:r>
            <a:endParaRPr lang="en-US" sz="1150" dirty="0"/>
          </a:p>
        </p:txBody>
      </p:sp>
      <p:sp>
        <p:nvSpPr>
          <p:cNvPr id="34" name="Text 26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Microsoft 365 Copilot &amp; Copilot Studio</a:t>
            </a:r>
            <a:endParaRPr lang="en-US" sz="900" dirty="0"/>
          </a:p>
        </p:txBody>
      </p:sp>
      <p:sp>
        <p:nvSpPr>
          <p:cNvPr id="35" name="Text 27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KAPANIŞ · ATÖLYE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Büyük Atölye — Kendi Agent'ınızı Kurun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744200" y="438912"/>
            <a:ext cx="868680" cy="86868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5" name="Image 0" descr="/home/claude/steeltec/icons/flag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0057" y="664769"/>
            <a:ext cx="416966" cy="41696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137160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Öğrendiğiniz 6 adımı kendi departmanınızın bir sorununa uygulayın. 30 dakikada çalışan bir taslak agent hedefleyin.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40080" y="2011680"/>
            <a:ext cx="5349240" cy="603504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8" name="Shape 5"/>
          <p:cNvSpPr/>
          <p:nvPr/>
        </p:nvSpPr>
        <p:spPr>
          <a:xfrm>
            <a:off x="804672" y="2130552"/>
            <a:ext cx="365760" cy="36576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9" name="Image 1" descr="/home/claude/steeltec/icons/targe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2221992"/>
            <a:ext cx="182880" cy="1828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98448" y="2011680"/>
            <a:ext cx="1965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Problemi seç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3291840" y="2011680"/>
            <a:ext cx="2606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Departmanınızda tekrar eden, net bir soru/görev.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40080" y="2706624"/>
            <a:ext cx="5349240" cy="603504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3" name="Shape 9"/>
          <p:cNvSpPr/>
          <p:nvPr/>
        </p:nvSpPr>
        <p:spPr>
          <a:xfrm>
            <a:off x="804672" y="2825496"/>
            <a:ext cx="365760" cy="36576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4" name="Image 2" descr="/home/claude/steeltec/icons/robo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" y="2916936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98448" y="2706624"/>
            <a:ext cx="1965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Oluştur &amp; talimatla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3291840" y="2706624"/>
            <a:ext cx="2606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Doğal dille tarif et, Instructions'ı netleştir.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640080" y="3401568"/>
            <a:ext cx="5349240" cy="603504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8" name="Shape 13"/>
          <p:cNvSpPr/>
          <p:nvPr/>
        </p:nvSpPr>
        <p:spPr>
          <a:xfrm>
            <a:off x="804672" y="3520440"/>
            <a:ext cx="365760" cy="36576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9" name="Image 3" descr="/home/claude/steeltec/icons/databas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112" y="3611880"/>
            <a:ext cx="182880" cy="18288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298448" y="3401568"/>
            <a:ext cx="1965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Knowledge bağla</a:t>
            </a:r>
            <a:endParaRPr lang="en-US" sz="1300" dirty="0"/>
          </a:p>
        </p:txBody>
      </p:sp>
      <p:sp>
        <p:nvSpPr>
          <p:cNvPr id="21" name="Text 15"/>
          <p:cNvSpPr txBox="1"/>
          <p:nvPr/>
        </p:nvSpPr>
        <p:spPr>
          <a:xfrm>
            <a:off x="3291840" y="3401568"/>
            <a:ext cx="2606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isabetli belge veya SharePoint sitesi.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6172200" y="2011680"/>
            <a:ext cx="5349240" cy="603504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3" name="Shape 17"/>
          <p:cNvSpPr/>
          <p:nvPr/>
        </p:nvSpPr>
        <p:spPr>
          <a:xfrm>
            <a:off x="6336792" y="2130552"/>
            <a:ext cx="365760" cy="36576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4" name="Image 4" descr="/home/claude/steeltec/icons/play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8232" y="2221992"/>
            <a:ext cx="182880" cy="18288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6830568" y="2011680"/>
            <a:ext cx="1965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Test et</a:t>
            </a:r>
            <a:endParaRPr lang="en-US" sz="1300" dirty="0"/>
          </a:p>
        </p:txBody>
      </p:sp>
      <p:sp>
        <p:nvSpPr>
          <p:cNvPr id="26" name="Text 19"/>
          <p:cNvSpPr txBox="1"/>
          <p:nvPr/>
        </p:nvSpPr>
        <p:spPr>
          <a:xfrm>
            <a:off x="8823960" y="2011680"/>
            <a:ext cx="2606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gerçek soru; zayıf yanıtları düzelt.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6172200" y="2706624"/>
            <a:ext cx="5349240" cy="603504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8" name="Shape 21"/>
          <p:cNvSpPr/>
          <p:nvPr/>
        </p:nvSpPr>
        <p:spPr>
          <a:xfrm>
            <a:off x="6336792" y="2825496"/>
            <a:ext cx="365760" cy="36576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9" name="Image 5" descr="/home/claude/steeltec/icons/wrench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28232" y="2916936"/>
            <a:ext cx="182880" cy="182880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6830568" y="2706624"/>
            <a:ext cx="1965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Bir aksiyon ekle</a:t>
            </a:r>
            <a:endParaRPr lang="en-US" sz="1300" dirty="0"/>
          </a:p>
        </p:txBody>
      </p:sp>
      <p:sp>
        <p:nvSpPr>
          <p:cNvPr id="31" name="Text 23"/>
          <p:cNvSpPr txBox="1"/>
          <p:nvPr/>
        </p:nvSpPr>
        <p:spPr>
          <a:xfrm>
            <a:off x="8823960" y="2706624"/>
            <a:ext cx="2606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Mümkünse bir akış/konnektör (opsiyonel).</a:t>
            </a:r>
            <a:endParaRPr lang="en-US" sz="1100" dirty="0"/>
          </a:p>
        </p:txBody>
      </p:sp>
      <p:sp>
        <p:nvSpPr>
          <p:cNvPr id="32" name="Shape 24"/>
          <p:cNvSpPr/>
          <p:nvPr/>
        </p:nvSpPr>
        <p:spPr>
          <a:xfrm>
            <a:off x="6172200" y="3401568"/>
            <a:ext cx="5349240" cy="603504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3" name="Shape 25"/>
          <p:cNvSpPr/>
          <p:nvPr/>
        </p:nvSpPr>
        <p:spPr>
          <a:xfrm>
            <a:off x="6336792" y="3520440"/>
            <a:ext cx="365760" cy="36576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34" name="Image 6" descr="/home/claude/steeltec/icons/rocket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28232" y="3611880"/>
            <a:ext cx="182880" cy="182880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6830568" y="3401568"/>
            <a:ext cx="1965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 Paylaş</a:t>
            </a:r>
            <a:endParaRPr lang="en-US" sz="1300" dirty="0"/>
          </a:p>
        </p:txBody>
      </p:sp>
      <p:sp>
        <p:nvSpPr>
          <p:cNvPr id="36" name="Text 27"/>
          <p:cNvSpPr txBox="1"/>
          <p:nvPr/>
        </p:nvSpPr>
        <p:spPr>
          <a:xfrm>
            <a:off x="8823960" y="3401568"/>
            <a:ext cx="2606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sitesi veya Teams'te ekiple paylaş.</a:t>
            </a:r>
            <a:endParaRPr lang="en-US" sz="1100" dirty="0"/>
          </a:p>
        </p:txBody>
      </p:sp>
      <p:sp>
        <p:nvSpPr>
          <p:cNvPr id="37" name="Text 28"/>
          <p:cNvSpPr txBox="1"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i="1" dirty="0">
                <a:solidFill>
                  <a:srgbClr val="D24E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adım: 2-3 ekip agent'ını herkese kısaca tanıtsın — en iyi öğrenme paylaşarak olur.</a:t>
            </a:r>
            <a:endParaRPr lang="en-US" sz="1250" dirty="0"/>
          </a:p>
        </p:txBody>
      </p:sp>
      <p:sp>
        <p:nvSpPr>
          <p:cNvPr id="38" name="Text 29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Microsoft 365 Copilot &amp; Copilot Studio</a:t>
            </a:r>
            <a:endParaRPr lang="en-US" sz="900" dirty="0"/>
          </a:p>
        </p:txBody>
      </p:sp>
      <p:sp>
        <p:nvSpPr>
          <p:cNvPr id="39" name="Text 30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1E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Başarılı Agent'ın 8 Altın Kuralı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2651760" cy="1965960"/>
          </a:xfrm>
          <a:prstGeom prst="roundRect">
            <a:avLst>
              <a:gd name="adj" fmla="val 4651"/>
            </a:avLst>
          </a:prstGeom>
          <a:solidFill>
            <a:srgbClr val="27304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1783080" y="1911096"/>
            <a:ext cx="731520" cy="73152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6" name="Image 0" descr="/home/claude/steeltec/icons/targe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3275" y="2101291"/>
            <a:ext cx="351130" cy="35113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14400" y="27157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Tek işe odaklan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987552" y="3063240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agent, bir net amaç. Kapsamı dar tut.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630168" y="1691640"/>
            <a:ext cx="2651760" cy="1965960"/>
          </a:xfrm>
          <a:prstGeom prst="roundRect">
            <a:avLst>
              <a:gd name="adj" fmla="val 4651"/>
            </a:avLst>
          </a:prstGeom>
          <a:solidFill>
            <a:srgbClr val="27304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Shape 7"/>
          <p:cNvSpPr/>
          <p:nvPr/>
        </p:nvSpPr>
        <p:spPr>
          <a:xfrm>
            <a:off x="4590288" y="1911096"/>
            <a:ext cx="731520" cy="73152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1" name="Image 1" descr="/home/claude/steeltec/icons/clipboar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0483" y="2101291"/>
            <a:ext cx="351130" cy="35113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721608" y="27157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 talimat yaz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3794760" y="3063240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yapar, ne yapmaz, nasıl konuşur — açıkça.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437376" y="1691640"/>
            <a:ext cx="2651760" cy="1965960"/>
          </a:xfrm>
          <a:prstGeom prst="roundRect">
            <a:avLst>
              <a:gd name="adj" fmla="val 4651"/>
            </a:avLst>
          </a:prstGeom>
          <a:solidFill>
            <a:srgbClr val="27304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5" name="Shape 11"/>
          <p:cNvSpPr/>
          <p:nvPr/>
        </p:nvSpPr>
        <p:spPr>
          <a:xfrm>
            <a:off x="7397496" y="1911096"/>
            <a:ext cx="731520" cy="73152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6" name="Image 2" descr="/home/claude/steeltec/icons/databas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7691" y="2101291"/>
            <a:ext cx="351130" cy="35113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528816" y="27157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İsabetli knowledge</a:t>
            </a:r>
            <a:endParaRPr lang="en-US" sz="1450" dirty="0"/>
          </a:p>
        </p:txBody>
      </p:sp>
      <p:sp>
        <p:nvSpPr>
          <p:cNvPr id="18" name="Text 13"/>
          <p:cNvSpPr txBox="1"/>
          <p:nvPr/>
        </p:nvSpPr>
        <p:spPr>
          <a:xfrm>
            <a:off x="6601968" y="3063240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ama doğru kaynak; ungrounded'ı kapat.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9244584" y="1691640"/>
            <a:ext cx="2651760" cy="1965960"/>
          </a:xfrm>
          <a:prstGeom prst="roundRect">
            <a:avLst>
              <a:gd name="adj" fmla="val 4651"/>
            </a:avLst>
          </a:prstGeom>
          <a:solidFill>
            <a:srgbClr val="27304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0" name="Shape 15"/>
          <p:cNvSpPr/>
          <p:nvPr/>
        </p:nvSpPr>
        <p:spPr>
          <a:xfrm>
            <a:off x="10204704" y="1911096"/>
            <a:ext cx="731520" cy="73152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1" name="Image 3" descr="/home/claude/steeltec/icons/shield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94899" y="2101291"/>
            <a:ext cx="351130" cy="35113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336024" y="27157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Kaynağa sabitle</a:t>
            </a:r>
            <a:endParaRPr lang="en-US" sz="1450" dirty="0"/>
          </a:p>
        </p:txBody>
      </p:sp>
      <p:sp>
        <p:nvSpPr>
          <p:cNvPr id="23" name="Text 17"/>
          <p:cNvSpPr txBox="1"/>
          <p:nvPr/>
        </p:nvSpPr>
        <p:spPr>
          <a:xfrm>
            <a:off x="9409176" y="3063240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Uydurmayı engelle, atıf gösterttir.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822960" y="3840480"/>
            <a:ext cx="2651760" cy="1965960"/>
          </a:xfrm>
          <a:prstGeom prst="roundRect">
            <a:avLst>
              <a:gd name="adj" fmla="val 4651"/>
            </a:avLst>
          </a:prstGeom>
          <a:solidFill>
            <a:srgbClr val="27304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5" name="Shape 19"/>
          <p:cNvSpPr/>
          <p:nvPr/>
        </p:nvSpPr>
        <p:spPr>
          <a:xfrm>
            <a:off x="1783080" y="4059936"/>
            <a:ext cx="731520" cy="73152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6" name="Image 4" descr="/home/claude/steeltec/icons/play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73275" y="4250131"/>
            <a:ext cx="351130" cy="35113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914400" y="48646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Gerçekle test et</a:t>
            </a:r>
            <a:endParaRPr lang="en-US" sz="1450" dirty="0"/>
          </a:p>
        </p:txBody>
      </p:sp>
      <p:sp>
        <p:nvSpPr>
          <p:cNvPr id="28" name="Text 21"/>
          <p:cNvSpPr txBox="1"/>
          <p:nvPr/>
        </p:nvSpPr>
        <p:spPr>
          <a:xfrm>
            <a:off x="987552" y="5212080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Kenar durumlar dahil, yayından önce dene.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3630168" y="3840480"/>
            <a:ext cx="2651760" cy="1965960"/>
          </a:xfrm>
          <a:prstGeom prst="roundRect">
            <a:avLst>
              <a:gd name="adj" fmla="val 4651"/>
            </a:avLst>
          </a:prstGeom>
          <a:solidFill>
            <a:srgbClr val="27304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0" name="Shape 23"/>
          <p:cNvSpPr/>
          <p:nvPr/>
        </p:nvSpPr>
        <p:spPr>
          <a:xfrm>
            <a:off x="4590288" y="4059936"/>
            <a:ext cx="731520" cy="73152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31" name="Image 5" descr="/home/claude/steeltec/icons/hand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80483" y="4250131"/>
            <a:ext cx="351130" cy="35113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3721608" y="48646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İnsanı döngüde tut</a:t>
            </a:r>
            <a:endParaRPr lang="en-US" sz="1450" dirty="0"/>
          </a:p>
        </p:txBody>
      </p:sp>
      <p:sp>
        <p:nvSpPr>
          <p:cNvPr id="33" name="Text 25"/>
          <p:cNvSpPr txBox="1"/>
          <p:nvPr/>
        </p:nvSpPr>
        <p:spPr>
          <a:xfrm>
            <a:off x="3794760" y="5212080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Kritik aksiyonda onay iste.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6437376" y="3840480"/>
            <a:ext cx="2651760" cy="1965960"/>
          </a:xfrm>
          <a:prstGeom prst="roundRect">
            <a:avLst>
              <a:gd name="adj" fmla="val 4651"/>
            </a:avLst>
          </a:prstGeom>
          <a:solidFill>
            <a:srgbClr val="27304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5" name="Shape 27"/>
          <p:cNvSpPr/>
          <p:nvPr/>
        </p:nvSpPr>
        <p:spPr>
          <a:xfrm>
            <a:off x="7397496" y="4059936"/>
            <a:ext cx="731520" cy="73152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36" name="Image 6" descr="/home/claude/steeltec/icons/lock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87691" y="4250131"/>
            <a:ext cx="351130" cy="351130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6528816" y="48646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Güvenli kur</a:t>
            </a:r>
            <a:endParaRPr lang="en-US" sz="1450" dirty="0"/>
          </a:p>
        </p:txBody>
      </p:sp>
      <p:sp>
        <p:nvSpPr>
          <p:cNvPr id="38" name="Text 29"/>
          <p:cNvSpPr txBox="1"/>
          <p:nvPr/>
        </p:nvSpPr>
        <p:spPr>
          <a:xfrm>
            <a:off x="6601968" y="5212080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İzin, DLP ve injection'a dikkat et.</a:t>
            </a:r>
            <a:endParaRPr lang="en-US" sz="1050" dirty="0"/>
          </a:p>
        </p:txBody>
      </p:sp>
      <p:sp>
        <p:nvSpPr>
          <p:cNvPr id="39" name="Shape 30"/>
          <p:cNvSpPr/>
          <p:nvPr/>
        </p:nvSpPr>
        <p:spPr>
          <a:xfrm>
            <a:off x="9244584" y="3840480"/>
            <a:ext cx="2651760" cy="1965960"/>
          </a:xfrm>
          <a:prstGeom prst="roundRect">
            <a:avLst>
              <a:gd name="adj" fmla="val 4651"/>
            </a:avLst>
          </a:prstGeom>
          <a:solidFill>
            <a:srgbClr val="27304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0" name="Shape 31"/>
          <p:cNvSpPr/>
          <p:nvPr/>
        </p:nvSpPr>
        <p:spPr>
          <a:xfrm>
            <a:off x="10204704" y="4059936"/>
            <a:ext cx="731520" cy="73152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41" name="Image 7" descr="/home/claude/steeltec/icons/dollar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94899" y="4250131"/>
            <a:ext cx="351130" cy="351130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9336024" y="48646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Maliyeti izle</a:t>
            </a:r>
            <a:endParaRPr lang="en-US" sz="1450" dirty="0"/>
          </a:p>
        </p:txBody>
      </p:sp>
      <p:sp>
        <p:nvSpPr>
          <p:cNvPr id="43" name="Text 33"/>
          <p:cNvSpPr txBox="1"/>
          <p:nvPr/>
        </p:nvSpPr>
        <p:spPr>
          <a:xfrm>
            <a:off x="9409176" y="5212080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Önce ölç, sonra ölçekle.</a:t>
            </a:r>
            <a:endParaRPr lang="en-US" sz="1050" dirty="0"/>
          </a:p>
        </p:txBody>
      </p:sp>
      <p:sp>
        <p:nvSpPr>
          <p:cNvPr id="44" name="Text 34"/>
          <p:cNvSpPr txBox="1"/>
          <p:nvPr/>
        </p:nvSpPr>
        <p:spPr>
          <a:xfrm>
            <a:off x="82296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Copilot Studio Agent Eğitimi</a:t>
            </a:r>
            <a:endParaRPr lang="en-US" sz="900" dirty="0"/>
          </a:p>
        </p:txBody>
      </p:sp>
      <p:sp>
        <p:nvSpPr>
          <p:cNvPr id="45" name="Text 35"/>
          <p:cNvSpPr txBox="1"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KAPANIŞ · SONRAKI ADIMLAR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Nereden Devam Edilir?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744200" y="438912"/>
            <a:ext cx="868680" cy="86868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5" name="Image 0" descr="/home/claude/steeltec/icons/compas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0057" y="664769"/>
            <a:ext cx="416966" cy="41696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73736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Shape 4"/>
          <p:cNvSpPr/>
          <p:nvPr/>
        </p:nvSpPr>
        <p:spPr>
          <a:xfrm>
            <a:off x="1988820" y="2011680"/>
            <a:ext cx="822960" cy="82296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8" name="Image 1" descr="/home/claude/steeltec/icons/boo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2790" y="2225650"/>
            <a:ext cx="395021" cy="395021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22960" y="29718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Öğrenme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960120" y="356616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Learn: Copilot Studio yolu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Builder şablonları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Lab prompt galerisi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434840" y="173736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2" name="Shape 8"/>
          <p:cNvSpPr/>
          <p:nvPr/>
        </p:nvSpPr>
        <p:spPr>
          <a:xfrm>
            <a:off x="5783580" y="2011680"/>
            <a:ext cx="822960" cy="82296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3" name="Image 2" descr="/home/claude/steeltec/icons/user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7550" y="2225650"/>
            <a:ext cx="395021" cy="395021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617720" y="29718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Uygulama</a:t>
            </a:r>
            <a:endParaRPr lang="en-US" sz="1700" dirty="0"/>
          </a:p>
        </p:txBody>
      </p:sp>
      <p:sp>
        <p:nvSpPr>
          <p:cNvPr id="15" name="Text 10"/>
          <p:cNvSpPr txBox="1"/>
          <p:nvPr/>
        </p:nvSpPr>
        <p:spPr>
          <a:xfrm>
            <a:off x="4754880" y="356616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pilot departman seçin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 agent'ı canlıya alın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Kullanımı ölçüp iyileştirin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8229600" y="173736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7" name="Shape 12"/>
          <p:cNvSpPr/>
          <p:nvPr/>
        </p:nvSpPr>
        <p:spPr>
          <a:xfrm>
            <a:off x="9578340" y="2011680"/>
            <a:ext cx="822960" cy="82296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8" name="Image 3" descr="/home/claude/steeltec/icons/shield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92310" y="2225650"/>
            <a:ext cx="395021" cy="395021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8412480" y="29718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Yönetişim</a:t>
            </a:r>
            <a:endParaRPr lang="en-US" sz="1700" dirty="0"/>
          </a:p>
        </p:txBody>
      </p:sp>
      <p:sp>
        <p:nvSpPr>
          <p:cNvPr id="20" name="Text 14"/>
          <p:cNvSpPr txBox="1"/>
          <p:nvPr/>
        </p:nvSpPr>
        <p:spPr>
          <a:xfrm>
            <a:off x="8549640" y="356616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DLP ve ortam politikaları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Maliyet/kredi izleme kurun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Sahiplik ve onay süreci tanımlayın</a:t>
            </a:r>
            <a:endParaRPr lang="en-US" sz="1250" dirty="0"/>
          </a:p>
        </p:txBody>
      </p:sp>
      <p:sp>
        <p:nvSpPr>
          <p:cNvPr id="21" name="Text 15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Microsoft 365 Copilot &amp; Copilot Studio</a:t>
            </a:r>
            <a:endParaRPr lang="en-US" sz="900" dirty="0"/>
          </a:p>
        </p:txBody>
      </p:sp>
      <p:sp>
        <p:nvSpPr>
          <p:cNvPr id="22" name="Text 16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1E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teeltec/icons/robot_color.png"/>
          <p:cNvPicPr>
            <a:picLocks noChangeAspect="1"/>
          </p:cNvPicPr>
          <p:nvPr/>
        </p:nvPicPr>
        <p:blipFill>
          <a:blip r:embed="rId3">
            <a:alphaModFix amt="10000"/>
          </a:blip>
          <a:stretch>
            <a:fillRect/>
          </a:stretch>
        </p:blipFill>
        <p:spPr>
          <a:xfrm>
            <a:off x="8686800" y="2651760"/>
            <a:ext cx="4389120" cy="43891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22960" y="1371600"/>
            <a:ext cx="1051560" cy="105156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4" name="Image 1" descr="/home/claude/steeltec/icons/graduatio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6366" y="1645006"/>
            <a:ext cx="504749" cy="504749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777240" y="269748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Teşekkürler!</a:t>
            </a:r>
            <a:endParaRPr lang="en-US" sz="5200" dirty="0"/>
          </a:p>
        </p:txBody>
      </p:sp>
      <p:sp>
        <p:nvSpPr>
          <p:cNvPr id="6" name="Text 2"/>
          <p:cNvSpPr txBox="1"/>
          <p:nvPr/>
        </p:nvSpPr>
        <p:spPr>
          <a:xfrm>
            <a:off x="822960" y="37490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i="1" dirty="0">
                <a:solidFill>
                  <a:srgbClr val="CFD9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“En iyi agent, bir gerçek sorunu net biçimde çözendir.”</a:t>
            </a:r>
            <a:endParaRPr lang="en-US" sz="2100" dirty="0"/>
          </a:p>
        </p:txBody>
      </p:sp>
      <p:sp>
        <p:nvSpPr>
          <p:cNvPr id="7" name="Text 3"/>
          <p:cNvSpPr txBox="1"/>
          <p:nvPr/>
        </p:nvSpPr>
        <p:spPr>
          <a:xfrm>
            <a:off x="822960" y="440740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Bugün bir agent'ı sıfırdan kurdunuz. Sıradaki adım: kendi departmanınızda ilk agent'ınızı canlıya almak.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822960" y="5074920"/>
            <a:ext cx="1459382" cy="457200"/>
          </a:xfrm>
          <a:prstGeom prst="roundRect">
            <a:avLst>
              <a:gd name="adj" fmla="val 50000"/>
            </a:avLst>
          </a:prstGeom>
          <a:solidFill>
            <a:srgbClr val="273041"/>
          </a:solidFill>
          <a:ln w="12700">
            <a:solidFill>
              <a:srgbClr val="37425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5"/>
          <p:cNvSpPr txBox="1"/>
          <p:nvPr/>
        </p:nvSpPr>
        <p:spPr>
          <a:xfrm>
            <a:off x="822960" y="5074920"/>
            <a:ext cx="14593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9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M365 Copilot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2465222" y="5074920"/>
            <a:ext cx="1638605" cy="457200"/>
          </a:xfrm>
          <a:prstGeom prst="roundRect">
            <a:avLst>
              <a:gd name="adj" fmla="val 50000"/>
            </a:avLst>
          </a:prstGeom>
          <a:solidFill>
            <a:srgbClr val="273041"/>
          </a:solidFill>
          <a:ln w="12700">
            <a:solidFill>
              <a:srgbClr val="37425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7"/>
          <p:cNvSpPr txBox="1"/>
          <p:nvPr/>
        </p:nvSpPr>
        <p:spPr>
          <a:xfrm>
            <a:off x="2465222" y="5074920"/>
            <a:ext cx="16386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9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Studio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286707" y="5074920"/>
            <a:ext cx="1190549" cy="457200"/>
          </a:xfrm>
          <a:prstGeom prst="roundRect">
            <a:avLst>
              <a:gd name="adj" fmla="val 50000"/>
            </a:avLst>
          </a:prstGeom>
          <a:solidFill>
            <a:srgbClr val="273041"/>
          </a:solidFill>
          <a:ln w="12700">
            <a:solidFill>
              <a:srgbClr val="37425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9"/>
          <p:cNvSpPr txBox="1"/>
          <p:nvPr/>
        </p:nvSpPr>
        <p:spPr>
          <a:xfrm>
            <a:off x="4286707" y="5074920"/>
            <a:ext cx="11905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9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660136" y="5074920"/>
            <a:ext cx="1011326" cy="457200"/>
          </a:xfrm>
          <a:prstGeom prst="roundRect">
            <a:avLst>
              <a:gd name="adj" fmla="val 50000"/>
            </a:avLst>
          </a:prstGeom>
          <a:solidFill>
            <a:srgbClr val="273041"/>
          </a:solidFill>
          <a:ln w="12700">
            <a:solidFill>
              <a:srgbClr val="37425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1"/>
          <p:cNvSpPr txBox="1"/>
          <p:nvPr/>
        </p:nvSpPr>
        <p:spPr>
          <a:xfrm>
            <a:off x="5660136" y="5074920"/>
            <a:ext cx="10113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9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854342" y="5074920"/>
            <a:ext cx="921715" cy="457200"/>
          </a:xfrm>
          <a:prstGeom prst="roundRect">
            <a:avLst>
              <a:gd name="adj" fmla="val 50000"/>
            </a:avLst>
          </a:prstGeom>
          <a:solidFill>
            <a:srgbClr val="273041"/>
          </a:solidFill>
          <a:ln w="12700">
            <a:solidFill>
              <a:srgbClr val="37425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3"/>
          <p:cNvSpPr txBox="1"/>
          <p:nvPr/>
        </p:nvSpPr>
        <p:spPr>
          <a:xfrm>
            <a:off x="6854342" y="5074920"/>
            <a:ext cx="9217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9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Otonom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7958938" y="5074920"/>
            <a:ext cx="1997050" cy="457200"/>
          </a:xfrm>
          <a:prstGeom prst="roundRect">
            <a:avLst>
              <a:gd name="adj" fmla="val 50000"/>
            </a:avLst>
          </a:prstGeom>
          <a:solidFill>
            <a:srgbClr val="273041"/>
          </a:solidFill>
          <a:ln w="12700">
            <a:solidFill>
              <a:srgbClr val="37425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5"/>
          <p:cNvSpPr txBox="1"/>
          <p:nvPr/>
        </p:nvSpPr>
        <p:spPr>
          <a:xfrm>
            <a:off x="7958938" y="5074920"/>
            <a:ext cx="19970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9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Güvenlik &amp; Maliyet</a:t>
            </a:r>
            <a:endParaRPr lang="en-US" sz="1150" dirty="0"/>
          </a:p>
        </p:txBody>
      </p:sp>
      <p:sp>
        <p:nvSpPr>
          <p:cNvPr id="20" name="Text 16"/>
          <p:cNvSpPr txBox="1"/>
          <p:nvPr/>
        </p:nvSpPr>
        <p:spPr>
          <a:xfrm>
            <a:off x="822960" y="6080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Kurumsal Yapay Zeka Eğitimi · Microsoft 365 Copilot &amp; Copilot Studio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5068</Words>
  <Application>Microsoft Office PowerPoint</Application>
  <PresentationFormat>Geniş ekran</PresentationFormat>
  <Paragraphs>930</Paragraphs>
  <Slides>58</Slides>
  <Notes>58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58</vt:i4>
      </vt:variant>
    </vt:vector>
  </HeadingPairs>
  <TitlesOfParts>
    <vt:vector size="63" baseType="lpstr">
      <vt:lpstr>Arial</vt:lpstr>
      <vt:lpstr>Calibri</vt:lpstr>
      <vt:lpstr>Cambria</vt:lpstr>
      <vt:lpstr>Consolas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Sarp VAHABI</cp:lastModifiedBy>
  <cp:revision>4</cp:revision>
  <dcterms:created xsi:type="dcterms:W3CDTF">2026-09-21T07:38:00Z</dcterms:created>
  <dcterms:modified xsi:type="dcterms:W3CDTF">2026-09-21T17:40:50Z</dcterms:modified>
</cp:coreProperties>
</file>